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318"/>
                </a:solidFill>
                <a:latin typeface="Calibri"/>
              </a:defRPr>
            </a:pPr>
            <a:r>
              <a:rPr sz="1200" b="0" i="0" u="none" strike="noStrike">
                <a:solidFill>
                  <a:srgbClr val="2B2318"/>
                </a:solidFill>
                <a:latin typeface="Calibri"/>
              </a:rPr>
              <a:t>What we realise vs what it costs, per serve</a:t>
            </a:r>
          </a:p>
        </c:rich>
      </c:tx>
      <c:layout/>
      <c:overlay val="0"/>
    </c:title>
    <c:autoTitleDeleted val="0"/>
    <c:plotArea>
      <c:layout/>
      <c:barChart>
        <c:barDir val="col"/>
        <c:grouping val="clustered"/>
        <c:varyColors val="0"/>
        <c:ser>
          <c:idx val="0"/>
          <c:order val="0"/>
          <c:tx>
            <c:strRef>
              <c:f>Sheet1!$B$1</c:f>
              <c:strCache>
                <c:ptCount val="1"/>
                <c:pt idx="0">
                  <c:v>Realisation per unit (₹)</c:v>
                </c:pt>
              </c:strCache>
            </c:strRef>
          </c:tx>
          <c:spPr>
            <a:solidFill>
              <a:srgbClr val="6B3452"/>
            </a:solidFill>
            <a:effectLst/>
          </c:spPr>
          <c:invertIfNegative val="0"/>
          <c:dLbls>
            <c:numFmt formatCode="₹#,##0.0" sourceLinked="0"/>
            <c:txPr>
              <a:bodyPr/>
              <a:lstStyle/>
              <a:p>
                <a:pPr>
                  <a:defRPr b="0" i="0" strike="noStrike" sz="900" u="none">
                    <a:solidFill>
                      <a:srgbClr val="6B625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Retail sachet</c:v>
                  </c:pt>
                  <c:pt idx="1">
                    <c:v>School-led sale</c:v>
                  </c:pt>
                  <c:pt idx="2">
                    <c:v>Government bulk</c:v>
                  </c:pt>
                </c:lvl>
              </c:multiLvlStrCache>
            </c:multiLvlStrRef>
          </c:cat>
          <c:val>
            <c:numRef>
              <c:f>Sheet1!$B$2:$B$4</c:f>
              <c:numCache>
                <c:formatCode>General</c:formatCode>
                <c:ptCount val="3"/>
                <c:pt idx="0">
                  <c:v>14.5</c:v>
                </c:pt>
                <c:pt idx="1">
                  <c:v>17</c:v>
                </c:pt>
                <c:pt idx="2">
                  <c:v>7</c:v>
                </c:pt>
              </c:numCache>
            </c:numRef>
          </c:val>
        </c:ser>
        <c:ser>
          <c:idx val="1"/>
          <c:order val="1"/>
          <c:tx>
            <c:strRef>
              <c:f>Sheet1!$C$1</c:f>
              <c:strCache>
                <c:ptCount val="1"/>
                <c:pt idx="0">
                  <c:v>COGS per unit (₹)</c:v>
                </c:pt>
              </c:strCache>
            </c:strRef>
          </c:tx>
          <c:spPr>
            <a:solidFill>
              <a:srgbClr val="DCD5C2"/>
            </a:solidFill>
            <a:effectLst/>
          </c:spPr>
          <c:invertIfNegative val="0"/>
          <c:dLbls>
            <c:numFmt formatCode="₹#,##0.0" sourceLinked="0"/>
            <c:txPr>
              <a:bodyPr/>
              <a:lstStyle/>
              <a:p>
                <a:pPr>
                  <a:defRPr b="0" i="0" strike="noStrike" sz="900" u="none">
                    <a:solidFill>
                      <a:srgbClr val="6B625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Retail sachet</c:v>
                  </c:pt>
                  <c:pt idx="1">
                    <c:v>School-led sale</c:v>
                  </c:pt>
                  <c:pt idx="2">
                    <c:v>Government bulk</c:v>
                  </c:pt>
                </c:lvl>
              </c:multiLvlStrCache>
            </c:multiLvlStrRef>
          </c:cat>
          <c:val>
            <c:numRef>
              <c:f>Sheet1!$C$2:$C$4</c:f>
              <c:numCache>
                <c:formatCode>General</c:formatCode>
                <c:ptCount val="3"/>
                <c:pt idx="0">
                  <c:v>7</c:v>
                </c:pt>
                <c:pt idx="1">
                  <c:v>7</c:v>
                </c:pt>
                <c:pt idx="2">
                  <c:v>5.1</c:v>
                </c:pt>
              </c:numCache>
            </c:numRef>
          </c:val>
        </c:ser>
        <c:dLbls>
          <c:numFmt formatCode="₹#,##0.0" sourceLinked="0"/>
          <c:txPr>
            <a:bodyPr/>
            <a:lstStyle/>
            <a:p>
              <a:pPr>
                <a:defRPr b="0" i="0" strike="noStrike" sz="900" u="none">
                  <a:solidFill>
                    <a:srgbClr val="6B6252"/>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6B6252"/>
                </a:solidFill>
                <a:latin typeface="Calibri"/>
              </a:defRPr>
            </a:pPr>
            <a:endParaRPr lang="en-US"/>
          </a:p>
        </c:txPr>
        <c:crossAx val="2094734552"/>
        <c:crosses val="autoZero"/>
        <c:auto val="1"/>
        <c:lblAlgn val="ctr"/>
        <c:noMultiLvlLbl val="1"/>
      </c:catAx>
      <c:valAx>
        <c:axId val="2094734552"/>
        <c:scaling>
          <c:orientation val="minMax"/>
          <c:max val="20"/>
        </c:scaling>
        <c:delete val="0"/>
        <c:axPos val="l"/>
        <c:majorGridlines>
          <c:spPr>
            <a:ln w="12700" cap="flat">
              <a:solidFill>
                <a:srgbClr val="DCD5C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25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B625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three sentences, then breathe.
"PoshanSetu is a fortified millet-and-dal mix for children aged five to twelve in tier 3 and tier 4 towns. Our primary customer is the state government, buying it for children its own school health screening has already flagged as anaemic or underweight. Our second customer is the parent, buying it at the kirana shop for twenty rupees."
WHAT CHANGED FROM THE LAST VERSION, and be ready to say it plainly:
- We dropped the 0-2 infant segment entirely. That removes the IMS Act problem and lets us build a product children actually want.
- We dropped the hospital channel. Slide 9 explains why.
- We moved government from third priority to first.
NUMBERS TO HAVE COLD: ₹7 per serve to government, ₹20 MRP retail, COGS ₹4.80-5.40 government bulk and ₹6.50-7.50 retail sachet. All estimates, no manufacturer quote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FRAMING THAT MAKES THIS DECK WORK: the 5-12 band is not neglected because it is healthy. It is neglected because it is invisible. Under-fives get NFHS every four years and Poshan Tracker every month. Five-to-twelve gets a hot lunch and no thermometer.
SOURCE DISCIPLINE: the 22% / 23% / 10% figures are from the Comprehensive National Nutrition Survey 2016-18 — the only nationally representative survey ever run on 5-9 year olds in India. Say "2016-18, and that is the most recent there is" before a judge asks why you're citing eight-year-old data. The staleness IS the argument.
Q: "If nobody measures it, how do you know there's a problem?"
A: "We know from the last time it was measured, and from what feeds into it — 29.3% of under-fives are still stunted in NFHS-6, and those children turn six. Stunting at five doesn't reverse on its own. The honest answer is that the state doesn't know the current number either, and that's part of what we're offering: a screened cohort with baseline and 90-day haemoglobin data."
Q: "Isn't the mid-day meal enough?"
A: "It's a meal, not a micronutrient intervention, and it runs about 200 days a year. Slide 7 compares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two questions the panel asked first. Do not rush it.
THE IMS ACT POINT IS THE BIGGEST STRATEGIC UNLOCK IN THE WHOLE DECK. At 0-2, India's Infant Milk Substitutes Act bans advertising, free samples, child imagery on packaging and any inducement to health workers, with criminal penalties. Every one of those bans is what a kids' food brand needs to do. At 5-12 none of them applies. We did not work around the law; we moved out of its scope.
TIER 3/4 DEFINITION — have one ready: towns roughly 20,000 to 1,00,000 population, district and block headquarters. Say which two districts you'd start in and why.
Q: "Isn't tier 3/4 just a way of saying you can't win in cities?"
A: "Partly, and we'd rather say so than pretend. We can't outspend Abbott on urban pharmacy shelves. But tier 3/4 is where the nutritional deficit actually is, where government procurement happens, and where a ₹20 price point is a real product rather than a downgrade."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the physical dummy pack round if you have one. If not, walk the panel across the front, then the back — front sells the child, back sells the parent and the procurement officer.
THE DESIGN ARGUMENT IN ONE LINE: the front of this pack would be illegal on an infant product and unremarkable on a biscuit. It sits exactly in the gap we chose.
BE HONEST ABOUT WHAT THIS IS: mockup artwork, not print-ready. The +F fortification mark and the vegetarian green dot are indicative — final artwork must follow FSSAI's specified dimensions and placement. The FSSAI licence number, batch and MRP fields are placeholders.
THE NUTRITION PANEL IS A FORMULATION TARGET, NOT A LAB RESULT. It says so on the pack. If a judge presses on any number, that is the answer — we designed to a target and we have not yet run batch analysis.
Q: "Why 35g?"
A: "It is a single serve that delivers roughly 150 kcal and 40-55% of the day's micronutrient RDA for a 7-9 year old without displacing the mid-day meal. Bigger and it competes with lunch; smaller and the micronutrient load gets uncomfortably dense."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US FROM A PREMIX VENDOR. Anyone can buy a micronutrient premix and blend it into flour. The argument here is that the base matrix determines whether the micronutrients survive to the bloodstream.
THE ONE MECHANISM TO EXPLAIN OUT LOUD IF YOU ONLY GET TO EXPLAIN ONE: phytate. Millets and pulses are naturally high in phytic acid, which binds iron, zinc and calcium and carries them straight through the gut. Sprouting the ragi and roasting the bajra reduce it. Then amla's vitamin C, in the same spoonful, pulls the remaining non-haem iron across. That is why our iron claim is different from a fortified-rice claim.
WHAT NOT TO OVERCLAIM: we cannot say this cures anaemia, raises IQ or boosts immunity. FSSAI permits only approved health claims and bars disease claims outright. Everything on this slide is framed as a design rationale. If a judge asks for proof, the honest answer is that we have mechanism and no trial yet, and the 90-day pilot with baseline and endline haemoglobin is exactly how we intend to get one.
Q: "Couldn't a parent just cook ragi porridge at home for less?"
A: "Nutritionally, a well-made sprouted-ragi and dal porridge with groundnut is close to what we're selling, and we should say so. What we're selling is the version that needs no stove, no soaking overnight, no measuring, has the micronutrient premix already dosed to RDA, and that the child will actually finish. We're competing on adherence, not on inventing a nutrient."
Q: "Why groundnut, given allergy risk?"
A: "Energy density and zinc at low cost. It's declared prominently as an allergen on the front-of-pack allergen line and the back panel. For a government cohort we'd need a groundnut-free variant, and that's on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name a specific confectionery brand on the slide or out loud — describe the mechanic. Naming someone else's trade dress in a pitch invites a question you gain nothing by answering.
THE SENTENCE THAT WINS THIS SLIDE: "The state does not have an iron shortage. It has an adherence problem. We are selling adherence."
ANTICIPATE THE ETHICAL CHALLENGE, because a good judge will make it: is it right to use pester-power mechanics on children? Our answer has three parts. First, the thing we are getting children to want is a low-sugar fortified food, not a confection — 4g of added sugar a serve, deliberately below HFSS thresholds. Second, it is redemption, not chance: complete six, get a prize. No randomised reward, no gambling loop. Third, we accept the constraint the law already sets — FSSAI's 2020 school regulations bar HFSS marketing in and around schools, and we have formulated to stay clearly on the right side of it. Raise this yourself. Being asked it after you've addressed it is much better than being asked it first.
Q: "What if children just want the puzzle and throw the powder away?"
A: "Real risk, and it is exactly what the pilot measures. The piece is inside the pack, so it has to be opened, but opened is not consumed. That's why the 90-day endline is haemoglobin, not redemption counts. If bridges go up and haemoglobin doesn't, the mechanic has failed and we'd have to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PANEL ASKED FOR. Present it column by column, left to right, and land on the last row.
THE PIVOT THAT MAKES THE ECONOMICS WORK — say it before anyone does the arithmetic: we are NOT proposing universal coverage. ₹840 a year across 11.8 crore children is not a proposal, it is a fantasy. We are proposing a targeted cohort: children already flagged as anaemic or underweight through the Rashtriya Bal Swasthya Karyakram school health screening and school health records. That is roughly 20-25% of enrolment.
DO THE DISTRICT MATH OUT LOUD, it is the most convincing thirty seconds in the deck:
A district with 2 lakh school children. 20% flagged = 40,000 children. 40,000 × ₹840 = ₹3.36 crore per district per year. That is a fundable line item, particularly in an aspirational district. Compare it to a universal proposal and the difference is the whole argument.
SOURCES: cooking cost ₹6.78 primary and ₹10.17 upper primary, revised with effect from 1 May 2025 (Ministry of Education). All-in per-meal cost including foodgrains is about ₹12.13 for primary. Fortified rice runs nationally through 2028.
Q: "Why wouldn't the state just raise the cooking cost instead?"
A: "It might, and it should. But a higher cooking cost buys more dal and vegetables, not a dosed micronutrient premix, and it does nothing on the 165 days a year the kitchen isn't running. The two are complements. We'd rather be the ₹3 crore line item next to the meal than argue against it."
Q: "Government procurement takes years. How is this Year 1 revenue?"
A: "It isn't. Slide 10 sequences it honestly — CSR-funded pilot first, tender in year two or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competitors before you are asked. "We're not claiming empty space" preempts the most common pushback in any pitch.
THE STRONGEST OF THE FOUR IS THE THIRD. Lead with it if you only get one. Every supplier in this category can show a delivery challan. None can show that a specific child ate the food. After the Madhya Pradesh audit found over ₹100 crore in take-home-ration irregularities, a department that can demonstrate consumption to its own auditor has bought something no competitor sells.
THE SECOND IS THE MOST UNDERRATED. Procurement officers are not evaluating nutrition science; they are evaluating fit with existing policy direction. Poshan 2.0's millet mandate and the parliamentary recommendation on a millet diet chart for PM POSHAN mean a ragi-bajra product needs no new policy to be purchasable. Verify the current status of both before you present.
STATE SELECTION CHANGED from the earlier version. We had said Tamil Nadu and Delhi. Delhi's bureaucracy is complex and several states lock THR production to SHG federations. Madhya Pradesh and Maharashtra are better first targets, but confirm current tendering practice — do not assert it from this deck alone.
Q: "What's your moat?"
A: "On day one, none that a large FMCG couldn't cross. Honestly. What compounds is outcome data from pilots and relationships with district administrations, and both take years that a competitor would also have to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HOSPITAL QUESTION BEFORE IT IS ASKED. It was in the earlier version of this deck and removing it is a decision, not an oversight. Say: "We had hospitals as a channel. We cut them. Here is why." Cutting a channel deliberately reads as judgement; being talked out of one reads as drift.
THE FULL REASONING, if pressed:
1. The buyer isn't there. A parent in a paediatric OPD is there because a child is sick, in a five-minute consultation, not shopping for a daily supplement.
2. The economics don't work. Bulk institutional sales need volume to justify a dedicated sales motion, and 5-12 paediatric volume through hospitals is a fraction of school volume.
3. The original rationale is gone. Hospitals made sense as a route to new mothers for a 0-2 SKU. We deleted that SKU.
4. It cost us the one thing hospitals gave us — clinical credibility. We replace that with pilot outcome data and an NGO or academic measurement partner, which is stronger evidence anyway.
THE AGE SPLIT IS REAL, NOT COSMETIC. At 5-8 you are selling to a parent through a teacher. At 9-12 you are selling to a child with pocket money. Same product, same price, completely different persuasion. If a judge asks which is the better business, the honest answer is 9-12 for retail margin and 5-8 for government volume.
Q: "Won't private schools want a cut for distributing?"
A: "Some will, and we won't pay it — it turns a nutrition programme into a commercial arrangement a principal has to defend. Our ask is a free tasting session and a short nutrition talk, positioned as a service to parents. If a school insists on a margin we walk, and we should be prepared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SEQUENCE: each phase buys the credibility the next one requires. Retail sell-through proves children will consume it. The CSR pilot proves it moves haemoglobin. Only then is there anything to put in a tender.
WHY THE CSR PILOT IS FREE TO THE STATE — this is the single most practical idea in the deck. A state cannot buy from an unproven supplier without a tender, and it cannot tender for a product category that does not exist in its procurement schedule. But a district collector can sign an MOU for a philanthropically funded pilot that costs the state nothing. That is the door. Fund it through a corporate CSR partner, run it properly with an academic measurement partner, and you emerge with the evidence a tender requires.
BE BLUNT ABOUT THE TIMELINE. Our earlier version implied a 90-day trial converting to a contract. Real tender cycles run 12-24 months on top of the pilot. A judge who knows procurement will catch an optimistic timeline instantly, and the credibility you lose costs more than the excitement you gain.
WORKING CAPITAL IS THE THING THAT KILLS COMPANIES LIKE THIS. Government pays in 90-180 days; the co-packer wants money up front. Retail and school-led sales have to be generating cash before the tender lands. If they aren't, winning the contract is what puts you under.
Q: "Why two districts and not ten?"
A: "Because we need sell-through data we can trust, and ten districts at our funding level means thin coverage everywhere and a clear read nowhere."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INSIGHT, and it is a genuinely good one: at 0-2 the law told us what we could not do. At 5-12 the law tells us what to formulate. That is a much better position to be in.
MEMORISE THE HFSS POINT. FSSAI's 2020 school regulations prohibit selling, marketing or advertising HFSS food in school premises or within 50 metres of a school gate. Our entire school-adjacent retail plan depends on not being HFSS. That is why added sugar is capped at 4g a serve and why we did not launch a sweeter, more child-appealing version — it would have been more attractive and illegal to sell where our customers are.
If a judge asks whether we've verified the exact HFSS thresholds: no, not to the paisa, and a food-labelling consultant needs to confirm the specific cut-offs against our final formulation. Say that rather than inventing a number.
THE UNRESOLVED ITEM IS PRODUCT CLASSIFICATION and it belongs on the critical path, not in a footnote. Health Supplement, Nutraceutical, Food for Special Dietary Use and Fortified Food carry different licences, different permitted claims and different approval timelines. Until it is settled we cannot finalise the label.
Q: "Why not own a factory?"
A: "At pilot volume a dedicated line sits idle. We'd rather pay the co-packing premium and spend the capital on the pilot that proves the product works. Own facility once monthly volume clears roughly 50,000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NUMERATE PERSON PRESENTS THIS. Say "every figure here is an estimate and we have no manufacturer quote yet" before anyone asks. That sentence is worth more than any number on the slide.
THE BOTTOM-UP COGS, have it ready:
Raw material at roughly ₹84/kg blended — ragi ~₹40, bajra ~₹30, bengal gram ~₹85, skimmed milk powder ~₹280, jaggery ~₹55, groundnut ~₹110, oil ~₹140, micronutrient premix ~₹350, weighted by the label percentages. That is about ₹2.95 for a 35g serve. Add ₹0.90-1.40 for processing and job work, then packaging: ₹1.20-2.00 for an individual foil sachet against roughly ₹0.25 a serve in a 1kg bulk pouch. Retail lands at ₹6.50-7.50; government bulk at ₹4.80-5.40.
THE PACKAGING DIFFERENCE IS THE WHOLE GOVERNMENT MARGIN. Individual sachets cost more to make than the powder inside them. Selling government a bulk pouch portioned at school is what turns a ₹7 price from a loss into a 27% margin. If someone asks why government doesn't get the puzzle sachet, that's the answer — and yes, it means the government cohort gets the product without the collectible unless the state funds it separately. Say so; it is a real limitation of the model.
WHY THE EARLIER ₹18-20 COGS WAS WRONG: it implied over ₹600 a kilo for a millet-based powder, which is Cerelac territory, not ragi and dal. Correcting it downward is what makes the government channel viable at all. If a judge has seen the old numbers, own the correction.
THE FIVE OPEN VALIDATIONS, in order:
1. Three co-manufacturer quotes with a full bill of materials. CRITICAL.
2. FSSAI product classification. CRITICAL, on the timeline path.
3. Will a parent pay ₹20 for a 35g sachet from an unknown brand in a tier-3 town. CRITICAL.
4. Blind taste test, milk versus water, measuring whether children finish it.
5. One district collector willing to sign a CSR-funded pilot MOU.
Q: "Government margin is 27% on ₹1.90 a unit. Is that a business?"
A: "It's a volume business and an anchor. One district cohort of 40,000 children at 120 serves a year is 4.8 million units. At ₹1.90 that's ₹91 lakh of gross margin from a single district. The margin percentage is thin; the absolute number isn't."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A12"/>
        </a:solidFill>
      </p:bgPr>
    </p:bg>
    <p:spTree>
      <p:nvGrpSpPr>
        <p:cNvPr id="1" name=""/>
        <p:cNvGrpSpPr/>
        <p:nvPr/>
      </p:nvGrpSpPr>
      <p:grpSpPr>
        <a:xfrm>
          <a:off x="0" y="0"/>
          <a:ext cx="0" cy="0"/>
          <a:chOff x="0" y="0"/>
          <a:chExt cx="0" cy="0"/>
        </a:xfrm>
      </p:grpSpPr>
      <p:sp>
        <p:nvSpPr>
          <p:cNvPr id="2" name="Text 0"/>
          <p:cNvSpPr txBox="1"/>
          <p:nvPr/>
        </p:nvSpPr>
        <p:spPr>
          <a:xfrm>
            <a:off x="548640" y="603504"/>
            <a:ext cx="9144000" cy="274320"/>
          </a:xfrm>
          <a:prstGeom prst="rect">
            <a:avLst/>
          </a:prstGeom>
          <a:noFill/>
          <a:ln/>
        </p:spPr>
        <p:txBody>
          <a:bodyPr wrap="square" lIns="0" tIns="0" rIns="0" bIns="0" rtlCol="0" anchor="ctr"/>
          <a:lstStyle/>
          <a:p>
            <a:pPr indent="0" marL="0">
              <a:buNone/>
            </a:pPr>
            <a:r>
              <a:rPr lang="en-US" sz="1200" b="1" spc="240" kern="0" dirty="0">
                <a:solidFill>
                  <a:srgbClr val="E8B85A"/>
                </a:solidFill>
                <a:latin typeface="Calibri" pitchFamily="34" charset="0"/>
                <a:ea typeface="Calibri" pitchFamily="34" charset="-122"/>
                <a:cs typeface="Calibri" pitchFamily="34" charset="-120"/>
              </a:rPr>
              <a:t>F&amp;B BUSINESS MODEL SUBMISSION  ·  SCHOOL-AGE CHILD NUTRITION</a:t>
            </a:r>
            <a:endParaRPr lang="en-US" sz="1200" dirty="0"/>
          </a:p>
        </p:txBody>
      </p:sp>
      <p:sp>
        <p:nvSpPr>
          <p:cNvPr id="3" name="Text 1"/>
          <p:cNvSpPr txBox="1"/>
          <p:nvPr/>
        </p:nvSpPr>
        <p:spPr>
          <a:xfrm>
            <a:off x="548640" y="1115568"/>
            <a:ext cx="7498080" cy="1097280"/>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PoshanSetu</a:t>
            </a:r>
            <a:endParaRPr lang="en-US" sz="5800" dirty="0"/>
          </a:p>
        </p:txBody>
      </p:sp>
      <p:sp>
        <p:nvSpPr>
          <p:cNvPr id="4" name="Text 2"/>
          <p:cNvSpPr txBox="1"/>
          <p:nvPr/>
        </p:nvSpPr>
        <p:spPr>
          <a:xfrm>
            <a:off x="548640" y="2468880"/>
            <a:ext cx="7315200" cy="1188720"/>
          </a:xfrm>
          <a:prstGeom prst="rect">
            <a:avLst/>
          </a:prstGeom>
          <a:noFill/>
          <a:ln/>
        </p:spPr>
        <p:txBody>
          <a:bodyPr wrap="square" lIns="0" tIns="0" rIns="0" bIns="0" rtlCol="0" anchor="t"/>
          <a:lstStyle/>
          <a:p>
            <a:pPr indent="0" marL="0">
              <a:lnSpc>
                <a:spcPts val="2400"/>
              </a:lnSpc>
              <a:buNone/>
            </a:pPr>
            <a:r>
              <a:rPr lang="en-US" sz="1600" i="1" dirty="0">
                <a:solidFill>
                  <a:srgbClr val="E8B85A"/>
                </a:solidFill>
                <a:latin typeface="Calibri" pitchFamily="34" charset="0"/>
                <a:ea typeface="Calibri" pitchFamily="34" charset="-122"/>
                <a:cs typeface="Calibri" pitchFamily="34" charset="-120"/>
              </a:rPr>
              <a:t>Setu</a:t>
            </a:r>
            <a:pPr indent="0" marL="0">
              <a:lnSpc>
                <a:spcPts val="2400"/>
              </a:lnSpc>
              <a:buNone/>
            </a:pPr>
            <a:r>
              <a:rPr lang="en-US" sz="1600" dirty="0">
                <a:solidFill>
                  <a:srgbClr val="EAE1CE"/>
                </a:solidFill>
                <a:latin typeface="Calibri" pitchFamily="34" charset="0"/>
                <a:ea typeface="Calibri" pitchFamily="34" charset="-122"/>
                <a:cs typeface="Calibri" pitchFamily="34" charset="-120"/>
              </a:rPr>
              <a:t> means bridge. A fortified millet-and-dal mix for children aged 5–12 in tier 3 and tier 4 towns — sold to state governments as a screened-cohort supplement, and to parents through the shops they already use.</a:t>
            </a:r>
            <a:endParaRPr lang="en-US" sz="1600" dirty="0"/>
          </a:p>
        </p:txBody>
      </p:sp>
      <p:sp>
        <p:nvSpPr>
          <p:cNvPr id="5" name="Shape 3"/>
          <p:cNvSpPr/>
          <p:nvPr/>
        </p:nvSpPr>
        <p:spPr>
          <a:xfrm>
            <a:off x="548640" y="4041648"/>
            <a:ext cx="2304288" cy="1572768"/>
          </a:xfrm>
          <a:prstGeom prst="roundRect">
            <a:avLst>
              <a:gd name="adj" fmla="val 5233"/>
            </a:avLst>
          </a:prstGeom>
          <a:solidFill>
            <a:srgbClr val="342519"/>
          </a:solidFill>
          <a:ln w="12700">
            <a:solidFill>
              <a:srgbClr val="4A382A"/>
            </a:solidFill>
            <a:prstDash val="solid"/>
          </a:ln>
        </p:spPr>
      </p:sp>
      <p:sp>
        <p:nvSpPr>
          <p:cNvPr id="6" name="Text 4"/>
          <p:cNvSpPr txBox="1"/>
          <p:nvPr/>
        </p:nvSpPr>
        <p:spPr>
          <a:xfrm>
            <a:off x="786384" y="4224528"/>
            <a:ext cx="1828800" cy="475488"/>
          </a:xfrm>
          <a:prstGeom prst="rect">
            <a:avLst/>
          </a:prstGeom>
          <a:noFill/>
          <a:ln/>
        </p:spPr>
        <p:txBody>
          <a:bodyPr wrap="square" lIns="0" tIns="0" rIns="0" bIns="0" rtlCol="0" anchor="t"/>
          <a:lstStyle/>
          <a:p>
            <a:pPr indent="0" marL="0">
              <a:buNone/>
            </a:pPr>
            <a:r>
              <a:rPr lang="en-US" sz="2600" b="1" dirty="0">
                <a:solidFill>
                  <a:srgbClr val="E8B85A"/>
                </a:solidFill>
                <a:latin typeface="Calibri" pitchFamily="34" charset="0"/>
                <a:ea typeface="Calibri" pitchFamily="34" charset="-122"/>
                <a:cs typeface="Calibri" pitchFamily="34" charset="-120"/>
              </a:rPr>
              <a:t>5–12</a:t>
            </a:r>
            <a:endParaRPr lang="en-US" sz="2600" dirty="0"/>
          </a:p>
        </p:txBody>
      </p:sp>
      <p:sp>
        <p:nvSpPr>
          <p:cNvPr id="7" name="Text 5"/>
          <p:cNvSpPr txBox="1"/>
          <p:nvPr/>
        </p:nvSpPr>
        <p:spPr>
          <a:xfrm>
            <a:off x="786384" y="4754880"/>
            <a:ext cx="1828800" cy="731520"/>
          </a:xfrm>
          <a:prstGeom prst="rect">
            <a:avLst/>
          </a:prstGeom>
          <a:noFill/>
          <a:ln/>
        </p:spPr>
        <p:txBody>
          <a:bodyPr wrap="square" lIns="0" tIns="0" rIns="0" bIns="0" rtlCol="0" anchor="t"/>
          <a:lstStyle/>
          <a:p>
            <a:pPr indent="0" marL="0">
              <a:lnSpc>
                <a:spcPts val="1350"/>
              </a:lnSpc>
              <a:buNone/>
            </a:pPr>
            <a:r>
              <a:rPr lang="en-US" sz="1050" dirty="0">
                <a:solidFill>
                  <a:srgbClr val="DCD5C2"/>
                </a:solidFill>
                <a:latin typeface="Calibri" pitchFamily="34" charset="0"/>
                <a:ea typeface="Calibri" pitchFamily="34" charset="-122"/>
                <a:cs typeface="Calibri" pitchFamily="34" charset="-120"/>
              </a:rPr>
              <a:t>the age band no national survey has measured since 2018</a:t>
            </a:r>
            <a:endParaRPr lang="en-US" sz="1050" dirty="0"/>
          </a:p>
        </p:txBody>
      </p:sp>
      <p:sp>
        <p:nvSpPr>
          <p:cNvPr id="8" name="Shape 6"/>
          <p:cNvSpPr/>
          <p:nvPr/>
        </p:nvSpPr>
        <p:spPr>
          <a:xfrm>
            <a:off x="3035808" y="4041648"/>
            <a:ext cx="2304288" cy="1572768"/>
          </a:xfrm>
          <a:prstGeom prst="roundRect">
            <a:avLst>
              <a:gd name="adj" fmla="val 5233"/>
            </a:avLst>
          </a:prstGeom>
          <a:solidFill>
            <a:srgbClr val="342519"/>
          </a:solidFill>
          <a:ln w="12700">
            <a:solidFill>
              <a:srgbClr val="4A382A"/>
            </a:solidFill>
            <a:prstDash val="solid"/>
          </a:ln>
        </p:spPr>
      </p:sp>
      <p:sp>
        <p:nvSpPr>
          <p:cNvPr id="9" name="Text 7"/>
          <p:cNvSpPr txBox="1"/>
          <p:nvPr/>
        </p:nvSpPr>
        <p:spPr>
          <a:xfrm>
            <a:off x="3273552" y="4224528"/>
            <a:ext cx="1828800" cy="475488"/>
          </a:xfrm>
          <a:prstGeom prst="rect">
            <a:avLst/>
          </a:prstGeom>
          <a:noFill/>
          <a:ln/>
        </p:spPr>
        <p:txBody>
          <a:bodyPr wrap="square" lIns="0" tIns="0" rIns="0" bIns="0" rtlCol="0" anchor="t"/>
          <a:lstStyle/>
          <a:p>
            <a:pPr indent="0" marL="0">
              <a:buNone/>
            </a:pPr>
            <a:r>
              <a:rPr lang="en-US" sz="2600" b="1" dirty="0">
                <a:solidFill>
                  <a:srgbClr val="E8B85A"/>
                </a:solidFill>
                <a:latin typeface="Calibri" pitchFamily="34" charset="0"/>
                <a:ea typeface="Calibri" pitchFamily="34" charset="-122"/>
                <a:cs typeface="Calibri" pitchFamily="34" charset="-120"/>
              </a:rPr>
              <a:t>Tier 3/4</a:t>
            </a:r>
            <a:endParaRPr lang="en-US" sz="2600" dirty="0"/>
          </a:p>
        </p:txBody>
      </p:sp>
      <p:sp>
        <p:nvSpPr>
          <p:cNvPr id="10" name="Text 8"/>
          <p:cNvSpPr txBox="1"/>
          <p:nvPr/>
        </p:nvSpPr>
        <p:spPr>
          <a:xfrm>
            <a:off x="3273552" y="4754880"/>
            <a:ext cx="1828800" cy="731520"/>
          </a:xfrm>
          <a:prstGeom prst="rect">
            <a:avLst/>
          </a:prstGeom>
          <a:noFill/>
          <a:ln/>
        </p:spPr>
        <p:txBody>
          <a:bodyPr wrap="square" lIns="0" tIns="0" rIns="0" bIns="0" rtlCol="0" anchor="t"/>
          <a:lstStyle/>
          <a:p>
            <a:pPr indent="0" marL="0">
              <a:lnSpc>
                <a:spcPts val="1350"/>
              </a:lnSpc>
              <a:buNone/>
            </a:pPr>
            <a:r>
              <a:rPr lang="en-US" sz="1050" dirty="0">
                <a:solidFill>
                  <a:srgbClr val="DCD5C2"/>
                </a:solidFill>
                <a:latin typeface="Calibri" pitchFamily="34" charset="0"/>
                <a:ea typeface="Calibri" pitchFamily="34" charset="-122"/>
                <a:cs typeface="Calibri" pitchFamily="34" charset="-120"/>
              </a:rPr>
              <a:t>where the deficit is largest and premium brands don't go</a:t>
            </a:r>
            <a:endParaRPr lang="en-US" sz="1050" dirty="0"/>
          </a:p>
        </p:txBody>
      </p:sp>
      <p:sp>
        <p:nvSpPr>
          <p:cNvPr id="11" name="Shape 9"/>
          <p:cNvSpPr/>
          <p:nvPr/>
        </p:nvSpPr>
        <p:spPr>
          <a:xfrm>
            <a:off x="5522976" y="4041648"/>
            <a:ext cx="2304288" cy="1572768"/>
          </a:xfrm>
          <a:prstGeom prst="roundRect">
            <a:avLst>
              <a:gd name="adj" fmla="val 5233"/>
            </a:avLst>
          </a:prstGeom>
          <a:solidFill>
            <a:srgbClr val="342519"/>
          </a:solidFill>
          <a:ln w="12700">
            <a:solidFill>
              <a:srgbClr val="4A382A"/>
            </a:solidFill>
            <a:prstDash val="solid"/>
          </a:ln>
        </p:spPr>
      </p:sp>
      <p:sp>
        <p:nvSpPr>
          <p:cNvPr id="12" name="Text 10"/>
          <p:cNvSpPr txBox="1"/>
          <p:nvPr/>
        </p:nvSpPr>
        <p:spPr>
          <a:xfrm>
            <a:off x="5760720" y="4224528"/>
            <a:ext cx="1828800" cy="475488"/>
          </a:xfrm>
          <a:prstGeom prst="rect">
            <a:avLst/>
          </a:prstGeom>
          <a:noFill/>
          <a:ln/>
        </p:spPr>
        <p:txBody>
          <a:bodyPr wrap="square" lIns="0" tIns="0" rIns="0" bIns="0" rtlCol="0" anchor="t"/>
          <a:lstStyle/>
          <a:p>
            <a:pPr indent="0" marL="0">
              <a:buNone/>
            </a:pPr>
            <a:r>
              <a:rPr lang="en-US" sz="2600" b="1" dirty="0">
                <a:solidFill>
                  <a:srgbClr val="E8B85A"/>
                </a:solidFill>
                <a:latin typeface="Calibri" pitchFamily="34" charset="0"/>
                <a:ea typeface="Calibri" pitchFamily="34" charset="-122"/>
                <a:cs typeface="Calibri" pitchFamily="34" charset="-120"/>
              </a:rPr>
              <a:t>₹7</a:t>
            </a:r>
            <a:endParaRPr lang="en-US" sz="2600" dirty="0"/>
          </a:p>
        </p:txBody>
      </p:sp>
      <p:sp>
        <p:nvSpPr>
          <p:cNvPr id="13" name="Text 11"/>
          <p:cNvSpPr txBox="1"/>
          <p:nvPr/>
        </p:nvSpPr>
        <p:spPr>
          <a:xfrm>
            <a:off x="5760720" y="4754880"/>
            <a:ext cx="1828800" cy="731520"/>
          </a:xfrm>
          <a:prstGeom prst="rect">
            <a:avLst/>
          </a:prstGeom>
          <a:noFill/>
          <a:ln/>
        </p:spPr>
        <p:txBody>
          <a:bodyPr wrap="square" lIns="0" tIns="0" rIns="0" bIns="0" rtlCol="0" anchor="t"/>
          <a:lstStyle/>
          <a:p>
            <a:pPr indent="0" marL="0">
              <a:lnSpc>
                <a:spcPts val="1350"/>
              </a:lnSpc>
              <a:buNone/>
            </a:pPr>
            <a:r>
              <a:rPr lang="en-US" sz="1050" dirty="0">
                <a:solidFill>
                  <a:srgbClr val="DCD5C2"/>
                </a:solidFill>
                <a:latin typeface="Calibri" pitchFamily="34" charset="0"/>
                <a:ea typeface="Calibri" pitchFamily="34" charset="-122"/>
                <a:cs typeface="Calibri" pitchFamily="34" charset="-120"/>
              </a:rPr>
              <a:t>per serve to government, in bulk school format</a:t>
            </a:r>
            <a:endParaRPr lang="en-US" sz="1050" dirty="0"/>
          </a:p>
        </p:txBody>
      </p:sp>
      <p:sp>
        <p:nvSpPr>
          <p:cNvPr id="14" name="Shape 12"/>
          <p:cNvSpPr/>
          <p:nvPr/>
        </p:nvSpPr>
        <p:spPr>
          <a:xfrm>
            <a:off x="8010144" y="4041648"/>
            <a:ext cx="2304288" cy="1572768"/>
          </a:xfrm>
          <a:prstGeom prst="roundRect">
            <a:avLst>
              <a:gd name="adj" fmla="val 5233"/>
            </a:avLst>
          </a:prstGeom>
          <a:solidFill>
            <a:srgbClr val="342519"/>
          </a:solidFill>
          <a:ln w="12700">
            <a:solidFill>
              <a:srgbClr val="4A382A"/>
            </a:solidFill>
            <a:prstDash val="solid"/>
          </a:ln>
        </p:spPr>
      </p:sp>
      <p:sp>
        <p:nvSpPr>
          <p:cNvPr id="15" name="Text 13"/>
          <p:cNvSpPr txBox="1"/>
          <p:nvPr/>
        </p:nvSpPr>
        <p:spPr>
          <a:xfrm>
            <a:off x="8247888" y="4224528"/>
            <a:ext cx="1828800" cy="475488"/>
          </a:xfrm>
          <a:prstGeom prst="rect">
            <a:avLst/>
          </a:prstGeom>
          <a:noFill/>
          <a:ln/>
        </p:spPr>
        <p:txBody>
          <a:bodyPr wrap="square" lIns="0" tIns="0" rIns="0" bIns="0" rtlCol="0" anchor="t"/>
          <a:lstStyle/>
          <a:p>
            <a:pPr indent="0" marL="0">
              <a:buNone/>
            </a:pPr>
            <a:r>
              <a:rPr lang="en-US" sz="2600" b="1" dirty="0">
                <a:solidFill>
                  <a:srgbClr val="E8B85A"/>
                </a:solidFill>
                <a:latin typeface="Calibri" pitchFamily="34" charset="0"/>
                <a:ea typeface="Calibri" pitchFamily="34" charset="-122"/>
                <a:cs typeface="Calibri" pitchFamily="34" charset="-120"/>
              </a:rPr>
              <a:t>₹20</a:t>
            </a:r>
            <a:endParaRPr lang="en-US" sz="2600" dirty="0"/>
          </a:p>
        </p:txBody>
      </p:sp>
      <p:sp>
        <p:nvSpPr>
          <p:cNvPr id="16" name="Text 14"/>
          <p:cNvSpPr txBox="1"/>
          <p:nvPr/>
        </p:nvSpPr>
        <p:spPr>
          <a:xfrm>
            <a:off x="8247888" y="4754880"/>
            <a:ext cx="1828800" cy="731520"/>
          </a:xfrm>
          <a:prstGeom prst="rect">
            <a:avLst/>
          </a:prstGeom>
          <a:noFill/>
          <a:ln/>
        </p:spPr>
        <p:txBody>
          <a:bodyPr wrap="square" lIns="0" tIns="0" rIns="0" bIns="0" rtlCol="0" anchor="t"/>
          <a:lstStyle/>
          <a:p>
            <a:pPr indent="0" marL="0">
              <a:lnSpc>
                <a:spcPts val="1350"/>
              </a:lnSpc>
              <a:buNone/>
            </a:pPr>
            <a:r>
              <a:rPr lang="en-US" sz="1050" dirty="0">
                <a:solidFill>
                  <a:srgbClr val="DCD5C2"/>
                </a:solidFill>
                <a:latin typeface="Calibri" pitchFamily="34" charset="0"/>
                <a:ea typeface="Calibri" pitchFamily="34" charset="-122"/>
                <a:cs typeface="Calibri" pitchFamily="34" charset="-120"/>
              </a:rPr>
              <a:t>MRP retail, 35g sachet with a collectible puzzle piece</a:t>
            </a:r>
            <a:endParaRPr lang="en-US" sz="1050" dirty="0"/>
          </a:p>
        </p:txBody>
      </p:sp>
      <p:pic>
        <p:nvPicPr>
          <p:cNvPr id="17" name="Image 0" descr="preencoded.png">    </p:cNvPr>
          <p:cNvPicPr>
            <a:picLocks noChangeAspect="1"/>
          </p:cNvPicPr>
          <p:nvPr/>
        </p:nvPicPr>
        <p:blipFill>
          <a:blip r:embed="rId1"/>
          <a:stretch>
            <a:fillRect/>
          </a:stretch>
        </p:blipFill>
        <p:spPr>
          <a:xfrm>
            <a:off x="9098280" y="960120"/>
            <a:ext cx="2331720" cy="3108960"/>
          </a:xfrm>
          <a:prstGeom prst="rect">
            <a:avLst/>
          </a:prstGeom>
        </p:spPr>
      </p:pic>
      <p:sp>
        <p:nvSpPr>
          <p:cNvPr id="18" name="Text 15"/>
          <p:cNvSpPr txBox="1"/>
          <p:nvPr/>
        </p:nvSpPr>
        <p:spPr>
          <a:xfrm>
            <a:off x="548640" y="6419088"/>
            <a:ext cx="4572000" cy="256032"/>
          </a:xfrm>
          <a:prstGeom prst="rect">
            <a:avLst/>
          </a:prstGeom>
          <a:noFill/>
          <a:ln/>
        </p:spPr>
        <p:txBody>
          <a:bodyPr wrap="square" lIns="0" tIns="0" rIns="0" bIns="0" rtlCol="0" anchor="ctr"/>
          <a:lstStyle/>
          <a:p>
            <a:pPr indent="0" marL="0">
              <a:buNone/>
            </a:pPr>
            <a:r>
              <a:rPr lang="en-US" sz="900" dirty="0">
                <a:solidFill>
                  <a:srgbClr val="6E5E48"/>
                </a:solidFill>
                <a:latin typeface="Calibri" pitchFamily="34" charset="0"/>
                <a:ea typeface="Calibri" pitchFamily="34" charset="-122"/>
                <a:cs typeface="Calibri" pitchFamily="34" charset="-120"/>
              </a:rPr>
              <a:t>PoshanSetu — F&amp;B Submission</a:t>
            </a:r>
            <a:endParaRPr lang="en-US" sz="900" dirty="0"/>
          </a:p>
        </p:txBody>
      </p:sp>
      <p:sp>
        <p:nvSpPr>
          <p:cNvPr id="19" name="Text 16"/>
          <p:cNvSpPr txBox="1"/>
          <p:nvPr/>
        </p:nvSpPr>
        <p:spPr>
          <a:xfrm>
            <a:off x="10058400" y="6419088"/>
            <a:ext cx="1581912" cy="256032"/>
          </a:xfrm>
          <a:prstGeom prst="rect">
            <a:avLst/>
          </a:prstGeom>
          <a:noFill/>
          <a:ln/>
        </p:spPr>
        <p:txBody>
          <a:bodyPr wrap="square" lIns="0" tIns="0" rIns="0" bIns="0" rtlCol="0" anchor="ctr"/>
          <a:lstStyle/>
          <a:p>
            <a:pPr algn="r" indent="0" marL="0">
              <a:buNone/>
            </a:pPr>
            <a:r>
              <a:rPr lang="en-US" sz="900" dirty="0">
                <a:solidFill>
                  <a:srgbClr val="6E5E48"/>
                </a:solidFill>
                <a:latin typeface="Calibri" pitchFamily="34" charset="0"/>
                <a:ea typeface="Calibri" pitchFamily="34" charset="-122"/>
                <a:cs typeface="Calibri" pitchFamily="34" charset="-120"/>
              </a:rPr>
              <a:t>1 /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100" b="1" spc="220" kern="0" dirty="0">
                <a:solidFill>
                  <a:srgbClr val="7A2E1E"/>
                </a:solidFill>
                <a:latin typeface="Calibri" pitchFamily="34" charset="0"/>
                <a:ea typeface="Calibri" pitchFamily="34" charset="-122"/>
                <a:cs typeface="Calibri" pitchFamily="34" charset="-120"/>
              </a:rPr>
              <a:t>01 · PROBLEM</a:t>
            </a:r>
            <a:endParaRPr lang="en-US" sz="1100" dirty="0"/>
          </a:p>
        </p:txBody>
      </p:sp>
      <p:sp>
        <p:nvSpPr>
          <p:cNvPr id="3" name="Text 1"/>
          <p:cNvSpPr txBox="1"/>
          <p:nvPr/>
        </p:nvSpPr>
        <p:spPr>
          <a:xfrm>
            <a:off x="548640" y="713232"/>
            <a:ext cx="11091672" cy="868680"/>
          </a:xfrm>
          <a:prstGeom prst="rect">
            <a:avLst/>
          </a:prstGeom>
          <a:noFill/>
          <a:ln/>
        </p:spPr>
        <p:txBody>
          <a:bodyPr wrap="square" lIns="0" tIns="0" rIns="0" bIns="0" rtlCol="0" anchor="t"/>
          <a:lstStyle/>
          <a:p>
            <a:pPr indent="0" marL="0">
              <a:lnSpc>
                <a:spcPts val="3600"/>
              </a:lnSpc>
              <a:buNone/>
            </a:pPr>
            <a:r>
              <a:rPr lang="en-US" sz="3000" b="1" dirty="0">
                <a:solidFill>
                  <a:srgbClr val="2B2318"/>
                </a:solidFill>
                <a:latin typeface="Cambria" pitchFamily="34" charset="0"/>
                <a:ea typeface="Cambria" pitchFamily="34" charset="-122"/>
                <a:cs typeface="Cambria" pitchFamily="34" charset="-120"/>
              </a:rPr>
              <a:t>Every nutrition scheme is built for under-5. Nobody measures 5–12.</a:t>
            </a:r>
            <a:endParaRPr lang="en-US" sz="3000" dirty="0"/>
          </a:p>
        </p:txBody>
      </p:sp>
      <p:sp>
        <p:nvSpPr>
          <p:cNvPr id="4" name="Shape 2"/>
          <p:cNvSpPr/>
          <p:nvPr/>
        </p:nvSpPr>
        <p:spPr>
          <a:xfrm>
            <a:off x="548640" y="1783080"/>
            <a:ext cx="3557016" cy="1371600"/>
          </a:xfrm>
          <a:prstGeom prst="roundRect">
            <a:avLst>
              <a:gd name="adj" fmla="val 6000"/>
            </a:avLst>
          </a:prstGeom>
          <a:solidFill>
            <a:srgbClr val="FBEDE9"/>
          </a:solidFill>
          <a:ln w="12700">
            <a:solidFill>
              <a:srgbClr val="E8D3CB"/>
            </a:solidFill>
            <a:prstDash val="solid"/>
          </a:ln>
          <a:effectLst>
            <a:outerShdw sx="100000" sy="100000" kx="0" ky="0" algn="bl" rotWithShape="0" blurRad="76200" dist="12700" dir="5400000">
              <a:srgbClr val="8A7C64">
                <a:alpha val="16000"/>
              </a:srgbClr>
            </a:outerShdw>
          </a:effectLst>
        </p:spPr>
      </p:sp>
      <p:sp>
        <p:nvSpPr>
          <p:cNvPr id="5" name="Text 3"/>
          <p:cNvSpPr txBox="1"/>
          <p:nvPr/>
        </p:nvSpPr>
        <p:spPr>
          <a:xfrm>
            <a:off x="804672" y="1965960"/>
            <a:ext cx="3044952" cy="548640"/>
          </a:xfrm>
          <a:prstGeom prst="rect">
            <a:avLst/>
          </a:prstGeom>
          <a:noFill/>
          <a:ln/>
        </p:spPr>
        <p:txBody>
          <a:bodyPr wrap="square" lIns="0" tIns="0" rIns="0" bIns="0" rtlCol="0" anchor="t"/>
          <a:lstStyle/>
          <a:p>
            <a:pPr indent="0" marL="0">
              <a:buNone/>
            </a:pPr>
            <a:r>
              <a:rPr lang="en-US" sz="2900" b="1" dirty="0">
                <a:solidFill>
                  <a:srgbClr val="7A2E1E"/>
                </a:solidFill>
                <a:latin typeface="Calibri" pitchFamily="34" charset="0"/>
                <a:ea typeface="Calibri" pitchFamily="34" charset="-122"/>
                <a:cs typeface="Calibri" pitchFamily="34" charset="-120"/>
              </a:rPr>
              <a:t>22%</a:t>
            </a:r>
            <a:endParaRPr lang="en-US" sz="2900" dirty="0"/>
          </a:p>
        </p:txBody>
      </p:sp>
      <p:sp>
        <p:nvSpPr>
          <p:cNvPr id="6" name="Text 4"/>
          <p:cNvSpPr txBox="1"/>
          <p:nvPr/>
        </p:nvSpPr>
        <p:spPr>
          <a:xfrm>
            <a:off x="804672" y="2551176"/>
            <a:ext cx="3044952" cy="420624"/>
          </a:xfrm>
          <a:prstGeom prst="rect">
            <a:avLst/>
          </a:prstGeom>
          <a:noFill/>
          <a:ln/>
        </p:spPr>
        <p:txBody>
          <a:bodyPr wrap="square" lIns="0" tIns="0" rIns="0" bIns="0" rtlCol="0" anchor="t"/>
          <a:lstStyle/>
          <a:p>
            <a:pPr indent="0" marL="0">
              <a:lnSpc>
                <a:spcPts val="1400"/>
              </a:lnSpc>
              <a:buNone/>
            </a:pPr>
            <a:r>
              <a:rPr lang="en-US" sz="1100" dirty="0">
                <a:solidFill>
                  <a:srgbClr val="6B6252"/>
                </a:solidFill>
                <a:latin typeface="Calibri" pitchFamily="34" charset="0"/>
                <a:ea typeface="Calibri" pitchFamily="34" charset="-122"/>
                <a:cs typeface="Calibri" pitchFamily="34" charset="-120"/>
              </a:rPr>
              <a:t>of 5–9 year olds are stunted — CNNS 2016–18, the last national measurement of this band</a:t>
            </a:r>
            <a:endParaRPr lang="en-US" sz="1100" dirty="0"/>
          </a:p>
        </p:txBody>
      </p:sp>
      <p:sp>
        <p:nvSpPr>
          <p:cNvPr id="7" name="Shape 5"/>
          <p:cNvSpPr/>
          <p:nvPr/>
        </p:nvSpPr>
        <p:spPr>
          <a:xfrm>
            <a:off x="4315968" y="1783080"/>
            <a:ext cx="3557016" cy="1371600"/>
          </a:xfrm>
          <a:prstGeom prst="roundRect">
            <a:avLst>
              <a:gd name="adj" fmla="val 6000"/>
            </a:avLst>
          </a:prstGeom>
          <a:solidFill>
            <a:srgbClr val="FBEDE9"/>
          </a:solidFill>
          <a:ln w="12700">
            <a:solidFill>
              <a:srgbClr val="E8D3CB"/>
            </a:solidFill>
            <a:prstDash val="solid"/>
          </a:ln>
          <a:effectLst>
            <a:outerShdw sx="100000" sy="100000" kx="0" ky="0" algn="bl" rotWithShape="0" blurRad="76200" dist="12700" dir="5400000">
              <a:srgbClr val="8A7C64">
                <a:alpha val="16000"/>
              </a:srgbClr>
            </a:outerShdw>
          </a:effectLst>
        </p:spPr>
      </p:sp>
      <p:sp>
        <p:nvSpPr>
          <p:cNvPr id="8" name="Text 6"/>
          <p:cNvSpPr txBox="1"/>
          <p:nvPr/>
        </p:nvSpPr>
        <p:spPr>
          <a:xfrm>
            <a:off x="4572000" y="1965960"/>
            <a:ext cx="3044952" cy="548640"/>
          </a:xfrm>
          <a:prstGeom prst="rect">
            <a:avLst/>
          </a:prstGeom>
          <a:noFill/>
          <a:ln/>
        </p:spPr>
        <p:txBody>
          <a:bodyPr wrap="square" lIns="0" tIns="0" rIns="0" bIns="0" rtlCol="0" anchor="t"/>
          <a:lstStyle/>
          <a:p>
            <a:pPr indent="0" marL="0">
              <a:buNone/>
            </a:pPr>
            <a:r>
              <a:rPr lang="en-US" sz="2900" b="1" dirty="0">
                <a:solidFill>
                  <a:srgbClr val="7A2E1E"/>
                </a:solidFill>
                <a:latin typeface="Calibri" pitchFamily="34" charset="0"/>
                <a:ea typeface="Calibri" pitchFamily="34" charset="-122"/>
                <a:cs typeface="Calibri" pitchFamily="34" charset="-120"/>
              </a:rPr>
              <a:t>23%</a:t>
            </a:r>
            <a:endParaRPr lang="en-US" sz="2900" dirty="0"/>
          </a:p>
        </p:txBody>
      </p:sp>
      <p:sp>
        <p:nvSpPr>
          <p:cNvPr id="9" name="Text 7"/>
          <p:cNvSpPr txBox="1"/>
          <p:nvPr/>
        </p:nvSpPr>
        <p:spPr>
          <a:xfrm>
            <a:off x="4572000" y="2551176"/>
            <a:ext cx="3044952" cy="420624"/>
          </a:xfrm>
          <a:prstGeom prst="rect">
            <a:avLst/>
          </a:prstGeom>
          <a:noFill/>
          <a:ln/>
        </p:spPr>
        <p:txBody>
          <a:bodyPr wrap="square" lIns="0" tIns="0" rIns="0" bIns="0" rtlCol="0" anchor="t"/>
          <a:lstStyle/>
          <a:p>
            <a:pPr indent="0" marL="0">
              <a:lnSpc>
                <a:spcPts val="1400"/>
              </a:lnSpc>
              <a:buNone/>
            </a:pPr>
            <a:r>
              <a:rPr lang="en-US" sz="1100" dirty="0">
                <a:solidFill>
                  <a:srgbClr val="6B6252"/>
                </a:solidFill>
                <a:latin typeface="Calibri" pitchFamily="34" charset="0"/>
                <a:ea typeface="Calibri" pitchFamily="34" charset="-122"/>
                <a:cs typeface="Calibri" pitchFamily="34" charset="-120"/>
              </a:rPr>
              <a:t>are thin (low BMI-for-age); 10% are underweight</a:t>
            </a:r>
            <a:endParaRPr lang="en-US" sz="1100" dirty="0"/>
          </a:p>
        </p:txBody>
      </p:sp>
      <p:sp>
        <p:nvSpPr>
          <p:cNvPr id="10" name="Shape 8"/>
          <p:cNvSpPr/>
          <p:nvPr/>
        </p:nvSpPr>
        <p:spPr>
          <a:xfrm>
            <a:off x="8083296" y="1783080"/>
            <a:ext cx="3557016" cy="1371600"/>
          </a:xfrm>
          <a:prstGeom prst="roundRect">
            <a:avLst>
              <a:gd name="adj" fmla="val 6000"/>
            </a:avLst>
          </a:prstGeom>
          <a:solidFill>
            <a:srgbClr val="FBEDE9"/>
          </a:solidFill>
          <a:ln w="12700">
            <a:solidFill>
              <a:srgbClr val="E8D3CB"/>
            </a:solidFill>
            <a:prstDash val="solid"/>
          </a:ln>
          <a:effectLst>
            <a:outerShdw sx="100000" sy="100000" kx="0" ky="0" algn="bl" rotWithShape="0" blurRad="76200" dist="12700" dir="5400000">
              <a:srgbClr val="8A7C64">
                <a:alpha val="16000"/>
              </a:srgbClr>
            </a:outerShdw>
          </a:effectLst>
        </p:spPr>
      </p:sp>
      <p:sp>
        <p:nvSpPr>
          <p:cNvPr id="11" name="Text 9"/>
          <p:cNvSpPr txBox="1"/>
          <p:nvPr/>
        </p:nvSpPr>
        <p:spPr>
          <a:xfrm>
            <a:off x="8339328" y="1965960"/>
            <a:ext cx="3044952" cy="548640"/>
          </a:xfrm>
          <a:prstGeom prst="rect">
            <a:avLst/>
          </a:prstGeom>
          <a:noFill/>
          <a:ln/>
        </p:spPr>
        <p:txBody>
          <a:bodyPr wrap="square" lIns="0" tIns="0" rIns="0" bIns="0" rtlCol="0" anchor="t"/>
          <a:lstStyle/>
          <a:p>
            <a:pPr indent="0" marL="0">
              <a:buNone/>
            </a:pPr>
            <a:r>
              <a:rPr lang="en-US" sz="2900" b="1" dirty="0">
                <a:solidFill>
                  <a:srgbClr val="7A2E1E"/>
                </a:solidFill>
                <a:latin typeface="Calibri" pitchFamily="34" charset="0"/>
                <a:ea typeface="Calibri" pitchFamily="34" charset="-122"/>
                <a:cs typeface="Calibri" pitchFamily="34" charset="-120"/>
              </a:rPr>
              <a:t>8 years</a:t>
            </a:r>
            <a:endParaRPr lang="en-US" sz="2900" dirty="0"/>
          </a:p>
        </p:txBody>
      </p:sp>
      <p:sp>
        <p:nvSpPr>
          <p:cNvPr id="12" name="Text 10"/>
          <p:cNvSpPr txBox="1"/>
          <p:nvPr/>
        </p:nvSpPr>
        <p:spPr>
          <a:xfrm>
            <a:off x="8339328" y="2551176"/>
            <a:ext cx="3044952" cy="420624"/>
          </a:xfrm>
          <a:prstGeom prst="rect">
            <a:avLst/>
          </a:prstGeom>
          <a:noFill/>
          <a:ln/>
        </p:spPr>
        <p:txBody>
          <a:bodyPr wrap="square" lIns="0" tIns="0" rIns="0" bIns="0" rtlCol="0" anchor="t"/>
          <a:lstStyle/>
          <a:p>
            <a:pPr indent="0" marL="0">
              <a:lnSpc>
                <a:spcPts val="1400"/>
              </a:lnSpc>
              <a:buNone/>
            </a:pPr>
            <a:r>
              <a:rPr lang="en-US" sz="1100" dirty="0">
                <a:solidFill>
                  <a:srgbClr val="6B6252"/>
                </a:solidFill>
                <a:latin typeface="Calibri" pitchFamily="34" charset="0"/>
                <a:ea typeface="Calibri" pitchFamily="34" charset="-122"/>
                <a:cs typeface="Calibri" pitchFamily="34" charset="-120"/>
              </a:rPr>
              <a:t>since anyone measured 5–12 nationally. NFHS-6 stops at age five.</a:t>
            </a:r>
            <a:endParaRPr lang="en-US" sz="1100" dirty="0"/>
          </a:p>
        </p:txBody>
      </p:sp>
      <p:sp>
        <p:nvSpPr>
          <p:cNvPr id="13" name="Shape 11"/>
          <p:cNvSpPr/>
          <p:nvPr/>
        </p:nvSpPr>
        <p:spPr>
          <a:xfrm>
            <a:off x="548640" y="3438144"/>
            <a:ext cx="11091672" cy="841248"/>
          </a:xfrm>
          <a:prstGeom prst="roundRect">
            <a:avLst>
              <a:gd name="adj" fmla="val 9783"/>
            </a:avLst>
          </a:prstGeom>
          <a:solidFill>
            <a:srgbClr val="FFFFFF"/>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14" name="Shape 12"/>
          <p:cNvSpPr/>
          <p:nvPr/>
        </p:nvSpPr>
        <p:spPr>
          <a:xfrm>
            <a:off x="822960" y="3648456"/>
            <a:ext cx="420624" cy="420624"/>
          </a:xfrm>
          <a:prstGeom prst="ellipse">
            <a:avLst/>
          </a:prstGeom>
          <a:solidFill>
            <a:srgbClr val="7A2E1E"/>
          </a:solidFill>
          <a:ln/>
        </p:spPr>
      </p:sp>
      <p:sp>
        <p:nvSpPr>
          <p:cNvPr id="15" name="Text 13"/>
          <p:cNvSpPr txBox="1"/>
          <p:nvPr/>
        </p:nvSpPr>
        <p:spPr>
          <a:xfrm>
            <a:off x="822960" y="36484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6" name="Text 14"/>
          <p:cNvSpPr txBox="1"/>
          <p:nvPr/>
        </p:nvSpPr>
        <p:spPr>
          <a:xfrm>
            <a:off x="1481328" y="3566160"/>
            <a:ext cx="9857232" cy="274320"/>
          </a:xfrm>
          <a:prstGeom prst="rect">
            <a:avLst/>
          </a:prstGeom>
          <a:noFill/>
          <a:ln/>
        </p:spPr>
        <p:txBody>
          <a:bodyPr wrap="square" lIns="0" tIns="0" rIns="0" bIns="0" rtlCol="0" anchor="t"/>
          <a:lstStyle/>
          <a:p>
            <a:pPr indent="0" marL="0">
              <a:buNone/>
            </a:pPr>
            <a:r>
              <a:rPr lang="en-US" sz="1300" b="1" dirty="0">
                <a:solidFill>
                  <a:srgbClr val="2B2318"/>
                </a:solidFill>
                <a:latin typeface="Calibri" pitchFamily="34" charset="0"/>
                <a:ea typeface="Calibri" pitchFamily="34" charset="-122"/>
                <a:cs typeface="Calibri" pitchFamily="34" charset="-120"/>
              </a:rPr>
              <a:t>The measurement gap is the policy gap</a:t>
            </a:r>
            <a:endParaRPr lang="en-US" sz="1300" dirty="0"/>
          </a:p>
        </p:txBody>
      </p:sp>
      <p:sp>
        <p:nvSpPr>
          <p:cNvPr id="17" name="Text 15"/>
          <p:cNvSpPr txBox="1"/>
          <p:nvPr/>
        </p:nvSpPr>
        <p:spPr>
          <a:xfrm>
            <a:off x="1481328" y="3849624"/>
            <a:ext cx="9857232" cy="365760"/>
          </a:xfrm>
          <a:prstGeom prst="rect">
            <a:avLst/>
          </a:prstGeom>
          <a:noFill/>
          <a:ln/>
        </p:spPr>
        <p:txBody>
          <a:bodyPr wrap="square" lIns="0" tIns="0" rIns="0" bIns="0" rtlCol="0" anchor="t"/>
          <a:lstStyle/>
          <a:p>
            <a:pPr indent="0" marL="0">
              <a:lnSpc>
                <a:spcPts val="1350"/>
              </a:lnSpc>
              <a:buNone/>
            </a:pPr>
            <a:r>
              <a:rPr lang="en-US" sz="1050" dirty="0">
                <a:solidFill>
                  <a:srgbClr val="6B6252"/>
                </a:solidFill>
                <a:latin typeface="Calibri" pitchFamily="34" charset="0"/>
                <a:ea typeface="Calibri" pitchFamily="34" charset="-122"/>
                <a:cs typeface="Calibri" pitchFamily="34" charset="-120"/>
              </a:rPr>
              <a:t>NFHS-6 (2023–24) reports stunting, wasting and underweight for under-fives only. Poshan Tracker covers 0–6. Once a child turns six, the system stops weighing them and starts feeding them.</a:t>
            </a:r>
            <a:endParaRPr lang="en-US" sz="1050" dirty="0"/>
          </a:p>
        </p:txBody>
      </p:sp>
      <p:sp>
        <p:nvSpPr>
          <p:cNvPr id="18" name="Shape 16"/>
          <p:cNvSpPr/>
          <p:nvPr/>
        </p:nvSpPr>
        <p:spPr>
          <a:xfrm>
            <a:off x="548640" y="4389120"/>
            <a:ext cx="11091672" cy="841248"/>
          </a:xfrm>
          <a:prstGeom prst="roundRect">
            <a:avLst>
              <a:gd name="adj" fmla="val 9783"/>
            </a:avLst>
          </a:prstGeom>
          <a:solidFill>
            <a:srgbClr val="FFFFFF"/>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19" name="Shape 17"/>
          <p:cNvSpPr/>
          <p:nvPr/>
        </p:nvSpPr>
        <p:spPr>
          <a:xfrm>
            <a:off x="822960" y="4599432"/>
            <a:ext cx="420624" cy="420624"/>
          </a:xfrm>
          <a:prstGeom prst="ellipse">
            <a:avLst/>
          </a:prstGeom>
          <a:solidFill>
            <a:srgbClr val="7A2E1E"/>
          </a:solidFill>
          <a:ln/>
        </p:spPr>
      </p:sp>
      <p:sp>
        <p:nvSpPr>
          <p:cNvPr id="20" name="Text 18"/>
          <p:cNvSpPr txBox="1"/>
          <p:nvPr/>
        </p:nvSpPr>
        <p:spPr>
          <a:xfrm>
            <a:off x="822960" y="45994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1" name="Text 19"/>
          <p:cNvSpPr txBox="1"/>
          <p:nvPr/>
        </p:nvSpPr>
        <p:spPr>
          <a:xfrm>
            <a:off x="1481328" y="4517136"/>
            <a:ext cx="9857232" cy="274320"/>
          </a:xfrm>
          <a:prstGeom prst="rect">
            <a:avLst/>
          </a:prstGeom>
          <a:noFill/>
          <a:ln/>
        </p:spPr>
        <p:txBody>
          <a:bodyPr wrap="square" lIns="0" tIns="0" rIns="0" bIns="0" rtlCol="0" anchor="t"/>
          <a:lstStyle/>
          <a:p>
            <a:pPr indent="0" marL="0">
              <a:buNone/>
            </a:pPr>
            <a:r>
              <a:rPr lang="en-US" sz="1300" b="1" dirty="0">
                <a:solidFill>
                  <a:srgbClr val="2B2318"/>
                </a:solidFill>
                <a:latin typeface="Calibri" pitchFamily="34" charset="0"/>
                <a:ea typeface="Calibri" pitchFamily="34" charset="-122"/>
                <a:cs typeface="Calibri" pitchFamily="34" charset="-120"/>
              </a:rPr>
              <a:t>One cooked meal is doing all the work</a:t>
            </a:r>
            <a:endParaRPr lang="en-US" sz="1300" dirty="0"/>
          </a:p>
        </p:txBody>
      </p:sp>
      <p:sp>
        <p:nvSpPr>
          <p:cNvPr id="22" name="Text 20"/>
          <p:cNvSpPr txBox="1"/>
          <p:nvPr/>
        </p:nvSpPr>
        <p:spPr>
          <a:xfrm>
            <a:off x="1481328" y="4800600"/>
            <a:ext cx="9857232" cy="365760"/>
          </a:xfrm>
          <a:prstGeom prst="rect">
            <a:avLst/>
          </a:prstGeom>
          <a:noFill/>
          <a:ln/>
        </p:spPr>
        <p:txBody>
          <a:bodyPr wrap="square" lIns="0" tIns="0" rIns="0" bIns="0" rtlCol="0" anchor="t"/>
          <a:lstStyle/>
          <a:p>
            <a:pPr indent="0" marL="0">
              <a:lnSpc>
                <a:spcPts val="1350"/>
              </a:lnSpc>
              <a:buNone/>
            </a:pPr>
            <a:r>
              <a:rPr lang="en-US" sz="1050" dirty="0">
                <a:solidFill>
                  <a:srgbClr val="6B6252"/>
                </a:solidFill>
                <a:latin typeface="Calibri" pitchFamily="34" charset="0"/>
                <a:ea typeface="Calibri" pitchFamily="34" charset="-122"/>
                <a:cs typeface="Calibri" pitchFamily="34" charset="-120"/>
              </a:rPr>
              <a:t>PM POSHAN serves 11.8 crore children in classes 1–8 across 11.2 lakh schools — roughly 200 school days a year, in government and aided schools only.</a:t>
            </a:r>
            <a:endParaRPr lang="en-US" sz="1050" dirty="0"/>
          </a:p>
        </p:txBody>
      </p:sp>
      <p:sp>
        <p:nvSpPr>
          <p:cNvPr id="23" name="Shape 21"/>
          <p:cNvSpPr/>
          <p:nvPr/>
        </p:nvSpPr>
        <p:spPr>
          <a:xfrm>
            <a:off x="548640" y="5340096"/>
            <a:ext cx="11091672" cy="841248"/>
          </a:xfrm>
          <a:prstGeom prst="roundRect">
            <a:avLst>
              <a:gd name="adj" fmla="val 9783"/>
            </a:avLst>
          </a:prstGeom>
          <a:solidFill>
            <a:srgbClr val="FFFFFF"/>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24" name="Shape 22"/>
          <p:cNvSpPr/>
          <p:nvPr/>
        </p:nvSpPr>
        <p:spPr>
          <a:xfrm>
            <a:off x="822960" y="5550408"/>
            <a:ext cx="420624" cy="420624"/>
          </a:xfrm>
          <a:prstGeom prst="ellipse">
            <a:avLst/>
          </a:prstGeom>
          <a:solidFill>
            <a:srgbClr val="7A2E1E"/>
          </a:solidFill>
          <a:ln/>
        </p:spPr>
      </p:sp>
      <p:sp>
        <p:nvSpPr>
          <p:cNvPr id="25" name="Text 23"/>
          <p:cNvSpPr txBox="1"/>
          <p:nvPr/>
        </p:nvSpPr>
        <p:spPr>
          <a:xfrm>
            <a:off x="822960" y="555040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6" name="Text 24"/>
          <p:cNvSpPr txBox="1"/>
          <p:nvPr/>
        </p:nvSpPr>
        <p:spPr>
          <a:xfrm>
            <a:off x="1481328" y="5468112"/>
            <a:ext cx="9857232" cy="274320"/>
          </a:xfrm>
          <a:prstGeom prst="rect">
            <a:avLst/>
          </a:prstGeom>
          <a:noFill/>
          <a:ln/>
        </p:spPr>
        <p:txBody>
          <a:bodyPr wrap="square" lIns="0" tIns="0" rIns="0" bIns="0" rtlCol="0" anchor="t"/>
          <a:lstStyle/>
          <a:p>
            <a:pPr indent="0" marL="0">
              <a:buNone/>
            </a:pPr>
            <a:r>
              <a:rPr lang="en-US" sz="1300" b="1" dirty="0">
                <a:solidFill>
                  <a:srgbClr val="2B2318"/>
                </a:solidFill>
                <a:latin typeface="Calibri" pitchFamily="34" charset="0"/>
                <a:ea typeface="Calibri" pitchFamily="34" charset="-122"/>
                <a:cs typeface="Calibri" pitchFamily="34" charset="-120"/>
              </a:rPr>
              <a:t>Anaemia at this age is a compliance problem, not a supply problem</a:t>
            </a:r>
            <a:endParaRPr lang="en-US" sz="1300" dirty="0"/>
          </a:p>
        </p:txBody>
      </p:sp>
      <p:sp>
        <p:nvSpPr>
          <p:cNvPr id="27" name="Text 25"/>
          <p:cNvSpPr txBox="1"/>
          <p:nvPr/>
        </p:nvSpPr>
        <p:spPr>
          <a:xfrm>
            <a:off x="1481328" y="5751576"/>
            <a:ext cx="9857232" cy="365760"/>
          </a:xfrm>
          <a:prstGeom prst="rect">
            <a:avLst/>
          </a:prstGeom>
          <a:noFill/>
          <a:ln/>
        </p:spPr>
        <p:txBody>
          <a:bodyPr wrap="square" lIns="0" tIns="0" rIns="0" bIns="0" rtlCol="0" anchor="t"/>
          <a:lstStyle/>
          <a:p>
            <a:pPr indent="0" marL="0">
              <a:lnSpc>
                <a:spcPts val="1350"/>
              </a:lnSpc>
              <a:buNone/>
            </a:pPr>
            <a:r>
              <a:rPr lang="en-US" sz="1050" dirty="0">
                <a:solidFill>
                  <a:srgbClr val="6B6252"/>
                </a:solidFill>
                <a:latin typeface="Calibri" pitchFamily="34" charset="0"/>
                <a:ea typeface="Calibri" pitchFamily="34" charset="-122"/>
                <a:cs typeface="Calibri" pitchFamily="34" charset="-120"/>
              </a:rPr>
              <a:t>The weekly iron-folic acid tablet is free and already distributed. Children resist taking it. The state is not short of iron; it is short of a delivery format children accept.</a:t>
            </a:r>
            <a:endParaRPr lang="en-US" sz="1050" dirty="0"/>
          </a:p>
        </p:txBody>
      </p:sp>
      <p:sp>
        <p:nvSpPr>
          <p:cNvPr id="28" name="Text 26"/>
          <p:cNvSpPr txBox="1"/>
          <p:nvPr/>
        </p:nvSpPr>
        <p:spPr>
          <a:xfrm>
            <a:off x="548640" y="6419088"/>
            <a:ext cx="4572000" cy="256032"/>
          </a:xfrm>
          <a:prstGeom prst="rect">
            <a:avLst/>
          </a:prstGeom>
          <a:noFill/>
          <a:ln/>
        </p:spPr>
        <p:txBody>
          <a:bodyPr wrap="square" lIns="0" tIns="0" rIns="0" bIns="0" rtlCol="0" anchor="ctr"/>
          <a:lstStyle/>
          <a:p>
            <a:pPr indent="0" marL="0">
              <a:buNone/>
            </a:pPr>
            <a:r>
              <a:rPr lang="en-US" sz="900" dirty="0">
                <a:solidFill>
                  <a:srgbClr val="9C907A"/>
                </a:solidFill>
                <a:latin typeface="Calibri" pitchFamily="34" charset="0"/>
                <a:ea typeface="Calibri" pitchFamily="34" charset="-122"/>
                <a:cs typeface="Calibri" pitchFamily="34" charset="-120"/>
              </a:rPr>
              <a:t>PoshanSetu — F&amp;B Submission</a:t>
            </a:r>
            <a:endParaRPr lang="en-US" sz="900" dirty="0"/>
          </a:p>
        </p:txBody>
      </p:sp>
      <p:sp>
        <p:nvSpPr>
          <p:cNvPr id="29" name="Text 27"/>
          <p:cNvSpPr txBox="1"/>
          <p:nvPr/>
        </p:nvSpPr>
        <p:spPr>
          <a:xfrm>
            <a:off x="10058400" y="6419088"/>
            <a:ext cx="1581912" cy="256032"/>
          </a:xfrm>
          <a:prstGeom prst="rect">
            <a:avLst/>
          </a:prstGeom>
          <a:noFill/>
          <a:ln/>
        </p:spPr>
        <p:txBody>
          <a:bodyPr wrap="square" lIns="0" tIns="0" rIns="0" bIns="0" rtlCol="0" anchor="ctr"/>
          <a:lstStyle/>
          <a:p>
            <a:pPr algn="r" indent="0" marL="0">
              <a:buNone/>
            </a:pPr>
            <a:r>
              <a:rPr lang="en-US" sz="900" dirty="0">
                <a:solidFill>
                  <a:srgbClr val="9C907A"/>
                </a:solidFill>
                <a:latin typeface="Calibri" pitchFamily="34" charset="0"/>
                <a:ea typeface="Calibri" pitchFamily="34" charset="-122"/>
                <a:cs typeface="Calibri"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100" b="1" spc="220" kern="0" dirty="0">
                <a:solidFill>
                  <a:srgbClr val="3F5B3E"/>
                </a:solidFill>
                <a:latin typeface="Calibri" pitchFamily="34" charset="0"/>
                <a:ea typeface="Calibri" pitchFamily="34" charset="-122"/>
                <a:cs typeface="Calibri" pitchFamily="34" charset="-120"/>
              </a:rPr>
              <a:t>02 · FOCUS</a:t>
            </a:r>
            <a:endParaRPr lang="en-US" sz="1100" dirty="0"/>
          </a:p>
        </p:txBody>
      </p:sp>
      <p:sp>
        <p:nvSpPr>
          <p:cNvPr id="3" name="Text 1"/>
          <p:cNvSpPr txBox="1"/>
          <p:nvPr/>
        </p:nvSpPr>
        <p:spPr>
          <a:xfrm>
            <a:off x="548640" y="713232"/>
            <a:ext cx="11091672" cy="868680"/>
          </a:xfrm>
          <a:prstGeom prst="rect">
            <a:avLst/>
          </a:prstGeom>
          <a:noFill/>
          <a:ln/>
        </p:spPr>
        <p:txBody>
          <a:bodyPr wrap="square" lIns="0" tIns="0" rIns="0" bIns="0" rtlCol="0" anchor="t"/>
          <a:lstStyle/>
          <a:p>
            <a:pPr indent="0" marL="0">
              <a:lnSpc>
                <a:spcPts val="3600"/>
              </a:lnSpc>
              <a:buNone/>
            </a:pPr>
            <a:r>
              <a:rPr lang="en-US" sz="3000" b="1" dirty="0">
                <a:solidFill>
                  <a:srgbClr val="2B2318"/>
                </a:solidFill>
                <a:latin typeface="Cambria" pitchFamily="34" charset="0"/>
                <a:ea typeface="Cambria" pitchFamily="34" charset="-122"/>
                <a:cs typeface="Cambria" pitchFamily="34" charset="-120"/>
              </a:rPr>
              <a:t>Why 5–12, and why tier 3 and tier 4.</a:t>
            </a:r>
            <a:endParaRPr lang="en-US" sz="3000" dirty="0"/>
          </a:p>
        </p:txBody>
      </p:sp>
      <p:sp>
        <p:nvSpPr>
          <p:cNvPr id="4" name="Shape 2"/>
          <p:cNvSpPr/>
          <p:nvPr/>
        </p:nvSpPr>
        <p:spPr>
          <a:xfrm>
            <a:off x="548640" y="1783080"/>
            <a:ext cx="5440680" cy="2103120"/>
          </a:xfrm>
          <a:prstGeom prst="roundRect">
            <a:avLst>
              <a:gd name="adj" fmla="val 3913"/>
            </a:avLst>
          </a:prstGeom>
          <a:solidFill>
            <a:srgbClr val="EEF3EC"/>
          </a:solidFill>
          <a:ln w="12700">
            <a:solidFill>
              <a:srgbClr val="CFE0CC"/>
            </a:solidFill>
            <a:prstDash val="solid"/>
          </a:ln>
          <a:effectLst>
            <a:outerShdw sx="100000" sy="100000" kx="0" ky="0" algn="bl" rotWithShape="0" blurRad="76200" dist="12700" dir="5400000">
              <a:srgbClr val="8A7C64">
                <a:alpha val="16000"/>
              </a:srgbClr>
            </a:outerShdw>
          </a:effectLst>
        </p:spPr>
      </p:sp>
      <p:sp>
        <p:nvSpPr>
          <p:cNvPr id="5" name="Text 3"/>
          <p:cNvSpPr txBox="1"/>
          <p:nvPr/>
        </p:nvSpPr>
        <p:spPr>
          <a:xfrm>
            <a:off x="786384" y="1965960"/>
            <a:ext cx="4965192" cy="256032"/>
          </a:xfrm>
          <a:prstGeom prst="rect">
            <a:avLst/>
          </a:prstGeom>
          <a:noFill/>
          <a:ln/>
        </p:spPr>
        <p:txBody>
          <a:bodyPr wrap="square" lIns="0" tIns="0" rIns="0" bIns="0" rtlCol="0" anchor="t"/>
          <a:lstStyle/>
          <a:p>
            <a:pPr indent="0" marL="0">
              <a:buNone/>
            </a:pPr>
            <a:r>
              <a:rPr lang="en-US" sz="1200" b="1" dirty="0">
                <a:solidFill>
                  <a:srgbClr val="3F5B3E"/>
                </a:solidFill>
                <a:latin typeface="Calibri" pitchFamily="34" charset="0"/>
                <a:ea typeface="Calibri" pitchFamily="34" charset="-122"/>
                <a:cs typeface="Calibri" pitchFamily="34" charset="-120"/>
              </a:rPr>
              <a:t>WHY AGES 5–12</a:t>
            </a:r>
            <a:endParaRPr lang="en-US" sz="1200" dirty="0"/>
          </a:p>
        </p:txBody>
      </p:sp>
      <p:sp>
        <p:nvSpPr>
          <p:cNvPr id="6" name="Text 4"/>
          <p:cNvSpPr txBox="1"/>
          <p:nvPr/>
        </p:nvSpPr>
        <p:spPr>
          <a:xfrm>
            <a:off x="786384" y="2276856"/>
            <a:ext cx="4965192" cy="1389888"/>
          </a:xfrm>
          <a:prstGeom prst="rect">
            <a:avLst/>
          </a:prstGeom>
          <a:noFill/>
          <a:ln/>
        </p:spPr>
        <p:txBody>
          <a:bodyPr wrap="square" lIns="0" tIns="0" rIns="0" bIns="0" rtlCol="0" anchor="t"/>
          <a:lstStyle/>
          <a:p>
            <a:pPr indent="0" marL="0">
              <a:lnSpc>
                <a:spcPts val="1400"/>
              </a:lnSpc>
              <a:buNone/>
            </a:pPr>
            <a:r>
              <a:rPr lang="en-US" sz="1050" dirty="0">
                <a:solidFill>
                  <a:srgbClr val="6B6252"/>
                </a:solidFill>
                <a:latin typeface="Calibri" pitchFamily="34" charset="0"/>
                <a:ea typeface="Calibri" pitchFamily="34" charset="-122"/>
                <a:cs typeface="Calibri" pitchFamily="34" charset="-120"/>
              </a:rPr>
              <a:t>It is the only band where a child is in one place for six hours a day, five days a week, reachable through an institution the state already runs — and where the child has enough agency to want a product rather than merely receive it.</a:t>
            </a:r>
            <a:endParaRPr lang="en-US" sz="1050" dirty="0"/>
          </a:p>
          <a:p>
            <a:pPr indent="0" marL="0">
              <a:lnSpc>
                <a:spcPts val="1400"/>
              </a:lnSpc>
              <a:buNone/>
            </a:pPr>
            <a:endParaRPr lang="en-US" sz="1050" dirty="0"/>
          </a:p>
          <a:p>
            <a:pPr indent="0" marL="0">
              <a:lnSpc>
                <a:spcPts val="1400"/>
              </a:lnSpc>
              <a:buNone/>
            </a:pPr>
            <a:r>
              <a:rPr lang="en-US" sz="1050" dirty="0">
                <a:solidFill>
                  <a:srgbClr val="6B6252"/>
                </a:solidFill>
                <a:latin typeface="Calibri" pitchFamily="34" charset="0"/>
                <a:ea typeface="Calibri" pitchFamily="34" charset="-122"/>
                <a:cs typeface="Calibri" pitchFamily="34" charset="-120"/>
              </a:rPr>
              <a:t>It is also the band where the Infant Milk Substitutes Act does not apply. No advertising ban, no restriction on child imagery, no bar on engaging teachers or health workers. Everything that made an infant product legally awkward becomes available here.</a:t>
            </a:r>
            <a:endParaRPr lang="en-US" sz="1050" dirty="0"/>
          </a:p>
        </p:txBody>
      </p:sp>
      <p:sp>
        <p:nvSpPr>
          <p:cNvPr id="7" name="Shape 5"/>
          <p:cNvSpPr/>
          <p:nvPr/>
        </p:nvSpPr>
        <p:spPr>
          <a:xfrm>
            <a:off x="6199632" y="1783080"/>
            <a:ext cx="5440680" cy="2103120"/>
          </a:xfrm>
          <a:prstGeom prst="roundRect">
            <a:avLst>
              <a:gd name="adj" fmla="val 3913"/>
            </a:avLst>
          </a:prstGeom>
          <a:solidFill>
            <a:srgbClr val="EAF1F5"/>
          </a:solidFill>
          <a:ln w="12700">
            <a:solidFill>
              <a:srgbClr val="CFE0E8"/>
            </a:solidFill>
            <a:prstDash val="solid"/>
          </a:ln>
          <a:effectLst>
            <a:outerShdw sx="100000" sy="100000" kx="0" ky="0" algn="bl" rotWithShape="0" blurRad="76200" dist="12700" dir="5400000">
              <a:srgbClr val="8A7C64">
                <a:alpha val="16000"/>
              </a:srgbClr>
            </a:outerShdw>
          </a:effectLst>
        </p:spPr>
      </p:sp>
      <p:sp>
        <p:nvSpPr>
          <p:cNvPr id="8" name="Text 6"/>
          <p:cNvSpPr txBox="1"/>
          <p:nvPr/>
        </p:nvSpPr>
        <p:spPr>
          <a:xfrm>
            <a:off x="6437376" y="1965960"/>
            <a:ext cx="4965192" cy="256032"/>
          </a:xfrm>
          <a:prstGeom prst="rect">
            <a:avLst/>
          </a:prstGeom>
          <a:noFill/>
          <a:ln/>
        </p:spPr>
        <p:txBody>
          <a:bodyPr wrap="square" lIns="0" tIns="0" rIns="0" bIns="0" rtlCol="0" anchor="t"/>
          <a:lstStyle/>
          <a:p>
            <a:pPr indent="0" marL="0">
              <a:buNone/>
            </a:pPr>
            <a:r>
              <a:rPr lang="en-US" sz="1200" b="1" dirty="0">
                <a:solidFill>
                  <a:srgbClr val="3E5566"/>
                </a:solidFill>
                <a:latin typeface="Calibri" pitchFamily="34" charset="0"/>
                <a:ea typeface="Calibri" pitchFamily="34" charset="-122"/>
                <a:cs typeface="Calibri" pitchFamily="34" charset="-120"/>
              </a:rPr>
              <a:t>WHY TIER 3 AND TIER 4</a:t>
            </a:r>
            <a:endParaRPr lang="en-US" sz="1200" dirty="0"/>
          </a:p>
        </p:txBody>
      </p:sp>
      <p:sp>
        <p:nvSpPr>
          <p:cNvPr id="9" name="Text 7"/>
          <p:cNvSpPr txBox="1"/>
          <p:nvPr/>
        </p:nvSpPr>
        <p:spPr>
          <a:xfrm>
            <a:off x="6437376" y="2276856"/>
            <a:ext cx="4965192" cy="1389888"/>
          </a:xfrm>
          <a:prstGeom prst="rect">
            <a:avLst/>
          </a:prstGeom>
          <a:noFill/>
          <a:ln/>
        </p:spPr>
        <p:txBody>
          <a:bodyPr wrap="square" lIns="0" tIns="0" rIns="0" bIns="0" rtlCol="0" anchor="t"/>
          <a:lstStyle/>
          <a:p>
            <a:pPr indent="0" marL="0">
              <a:lnSpc>
                <a:spcPts val="1400"/>
              </a:lnSpc>
              <a:buNone/>
            </a:pPr>
            <a:r>
              <a:rPr lang="en-US" sz="1050" dirty="0">
                <a:solidFill>
                  <a:srgbClr val="6B6252"/>
                </a:solidFill>
                <a:latin typeface="Calibri" pitchFamily="34" charset="0"/>
                <a:ea typeface="Calibri" pitchFamily="34" charset="-122"/>
                <a:cs typeface="Calibri" pitchFamily="34" charset="-120"/>
              </a:rPr>
              <a:t>The deficit is largest here and the competition is thinnest. Abbott and Nestlé sell at ₹200–500 through urban pharmacies. Millet startups sell online to metro parents. Neither reaches a town of 60,000 people.</a:t>
            </a:r>
            <a:endParaRPr lang="en-US" sz="1050" dirty="0"/>
          </a:p>
          <a:p>
            <a:pPr indent="0" marL="0">
              <a:lnSpc>
                <a:spcPts val="1400"/>
              </a:lnSpc>
              <a:buNone/>
            </a:pPr>
            <a:endParaRPr lang="en-US" sz="1050" dirty="0"/>
          </a:p>
          <a:p>
            <a:pPr indent="0" marL="0">
              <a:lnSpc>
                <a:spcPts val="1400"/>
              </a:lnSpc>
              <a:buNone/>
            </a:pPr>
            <a:r>
              <a:rPr lang="en-US" sz="1050" dirty="0">
                <a:solidFill>
                  <a:srgbClr val="6B6252"/>
                </a:solidFill>
                <a:latin typeface="Calibri" pitchFamily="34" charset="0"/>
                <a:ea typeface="Calibri" pitchFamily="34" charset="-122"/>
                <a:cs typeface="Calibri" pitchFamily="34" charset="-120"/>
              </a:rPr>
              <a:t>It is also where government is the realistic first customer: aspirational districts have dedicated funds, school health screening already runs, and a state nutrition department can move faster than a national FMCG launch.</a:t>
            </a:r>
            <a:endParaRPr lang="en-US" sz="1050" dirty="0"/>
          </a:p>
        </p:txBody>
      </p:sp>
      <p:sp>
        <p:nvSpPr>
          <p:cNvPr id="10" name="Shape 8"/>
          <p:cNvSpPr/>
          <p:nvPr/>
        </p:nvSpPr>
        <p:spPr>
          <a:xfrm>
            <a:off x="548640" y="4069080"/>
            <a:ext cx="11091672" cy="1051560"/>
          </a:xfrm>
          <a:prstGeom prst="roundRect">
            <a:avLst>
              <a:gd name="adj" fmla="val 7826"/>
            </a:avLst>
          </a:prstGeom>
          <a:solidFill>
            <a:srgbClr val="FCF3E0"/>
          </a:solidFill>
          <a:ln w="12700">
            <a:solidFill>
              <a:srgbClr val="EAE1CE"/>
            </a:solidFill>
            <a:prstDash val="solid"/>
          </a:ln>
          <a:effectLst>
            <a:outerShdw sx="100000" sy="100000" kx="0" ky="0" algn="bl" rotWithShape="0" blurRad="76200" dist="12700" dir="5400000">
              <a:srgbClr val="8A7C64">
                <a:alpha val="16000"/>
              </a:srgbClr>
            </a:outerShdw>
          </a:effectLst>
        </p:spPr>
      </p:sp>
      <p:sp>
        <p:nvSpPr>
          <p:cNvPr id="11" name="Text 9"/>
          <p:cNvSpPr txBox="1"/>
          <p:nvPr/>
        </p:nvSpPr>
        <p:spPr>
          <a:xfrm>
            <a:off x="841248" y="4251960"/>
            <a:ext cx="3657600" cy="256032"/>
          </a:xfrm>
          <a:prstGeom prst="rect">
            <a:avLst/>
          </a:prstGeom>
          <a:noFill/>
          <a:ln/>
        </p:spPr>
        <p:txBody>
          <a:bodyPr wrap="square" lIns="0" tIns="0" rIns="0" bIns="0" rtlCol="0" anchor="ctr"/>
          <a:lstStyle/>
          <a:p>
            <a:pPr indent="0" marL="0">
              <a:buNone/>
            </a:pPr>
            <a:r>
              <a:rPr lang="en-US" sz="1050" b="1" spc="180" kern="0" dirty="0">
                <a:solidFill>
                  <a:srgbClr val="8F6115"/>
                </a:solidFill>
                <a:latin typeface="Calibri" pitchFamily="34" charset="0"/>
                <a:ea typeface="Calibri" pitchFamily="34" charset="-122"/>
                <a:cs typeface="Calibri" pitchFamily="34" charset="-120"/>
              </a:rPr>
              <a:t>THE CONSEQUENCE OF THIS FOCUS</a:t>
            </a:r>
            <a:endParaRPr lang="en-US" sz="1050" dirty="0"/>
          </a:p>
        </p:txBody>
      </p:sp>
      <p:sp>
        <p:nvSpPr>
          <p:cNvPr id="12" name="Text 10"/>
          <p:cNvSpPr txBox="1"/>
          <p:nvPr/>
        </p:nvSpPr>
        <p:spPr>
          <a:xfrm>
            <a:off x="841248" y="4544568"/>
            <a:ext cx="10506456" cy="457200"/>
          </a:xfrm>
          <a:prstGeom prst="rect">
            <a:avLst/>
          </a:prstGeom>
          <a:noFill/>
          <a:ln/>
        </p:spPr>
        <p:txBody>
          <a:bodyPr wrap="square" lIns="0" tIns="0" rIns="0" bIns="0" rtlCol="0" anchor="t"/>
          <a:lstStyle/>
          <a:p>
            <a:pPr indent="0" marL="0">
              <a:lnSpc>
                <a:spcPts val="1600"/>
              </a:lnSpc>
              <a:buNone/>
            </a:pPr>
            <a:r>
              <a:rPr lang="en-US" sz="1250" dirty="0">
                <a:solidFill>
                  <a:srgbClr val="2B2318"/>
                </a:solidFill>
                <a:latin typeface="Calibri" pitchFamily="34" charset="0"/>
                <a:ea typeface="Calibri" pitchFamily="34" charset="-122"/>
                <a:cs typeface="Calibri" pitchFamily="34" charset="-120"/>
              </a:rPr>
              <a:t>We are not building a baby-food brand that also sells to schools. We are building a school-age product whose primary buyer is a state government, with retail as the channel that keeps us commercially honest and gives parents something to verify.</a:t>
            </a:r>
            <a:endParaRPr lang="en-US" sz="1250" dirty="0"/>
          </a:p>
        </p:txBody>
      </p:sp>
      <p:sp>
        <p:nvSpPr>
          <p:cNvPr id="13" name="Shape 11"/>
          <p:cNvSpPr/>
          <p:nvPr/>
        </p:nvSpPr>
        <p:spPr>
          <a:xfrm>
            <a:off x="548640" y="5212080"/>
            <a:ext cx="3557016" cy="1033272"/>
          </a:xfrm>
          <a:prstGeom prst="roundRect">
            <a:avLst>
              <a:gd name="adj" fmla="val 7965"/>
            </a:avLst>
          </a:prstGeom>
          <a:solidFill>
            <a:srgbClr val="FFFFFF"/>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14" name="Text 12"/>
          <p:cNvSpPr txBox="1"/>
          <p:nvPr/>
        </p:nvSpPr>
        <p:spPr>
          <a:xfrm>
            <a:off x="786384" y="5394960"/>
            <a:ext cx="3081528" cy="237744"/>
          </a:xfrm>
          <a:prstGeom prst="rect">
            <a:avLst/>
          </a:prstGeom>
          <a:noFill/>
          <a:ln/>
        </p:spPr>
        <p:txBody>
          <a:bodyPr wrap="square" lIns="0" tIns="0" rIns="0" bIns="0" rtlCol="0" anchor="t"/>
          <a:lstStyle/>
          <a:p>
            <a:pPr indent="0" marL="0">
              <a:buNone/>
            </a:pPr>
            <a:r>
              <a:rPr lang="en-US" sz="1150" b="1" dirty="0">
                <a:solidFill>
                  <a:srgbClr val="2B2318"/>
                </a:solidFill>
                <a:latin typeface="Calibri" pitchFamily="34" charset="0"/>
                <a:ea typeface="Calibri" pitchFamily="34" charset="-122"/>
                <a:cs typeface="Calibri" pitchFamily="34" charset="-120"/>
              </a:rPr>
              <a:t>What we dropped</a:t>
            </a:r>
            <a:endParaRPr lang="en-US" sz="1150" dirty="0"/>
          </a:p>
        </p:txBody>
      </p:sp>
      <p:sp>
        <p:nvSpPr>
          <p:cNvPr id="15" name="Text 13"/>
          <p:cNvSpPr txBox="1"/>
          <p:nvPr/>
        </p:nvSpPr>
        <p:spPr>
          <a:xfrm>
            <a:off x="786384" y="5687568"/>
            <a:ext cx="3081528" cy="338328"/>
          </a:xfrm>
          <a:prstGeom prst="rect">
            <a:avLst/>
          </a:prstGeom>
          <a:noFill/>
          <a:ln/>
        </p:spPr>
        <p:txBody>
          <a:bodyPr wrap="square" lIns="0" tIns="0" rIns="0" bIns="0" rtlCol="0" anchor="t"/>
          <a:lstStyle/>
          <a:p>
            <a:pPr indent="0" marL="0">
              <a:lnSpc>
                <a:spcPts val="1250"/>
              </a:lnSpc>
              <a:buNone/>
            </a:pPr>
            <a:r>
              <a:rPr lang="en-US" sz="1000" dirty="0">
                <a:solidFill>
                  <a:srgbClr val="6B6252"/>
                </a:solidFill>
                <a:latin typeface="Calibri" pitchFamily="34" charset="0"/>
                <a:ea typeface="Calibri" pitchFamily="34" charset="-122"/>
                <a:cs typeface="Calibri" pitchFamily="34" charset="-120"/>
              </a:rPr>
              <a:t>The 0–2 infant SKU — the IMS Act, a heavier FSSAI track, and a marketing plan we could not run.</a:t>
            </a:r>
            <a:endParaRPr lang="en-US" sz="1000" dirty="0"/>
          </a:p>
        </p:txBody>
      </p:sp>
      <p:sp>
        <p:nvSpPr>
          <p:cNvPr id="16" name="Shape 14"/>
          <p:cNvSpPr/>
          <p:nvPr/>
        </p:nvSpPr>
        <p:spPr>
          <a:xfrm>
            <a:off x="4315968" y="5212080"/>
            <a:ext cx="3557016" cy="1033272"/>
          </a:xfrm>
          <a:prstGeom prst="roundRect">
            <a:avLst>
              <a:gd name="adj" fmla="val 7965"/>
            </a:avLst>
          </a:prstGeom>
          <a:solidFill>
            <a:srgbClr val="FFFFFF"/>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17" name="Text 15"/>
          <p:cNvSpPr txBox="1"/>
          <p:nvPr/>
        </p:nvSpPr>
        <p:spPr>
          <a:xfrm>
            <a:off x="4553712" y="5394960"/>
            <a:ext cx="3081528" cy="237744"/>
          </a:xfrm>
          <a:prstGeom prst="rect">
            <a:avLst/>
          </a:prstGeom>
          <a:noFill/>
          <a:ln/>
        </p:spPr>
        <p:txBody>
          <a:bodyPr wrap="square" lIns="0" tIns="0" rIns="0" bIns="0" rtlCol="0" anchor="t"/>
          <a:lstStyle/>
          <a:p>
            <a:pPr indent="0" marL="0">
              <a:buNone/>
            </a:pPr>
            <a:r>
              <a:rPr lang="en-US" sz="1150" b="1" dirty="0">
                <a:solidFill>
                  <a:srgbClr val="2B2318"/>
                </a:solidFill>
                <a:latin typeface="Calibri" pitchFamily="34" charset="0"/>
                <a:ea typeface="Calibri" pitchFamily="34" charset="-122"/>
                <a:cs typeface="Calibri" pitchFamily="34" charset="-120"/>
              </a:rPr>
              <a:t>What we gained</a:t>
            </a:r>
            <a:endParaRPr lang="en-US" sz="1150" dirty="0"/>
          </a:p>
        </p:txBody>
      </p:sp>
      <p:sp>
        <p:nvSpPr>
          <p:cNvPr id="18" name="Text 16"/>
          <p:cNvSpPr txBox="1"/>
          <p:nvPr/>
        </p:nvSpPr>
        <p:spPr>
          <a:xfrm>
            <a:off x="4553712" y="5687568"/>
            <a:ext cx="3081528" cy="338328"/>
          </a:xfrm>
          <a:prstGeom prst="rect">
            <a:avLst/>
          </a:prstGeom>
          <a:noFill/>
          <a:ln/>
        </p:spPr>
        <p:txBody>
          <a:bodyPr wrap="square" lIns="0" tIns="0" rIns="0" bIns="0" rtlCol="0" anchor="t"/>
          <a:lstStyle/>
          <a:p>
            <a:pPr indent="0" marL="0">
              <a:lnSpc>
                <a:spcPts val="1250"/>
              </a:lnSpc>
              <a:buNone/>
            </a:pPr>
            <a:r>
              <a:rPr lang="en-US" sz="1000" dirty="0">
                <a:solidFill>
                  <a:srgbClr val="6B6252"/>
                </a:solidFill>
                <a:latin typeface="Calibri" pitchFamily="34" charset="0"/>
                <a:ea typeface="Calibri" pitchFamily="34" charset="-122"/>
                <a:cs typeface="Calibri" pitchFamily="34" charset="-120"/>
              </a:rPr>
              <a:t>A mascot, a collectible, in-school activation and teacher engagement. None of it legal at 0–2.</a:t>
            </a:r>
            <a:endParaRPr lang="en-US" sz="1000" dirty="0"/>
          </a:p>
        </p:txBody>
      </p:sp>
      <p:sp>
        <p:nvSpPr>
          <p:cNvPr id="19" name="Shape 17"/>
          <p:cNvSpPr/>
          <p:nvPr/>
        </p:nvSpPr>
        <p:spPr>
          <a:xfrm>
            <a:off x="8083296" y="5212080"/>
            <a:ext cx="3557016" cy="1033272"/>
          </a:xfrm>
          <a:prstGeom prst="roundRect">
            <a:avLst>
              <a:gd name="adj" fmla="val 7965"/>
            </a:avLst>
          </a:prstGeom>
          <a:solidFill>
            <a:srgbClr val="FFFFFF"/>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20" name="Text 18"/>
          <p:cNvSpPr txBox="1"/>
          <p:nvPr/>
        </p:nvSpPr>
        <p:spPr>
          <a:xfrm>
            <a:off x="8321040" y="5394960"/>
            <a:ext cx="3081528" cy="237744"/>
          </a:xfrm>
          <a:prstGeom prst="rect">
            <a:avLst/>
          </a:prstGeom>
          <a:noFill/>
          <a:ln/>
        </p:spPr>
        <p:txBody>
          <a:bodyPr wrap="square" lIns="0" tIns="0" rIns="0" bIns="0" rtlCol="0" anchor="t"/>
          <a:lstStyle/>
          <a:p>
            <a:pPr indent="0" marL="0">
              <a:buNone/>
            </a:pPr>
            <a:r>
              <a:rPr lang="en-US" sz="1150" b="1" dirty="0">
                <a:solidFill>
                  <a:srgbClr val="2B2318"/>
                </a:solidFill>
                <a:latin typeface="Calibri" pitchFamily="34" charset="0"/>
                <a:ea typeface="Calibri" pitchFamily="34" charset="-122"/>
                <a:cs typeface="Calibri" pitchFamily="34" charset="-120"/>
              </a:rPr>
              <a:t>What it costs us</a:t>
            </a:r>
            <a:endParaRPr lang="en-US" sz="1150" dirty="0"/>
          </a:p>
        </p:txBody>
      </p:sp>
      <p:sp>
        <p:nvSpPr>
          <p:cNvPr id="21" name="Text 19"/>
          <p:cNvSpPr txBox="1"/>
          <p:nvPr/>
        </p:nvSpPr>
        <p:spPr>
          <a:xfrm>
            <a:off x="8321040" y="5687568"/>
            <a:ext cx="3081528" cy="338328"/>
          </a:xfrm>
          <a:prstGeom prst="rect">
            <a:avLst/>
          </a:prstGeom>
          <a:noFill/>
          <a:ln/>
        </p:spPr>
        <p:txBody>
          <a:bodyPr wrap="square" lIns="0" tIns="0" rIns="0" bIns="0" rtlCol="0" anchor="t"/>
          <a:lstStyle/>
          <a:p>
            <a:pPr indent="0" marL="0">
              <a:lnSpc>
                <a:spcPts val="1250"/>
              </a:lnSpc>
              <a:buNone/>
            </a:pPr>
            <a:r>
              <a:rPr lang="en-US" sz="1000" dirty="0">
                <a:solidFill>
                  <a:srgbClr val="6B6252"/>
                </a:solidFill>
                <a:latin typeface="Calibri" pitchFamily="34" charset="0"/>
                <a:ea typeface="Calibri" pitchFamily="34" charset="-122"/>
                <a:cs typeface="Calibri" pitchFamily="34" charset="-120"/>
              </a:rPr>
              <a:t>The maternity channel and the new-mother kit. We think that trade is clearly worth it.</a:t>
            </a:r>
            <a:endParaRPr lang="en-US" sz="1000" dirty="0"/>
          </a:p>
        </p:txBody>
      </p:sp>
      <p:sp>
        <p:nvSpPr>
          <p:cNvPr id="22" name="Text 20"/>
          <p:cNvSpPr txBox="1"/>
          <p:nvPr/>
        </p:nvSpPr>
        <p:spPr>
          <a:xfrm>
            <a:off x="548640" y="6419088"/>
            <a:ext cx="4572000" cy="256032"/>
          </a:xfrm>
          <a:prstGeom prst="rect">
            <a:avLst/>
          </a:prstGeom>
          <a:noFill/>
          <a:ln/>
        </p:spPr>
        <p:txBody>
          <a:bodyPr wrap="square" lIns="0" tIns="0" rIns="0" bIns="0" rtlCol="0" anchor="ctr"/>
          <a:lstStyle/>
          <a:p>
            <a:pPr indent="0" marL="0">
              <a:buNone/>
            </a:pPr>
            <a:r>
              <a:rPr lang="en-US" sz="900" dirty="0">
                <a:solidFill>
                  <a:srgbClr val="9C907A"/>
                </a:solidFill>
                <a:latin typeface="Calibri" pitchFamily="34" charset="0"/>
                <a:ea typeface="Calibri" pitchFamily="34" charset="-122"/>
                <a:cs typeface="Calibri" pitchFamily="34" charset="-120"/>
              </a:rPr>
              <a:t>PoshanSetu — F&amp;B Submission</a:t>
            </a:r>
            <a:endParaRPr lang="en-US" sz="900" dirty="0"/>
          </a:p>
        </p:txBody>
      </p:sp>
      <p:sp>
        <p:nvSpPr>
          <p:cNvPr id="23" name="Text 21"/>
          <p:cNvSpPr txBox="1"/>
          <p:nvPr/>
        </p:nvSpPr>
        <p:spPr>
          <a:xfrm>
            <a:off x="10058400" y="6419088"/>
            <a:ext cx="1581912" cy="256032"/>
          </a:xfrm>
          <a:prstGeom prst="rect">
            <a:avLst/>
          </a:prstGeom>
          <a:noFill/>
          <a:ln/>
        </p:spPr>
        <p:txBody>
          <a:bodyPr wrap="square" lIns="0" tIns="0" rIns="0" bIns="0" rtlCol="0" anchor="ctr"/>
          <a:lstStyle/>
          <a:p>
            <a:pPr algn="r" indent="0" marL="0">
              <a:buNone/>
            </a:pPr>
            <a:r>
              <a:rPr lang="en-US" sz="900" dirty="0">
                <a:solidFill>
                  <a:srgbClr val="9C907A"/>
                </a:solidFill>
                <a:latin typeface="Calibri" pitchFamily="34" charset="0"/>
                <a:ea typeface="Calibri" pitchFamily="34" charset="-122"/>
                <a:cs typeface="Calibri"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100" b="1" spc="220" kern="0" dirty="0">
                <a:solidFill>
                  <a:srgbClr val="8F6115"/>
                </a:solidFill>
                <a:latin typeface="Calibri" pitchFamily="34" charset="0"/>
                <a:ea typeface="Calibri" pitchFamily="34" charset="-122"/>
                <a:cs typeface="Calibri" pitchFamily="34" charset="-120"/>
              </a:rPr>
              <a:t>03 · THE PRODUCT</a:t>
            </a:r>
            <a:endParaRPr lang="en-US" sz="1100" dirty="0"/>
          </a:p>
        </p:txBody>
      </p:sp>
      <p:sp>
        <p:nvSpPr>
          <p:cNvPr id="3" name="Text 1"/>
          <p:cNvSpPr txBox="1"/>
          <p:nvPr/>
        </p:nvSpPr>
        <p:spPr>
          <a:xfrm>
            <a:off x="548640" y="713232"/>
            <a:ext cx="11091672" cy="868680"/>
          </a:xfrm>
          <a:prstGeom prst="rect">
            <a:avLst/>
          </a:prstGeom>
          <a:noFill/>
          <a:ln/>
        </p:spPr>
        <p:txBody>
          <a:bodyPr wrap="square" lIns="0" tIns="0" rIns="0" bIns="0" rtlCol="0" anchor="t"/>
          <a:lstStyle/>
          <a:p>
            <a:pPr indent="0" marL="0">
              <a:lnSpc>
                <a:spcPts val="3600"/>
              </a:lnSpc>
              <a:buNone/>
            </a:pPr>
            <a:r>
              <a:rPr lang="en-US" sz="3000" b="1" dirty="0">
                <a:solidFill>
                  <a:srgbClr val="2B2318"/>
                </a:solidFill>
                <a:latin typeface="Cambria" pitchFamily="34" charset="0"/>
                <a:ea typeface="Cambria" pitchFamily="34" charset="-122"/>
                <a:cs typeface="Cambria" pitchFamily="34" charset="-120"/>
              </a:rPr>
              <a:t>One 35g sachet. Mix with milk or water. Puzzle piece inside.</a:t>
            </a:r>
            <a:endParaRPr lang="en-US" sz="3000" dirty="0"/>
          </a:p>
        </p:txBody>
      </p:sp>
      <p:pic>
        <p:nvPicPr>
          <p:cNvPr id="4" name="Image 0" descr="preencoded.png">    </p:cNvPr>
          <p:cNvPicPr>
            <a:picLocks noChangeAspect="1"/>
          </p:cNvPicPr>
          <p:nvPr/>
        </p:nvPicPr>
        <p:blipFill>
          <a:blip r:embed="rId1"/>
          <a:stretch>
            <a:fillRect/>
          </a:stretch>
        </p:blipFill>
        <p:spPr>
          <a:xfrm>
            <a:off x="548640" y="1719072"/>
            <a:ext cx="3035808" cy="4041648"/>
          </a:xfrm>
          <a:prstGeom prst="rect">
            <a:avLst/>
          </a:prstGeom>
        </p:spPr>
      </p:pic>
      <p:pic>
        <p:nvPicPr>
          <p:cNvPr id="5" name="Image 1" descr="preencoded.png">    </p:cNvPr>
          <p:cNvPicPr>
            <a:picLocks noChangeAspect="1"/>
          </p:cNvPicPr>
          <p:nvPr/>
        </p:nvPicPr>
        <p:blipFill>
          <a:blip r:embed="rId2"/>
          <a:stretch>
            <a:fillRect/>
          </a:stretch>
        </p:blipFill>
        <p:spPr>
          <a:xfrm>
            <a:off x="3767328" y="1719072"/>
            <a:ext cx="3035808" cy="4041648"/>
          </a:xfrm>
          <a:prstGeom prst="rect">
            <a:avLst/>
          </a:prstGeom>
        </p:spPr>
      </p:pic>
      <p:sp>
        <p:nvSpPr>
          <p:cNvPr id="6" name="Text 2"/>
          <p:cNvSpPr txBox="1"/>
          <p:nvPr/>
        </p:nvSpPr>
        <p:spPr>
          <a:xfrm>
            <a:off x="548640" y="5815584"/>
            <a:ext cx="3035808" cy="237744"/>
          </a:xfrm>
          <a:prstGeom prst="rect">
            <a:avLst/>
          </a:prstGeom>
          <a:noFill/>
          <a:ln/>
        </p:spPr>
        <p:txBody>
          <a:bodyPr wrap="square" lIns="0" tIns="0" rIns="0" bIns="0" rtlCol="0" anchor="ctr"/>
          <a:lstStyle/>
          <a:p>
            <a:pPr algn="ctr" indent="0" marL="0">
              <a:buNone/>
            </a:pPr>
            <a:r>
              <a:rPr lang="en-US" sz="1000" b="1" spc="160" kern="0" dirty="0">
                <a:solidFill>
                  <a:srgbClr val="9C907A"/>
                </a:solidFill>
                <a:latin typeface="Calibri" pitchFamily="34" charset="0"/>
                <a:ea typeface="Calibri" pitchFamily="34" charset="-122"/>
                <a:cs typeface="Calibri" pitchFamily="34" charset="-120"/>
              </a:rPr>
              <a:t>FRONT PANEL</a:t>
            </a:r>
            <a:endParaRPr lang="en-US" sz="1000" dirty="0"/>
          </a:p>
        </p:txBody>
      </p:sp>
      <p:sp>
        <p:nvSpPr>
          <p:cNvPr id="7" name="Text 3"/>
          <p:cNvSpPr txBox="1"/>
          <p:nvPr/>
        </p:nvSpPr>
        <p:spPr>
          <a:xfrm>
            <a:off x="3767328" y="5815584"/>
            <a:ext cx="3035808" cy="237744"/>
          </a:xfrm>
          <a:prstGeom prst="rect">
            <a:avLst/>
          </a:prstGeom>
          <a:noFill/>
          <a:ln/>
        </p:spPr>
        <p:txBody>
          <a:bodyPr wrap="square" lIns="0" tIns="0" rIns="0" bIns="0" rtlCol="0" anchor="ctr"/>
          <a:lstStyle/>
          <a:p>
            <a:pPr algn="ctr" indent="0" marL="0">
              <a:buNone/>
            </a:pPr>
            <a:r>
              <a:rPr lang="en-US" sz="1000" b="1" spc="160" kern="0" dirty="0">
                <a:solidFill>
                  <a:srgbClr val="9C907A"/>
                </a:solidFill>
                <a:latin typeface="Calibri" pitchFamily="34" charset="0"/>
                <a:ea typeface="Calibri" pitchFamily="34" charset="-122"/>
                <a:cs typeface="Calibri" pitchFamily="34" charset="-120"/>
              </a:rPr>
              <a:t>BACK PANEL</a:t>
            </a:r>
            <a:endParaRPr lang="en-US" sz="1000" dirty="0"/>
          </a:p>
        </p:txBody>
      </p:sp>
      <p:sp>
        <p:nvSpPr>
          <p:cNvPr id="8" name="Shape 4"/>
          <p:cNvSpPr/>
          <p:nvPr/>
        </p:nvSpPr>
        <p:spPr>
          <a:xfrm>
            <a:off x="7059168" y="1719072"/>
            <a:ext cx="4581144" cy="4041648"/>
          </a:xfrm>
          <a:prstGeom prst="roundRect">
            <a:avLst>
              <a:gd name="adj" fmla="val 2036"/>
            </a:avLst>
          </a:prstGeom>
          <a:solidFill>
            <a:srgbClr val="FCF3E0"/>
          </a:solidFill>
          <a:ln w="12700">
            <a:solidFill>
              <a:srgbClr val="EAE1CE"/>
            </a:solidFill>
            <a:prstDash val="solid"/>
          </a:ln>
          <a:effectLst>
            <a:outerShdw sx="100000" sy="100000" kx="0" ky="0" algn="bl" rotWithShape="0" blurRad="76200" dist="12700" dir="5400000">
              <a:srgbClr val="8A7C64">
                <a:alpha val="16000"/>
              </a:srgbClr>
            </a:outerShdw>
          </a:effectLst>
        </p:spPr>
      </p:sp>
      <p:sp>
        <p:nvSpPr>
          <p:cNvPr id="9" name="Text 5"/>
          <p:cNvSpPr txBox="1"/>
          <p:nvPr/>
        </p:nvSpPr>
        <p:spPr>
          <a:xfrm>
            <a:off x="7333488" y="1920240"/>
            <a:ext cx="4032504" cy="274320"/>
          </a:xfrm>
          <a:prstGeom prst="rect">
            <a:avLst/>
          </a:prstGeom>
          <a:noFill/>
          <a:ln/>
        </p:spPr>
        <p:txBody>
          <a:bodyPr wrap="square" lIns="0" tIns="0" rIns="0" bIns="0" rtlCol="0" anchor="ctr"/>
          <a:lstStyle/>
          <a:p>
            <a:pPr indent="0" marL="0">
              <a:buNone/>
            </a:pPr>
            <a:r>
              <a:rPr lang="en-US" sz="1100" b="1" spc="180" kern="0" dirty="0">
                <a:solidFill>
                  <a:srgbClr val="8F6115"/>
                </a:solidFill>
                <a:latin typeface="Calibri" pitchFamily="34" charset="0"/>
                <a:ea typeface="Calibri" pitchFamily="34" charset="-122"/>
                <a:cs typeface="Calibri" pitchFamily="34" charset="-120"/>
              </a:rPr>
              <a:t>ON THE PACK, AND WHY</a:t>
            </a:r>
            <a:endParaRPr lang="en-US" sz="1100" dirty="0"/>
          </a:p>
        </p:txBody>
      </p:sp>
      <p:sp>
        <p:nvSpPr>
          <p:cNvPr id="10" name="Shape 6"/>
          <p:cNvSpPr/>
          <p:nvPr/>
        </p:nvSpPr>
        <p:spPr>
          <a:xfrm>
            <a:off x="7351776" y="2377440"/>
            <a:ext cx="100584" cy="100584"/>
          </a:xfrm>
          <a:prstGeom prst="ellipse">
            <a:avLst/>
          </a:prstGeom>
          <a:solidFill>
            <a:srgbClr val="7A2E1E"/>
          </a:solidFill>
          <a:ln/>
        </p:spPr>
      </p:sp>
      <p:sp>
        <p:nvSpPr>
          <p:cNvPr id="11" name="Text 7"/>
          <p:cNvSpPr txBox="1"/>
          <p:nvPr/>
        </p:nvSpPr>
        <p:spPr>
          <a:xfrm>
            <a:off x="7589520" y="2304288"/>
            <a:ext cx="3758184" cy="237744"/>
          </a:xfrm>
          <a:prstGeom prst="rect">
            <a:avLst/>
          </a:prstGeom>
          <a:noFill/>
          <a:ln/>
        </p:spPr>
        <p:txBody>
          <a:bodyPr wrap="square" lIns="0" tIns="0" rIns="0" bIns="0" rtlCol="0" anchor="t"/>
          <a:lstStyle/>
          <a:p>
            <a:pPr indent="0" marL="0">
              <a:buNone/>
            </a:pPr>
            <a:r>
              <a:rPr lang="en-US" sz="1150" b="1" dirty="0">
                <a:solidFill>
                  <a:srgbClr val="2B2318"/>
                </a:solidFill>
                <a:latin typeface="Calibri" pitchFamily="34" charset="0"/>
                <a:ea typeface="Calibri" pitchFamily="34" charset="-122"/>
                <a:cs typeface="Calibri" pitchFamily="34" charset="-120"/>
              </a:rPr>
              <a:t>Setu, the bridge mascot</a:t>
            </a:r>
            <a:endParaRPr lang="en-US" sz="1150" dirty="0"/>
          </a:p>
        </p:txBody>
      </p:sp>
      <p:sp>
        <p:nvSpPr>
          <p:cNvPr id="12" name="Text 8"/>
          <p:cNvSpPr txBox="1"/>
          <p:nvPr/>
        </p:nvSpPr>
        <p:spPr>
          <a:xfrm>
            <a:off x="7589520" y="2551176"/>
            <a:ext cx="3758184" cy="347472"/>
          </a:xfrm>
          <a:prstGeom prst="rect">
            <a:avLst/>
          </a:prstGeom>
          <a:noFill/>
          <a:ln/>
        </p:spPr>
        <p:txBody>
          <a:bodyPr wrap="square" lIns="0" tIns="0" rIns="0" bIns="0" rtlCol="0" anchor="t"/>
          <a:lstStyle/>
          <a:p>
            <a:pPr indent="0" marL="0">
              <a:lnSpc>
                <a:spcPts val="1250"/>
              </a:lnSpc>
              <a:buNone/>
            </a:pPr>
            <a:r>
              <a:rPr lang="en-US" sz="1000" dirty="0">
                <a:solidFill>
                  <a:srgbClr val="6B6252"/>
                </a:solidFill>
                <a:latin typeface="Calibri" pitchFamily="34" charset="0"/>
                <a:ea typeface="Calibri" pitchFamily="34" charset="-122"/>
                <a:cs typeface="Calibri" pitchFamily="34" charset="-120"/>
              </a:rPr>
              <a:t>A character children can name. Legal at 5–12; illegal on an infant pack.</a:t>
            </a:r>
            <a:endParaRPr lang="en-US" sz="1000" dirty="0"/>
          </a:p>
        </p:txBody>
      </p:sp>
      <p:sp>
        <p:nvSpPr>
          <p:cNvPr id="13" name="Shape 9"/>
          <p:cNvSpPr/>
          <p:nvPr/>
        </p:nvSpPr>
        <p:spPr>
          <a:xfrm>
            <a:off x="7351776" y="2926080"/>
            <a:ext cx="100584" cy="100584"/>
          </a:xfrm>
          <a:prstGeom prst="ellipse">
            <a:avLst/>
          </a:prstGeom>
          <a:solidFill>
            <a:srgbClr val="7A2E1E"/>
          </a:solidFill>
          <a:ln/>
        </p:spPr>
      </p:sp>
      <p:sp>
        <p:nvSpPr>
          <p:cNvPr id="14" name="Text 10"/>
          <p:cNvSpPr txBox="1"/>
          <p:nvPr/>
        </p:nvSpPr>
        <p:spPr>
          <a:xfrm>
            <a:off x="7589520" y="2852928"/>
            <a:ext cx="3758184" cy="237744"/>
          </a:xfrm>
          <a:prstGeom prst="rect">
            <a:avLst/>
          </a:prstGeom>
          <a:noFill/>
          <a:ln/>
        </p:spPr>
        <p:txBody>
          <a:bodyPr wrap="square" lIns="0" tIns="0" rIns="0" bIns="0" rtlCol="0" anchor="t"/>
          <a:lstStyle/>
          <a:p>
            <a:pPr indent="0" marL="0">
              <a:buNone/>
            </a:pPr>
            <a:r>
              <a:rPr lang="en-US" sz="1150" b="1" dirty="0">
                <a:solidFill>
                  <a:srgbClr val="2B2318"/>
                </a:solidFill>
                <a:latin typeface="Calibri" pitchFamily="34" charset="0"/>
                <a:ea typeface="Calibri" pitchFamily="34" charset="-122"/>
                <a:cs typeface="Calibri" pitchFamily="34" charset="-120"/>
              </a:rPr>
              <a:t>“Ages 5–12” flash</a:t>
            </a:r>
            <a:endParaRPr lang="en-US" sz="1150" dirty="0"/>
          </a:p>
        </p:txBody>
      </p:sp>
      <p:sp>
        <p:nvSpPr>
          <p:cNvPr id="15" name="Text 11"/>
          <p:cNvSpPr txBox="1"/>
          <p:nvPr/>
        </p:nvSpPr>
        <p:spPr>
          <a:xfrm>
            <a:off x="7589520" y="3099816"/>
            <a:ext cx="3758184" cy="347472"/>
          </a:xfrm>
          <a:prstGeom prst="rect">
            <a:avLst/>
          </a:prstGeom>
          <a:noFill/>
          <a:ln/>
        </p:spPr>
        <p:txBody>
          <a:bodyPr wrap="square" lIns="0" tIns="0" rIns="0" bIns="0" rtlCol="0" anchor="t"/>
          <a:lstStyle/>
          <a:p>
            <a:pPr indent="0" marL="0">
              <a:lnSpc>
                <a:spcPts val="1250"/>
              </a:lnSpc>
              <a:buNone/>
            </a:pPr>
            <a:r>
              <a:rPr lang="en-US" sz="1000" dirty="0">
                <a:solidFill>
                  <a:srgbClr val="6B6252"/>
                </a:solidFill>
                <a:latin typeface="Calibri" pitchFamily="34" charset="0"/>
                <a:ea typeface="Calibri" pitchFamily="34" charset="-122"/>
                <a:cs typeface="Calibri" pitchFamily="34" charset="-120"/>
              </a:rPr>
              <a:t>Tells a parent this is not baby food and not an adult supplement.</a:t>
            </a:r>
            <a:endParaRPr lang="en-US" sz="1000" dirty="0"/>
          </a:p>
        </p:txBody>
      </p:sp>
      <p:sp>
        <p:nvSpPr>
          <p:cNvPr id="16" name="Shape 12"/>
          <p:cNvSpPr/>
          <p:nvPr/>
        </p:nvSpPr>
        <p:spPr>
          <a:xfrm>
            <a:off x="7351776" y="3474720"/>
            <a:ext cx="100584" cy="100584"/>
          </a:xfrm>
          <a:prstGeom prst="ellipse">
            <a:avLst/>
          </a:prstGeom>
          <a:solidFill>
            <a:srgbClr val="7A2E1E"/>
          </a:solidFill>
          <a:ln/>
        </p:spPr>
      </p:sp>
      <p:sp>
        <p:nvSpPr>
          <p:cNvPr id="17" name="Text 13"/>
          <p:cNvSpPr txBox="1"/>
          <p:nvPr/>
        </p:nvSpPr>
        <p:spPr>
          <a:xfrm>
            <a:off x="7589520" y="3401568"/>
            <a:ext cx="3758184" cy="237744"/>
          </a:xfrm>
          <a:prstGeom prst="rect">
            <a:avLst/>
          </a:prstGeom>
          <a:noFill/>
          <a:ln/>
        </p:spPr>
        <p:txBody>
          <a:bodyPr wrap="square" lIns="0" tIns="0" rIns="0" bIns="0" rtlCol="0" anchor="t"/>
          <a:lstStyle/>
          <a:p>
            <a:pPr indent="0" marL="0">
              <a:buNone/>
            </a:pPr>
            <a:r>
              <a:rPr lang="en-US" sz="1150" b="1" dirty="0">
                <a:solidFill>
                  <a:srgbClr val="2B2318"/>
                </a:solidFill>
                <a:latin typeface="Calibri" pitchFamily="34" charset="0"/>
                <a:ea typeface="Calibri" pitchFamily="34" charset="-122"/>
                <a:cs typeface="Calibri" pitchFamily="34" charset="-120"/>
              </a:rPr>
              <a:t>Puzzle piece inside</a:t>
            </a:r>
            <a:endParaRPr lang="en-US" sz="1150" dirty="0"/>
          </a:p>
        </p:txBody>
      </p:sp>
      <p:sp>
        <p:nvSpPr>
          <p:cNvPr id="18" name="Text 14"/>
          <p:cNvSpPr txBox="1"/>
          <p:nvPr/>
        </p:nvSpPr>
        <p:spPr>
          <a:xfrm>
            <a:off x="7589520" y="3648456"/>
            <a:ext cx="3758184" cy="347472"/>
          </a:xfrm>
          <a:prstGeom prst="rect">
            <a:avLst/>
          </a:prstGeom>
          <a:noFill/>
          <a:ln/>
        </p:spPr>
        <p:txBody>
          <a:bodyPr wrap="square" lIns="0" tIns="0" rIns="0" bIns="0" rtlCol="0" anchor="t"/>
          <a:lstStyle/>
          <a:p>
            <a:pPr indent="0" marL="0">
              <a:lnSpc>
                <a:spcPts val="1250"/>
              </a:lnSpc>
              <a:buNone/>
            </a:pPr>
            <a:r>
              <a:rPr lang="en-US" sz="1000" dirty="0">
                <a:solidFill>
                  <a:srgbClr val="6B6252"/>
                </a:solidFill>
                <a:latin typeface="Calibri" pitchFamily="34" charset="0"/>
                <a:ea typeface="Calibri" pitchFamily="34" charset="-122"/>
                <a:cs typeface="Calibri" pitchFamily="34" charset="-120"/>
              </a:rPr>
              <a:t>Six pieces build a bridge. The collectible drives the repeat purchase.</a:t>
            </a:r>
            <a:endParaRPr lang="en-US" sz="1000" dirty="0"/>
          </a:p>
        </p:txBody>
      </p:sp>
      <p:sp>
        <p:nvSpPr>
          <p:cNvPr id="19" name="Shape 15"/>
          <p:cNvSpPr/>
          <p:nvPr/>
        </p:nvSpPr>
        <p:spPr>
          <a:xfrm>
            <a:off x="7351776" y="4023360"/>
            <a:ext cx="100584" cy="100584"/>
          </a:xfrm>
          <a:prstGeom prst="ellipse">
            <a:avLst/>
          </a:prstGeom>
          <a:solidFill>
            <a:srgbClr val="7A2E1E"/>
          </a:solidFill>
          <a:ln/>
        </p:spPr>
      </p:sp>
      <p:sp>
        <p:nvSpPr>
          <p:cNvPr id="20" name="Text 16"/>
          <p:cNvSpPr txBox="1"/>
          <p:nvPr/>
        </p:nvSpPr>
        <p:spPr>
          <a:xfrm>
            <a:off x="7589520" y="3950208"/>
            <a:ext cx="3758184" cy="237744"/>
          </a:xfrm>
          <a:prstGeom prst="rect">
            <a:avLst/>
          </a:prstGeom>
          <a:noFill/>
          <a:ln/>
        </p:spPr>
        <p:txBody>
          <a:bodyPr wrap="square" lIns="0" tIns="0" rIns="0" bIns="0" rtlCol="0" anchor="t"/>
          <a:lstStyle/>
          <a:p>
            <a:pPr indent="0" marL="0">
              <a:buNone/>
            </a:pPr>
            <a:r>
              <a:rPr lang="en-US" sz="1150" b="1" dirty="0">
                <a:solidFill>
                  <a:srgbClr val="2B2318"/>
                </a:solidFill>
                <a:latin typeface="Calibri" pitchFamily="34" charset="0"/>
                <a:ea typeface="Calibri" pitchFamily="34" charset="-122"/>
                <a:cs typeface="Calibri" pitchFamily="34" charset="-120"/>
              </a:rPr>
              <a:t>Full nutrition panel</a:t>
            </a:r>
            <a:endParaRPr lang="en-US" sz="1150" dirty="0"/>
          </a:p>
        </p:txBody>
      </p:sp>
      <p:sp>
        <p:nvSpPr>
          <p:cNvPr id="21" name="Text 17"/>
          <p:cNvSpPr txBox="1"/>
          <p:nvPr/>
        </p:nvSpPr>
        <p:spPr>
          <a:xfrm>
            <a:off x="7589520" y="4197096"/>
            <a:ext cx="3758184" cy="347472"/>
          </a:xfrm>
          <a:prstGeom prst="rect">
            <a:avLst/>
          </a:prstGeom>
          <a:noFill/>
          <a:ln/>
        </p:spPr>
        <p:txBody>
          <a:bodyPr wrap="square" lIns="0" tIns="0" rIns="0" bIns="0" rtlCol="0" anchor="t"/>
          <a:lstStyle/>
          <a:p>
            <a:pPr indent="0" marL="0">
              <a:lnSpc>
                <a:spcPts val="1250"/>
              </a:lnSpc>
              <a:buNone/>
            </a:pPr>
            <a:r>
              <a:rPr lang="en-US" sz="1000" dirty="0">
                <a:solidFill>
                  <a:srgbClr val="6B6252"/>
                </a:solidFill>
                <a:latin typeface="Calibri" pitchFamily="34" charset="0"/>
                <a:ea typeface="Calibri" pitchFamily="34" charset="-122"/>
                <a:cs typeface="Calibri" pitchFamily="34" charset="-120"/>
              </a:rPr>
              <a:t>Per 100g, per 35g serve, and % RDA for a 7–9 year old (ICMR-NIN 2020).</a:t>
            </a:r>
            <a:endParaRPr lang="en-US" sz="1000" dirty="0"/>
          </a:p>
        </p:txBody>
      </p:sp>
      <p:sp>
        <p:nvSpPr>
          <p:cNvPr id="22" name="Shape 18"/>
          <p:cNvSpPr/>
          <p:nvPr/>
        </p:nvSpPr>
        <p:spPr>
          <a:xfrm>
            <a:off x="7351776" y="4572000"/>
            <a:ext cx="100584" cy="100584"/>
          </a:xfrm>
          <a:prstGeom prst="ellipse">
            <a:avLst/>
          </a:prstGeom>
          <a:solidFill>
            <a:srgbClr val="7A2E1E"/>
          </a:solidFill>
          <a:ln/>
        </p:spPr>
      </p:sp>
      <p:sp>
        <p:nvSpPr>
          <p:cNvPr id="23" name="Text 19"/>
          <p:cNvSpPr txBox="1"/>
          <p:nvPr/>
        </p:nvSpPr>
        <p:spPr>
          <a:xfrm>
            <a:off x="7589520" y="4498848"/>
            <a:ext cx="3758184" cy="237744"/>
          </a:xfrm>
          <a:prstGeom prst="rect">
            <a:avLst/>
          </a:prstGeom>
          <a:noFill/>
          <a:ln/>
        </p:spPr>
        <p:txBody>
          <a:bodyPr wrap="square" lIns="0" tIns="0" rIns="0" bIns="0" rtlCol="0" anchor="t"/>
          <a:lstStyle/>
          <a:p>
            <a:pPr indent="0" marL="0">
              <a:buNone/>
            </a:pPr>
            <a:r>
              <a:rPr lang="en-US" sz="1150" b="1" dirty="0">
                <a:solidFill>
                  <a:srgbClr val="2B2318"/>
                </a:solidFill>
                <a:latin typeface="Calibri" pitchFamily="34" charset="0"/>
                <a:ea typeface="Calibri" pitchFamily="34" charset="-122"/>
                <a:cs typeface="Calibri" pitchFamily="34" charset="-120"/>
              </a:rPr>
              <a:t>Added sugar 4g per serve</a:t>
            </a:r>
            <a:endParaRPr lang="en-US" sz="1150" dirty="0"/>
          </a:p>
        </p:txBody>
      </p:sp>
      <p:sp>
        <p:nvSpPr>
          <p:cNvPr id="24" name="Text 20"/>
          <p:cNvSpPr txBox="1"/>
          <p:nvPr/>
        </p:nvSpPr>
        <p:spPr>
          <a:xfrm>
            <a:off x="7589520" y="4745736"/>
            <a:ext cx="3758184" cy="347472"/>
          </a:xfrm>
          <a:prstGeom prst="rect">
            <a:avLst/>
          </a:prstGeom>
          <a:noFill/>
          <a:ln/>
        </p:spPr>
        <p:txBody>
          <a:bodyPr wrap="square" lIns="0" tIns="0" rIns="0" bIns="0" rtlCol="0" anchor="t"/>
          <a:lstStyle/>
          <a:p>
            <a:pPr indent="0" marL="0">
              <a:lnSpc>
                <a:spcPts val="1250"/>
              </a:lnSpc>
              <a:buNone/>
            </a:pPr>
            <a:r>
              <a:rPr lang="en-US" sz="1000" dirty="0">
                <a:solidFill>
                  <a:srgbClr val="6B6252"/>
                </a:solidFill>
                <a:latin typeface="Calibri" pitchFamily="34" charset="0"/>
                <a:ea typeface="Calibri" pitchFamily="34" charset="-122"/>
                <a:cs typeface="Calibri" pitchFamily="34" charset="-120"/>
              </a:rPr>
              <a:t>Deliberately low — it is what keeps us outside the HFSS definition.</a:t>
            </a:r>
            <a:endParaRPr lang="en-US" sz="1000" dirty="0"/>
          </a:p>
        </p:txBody>
      </p:sp>
      <p:sp>
        <p:nvSpPr>
          <p:cNvPr id="25" name="Shape 21"/>
          <p:cNvSpPr/>
          <p:nvPr/>
        </p:nvSpPr>
        <p:spPr>
          <a:xfrm>
            <a:off x="7351776" y="5120640"/>
            <a:ext cx="100584" cy="100584"/>
          </a:xfrm>
          <a:prstGeom prst="ellipse">
            <a:avLst/>
          </a:prstGeom>
          <a:solidFill>
            <a:srgbClr val="7A2E1E"/>
          </a:solidFill>
          <a:ln/>
        </p:spPr>
      </p:sp>
      <p:sp>
        <p:nvSpPr>
          <p:cNvPr id="26" name="Text 22"/>
          <p:cNvSpPr txBox="1"/>
          <p:nvPr/>
        </p:nvSpPr>
        <p:spPr>
          <a:xfrm>
            <a:off x="7589520" y="5047488"/>
            <a:ext cx="3758184" cy="237744"/>
          </a:xfrm>
          <a:prstGeom prst="rect">
            <a:avLst/>
          </a:prstGeom>
          <a:noFill/>
          <a:ln/>
        </p:spPr>
        <p:txBody>
          <a:bodyPr wrap="square" lIns="0" tIns="0" rIns="0" bIns="0" rtlCol="0" anchor="t"/>
          <a:lstStyle/>
          <a:p>
            <a:pPr indent="0" marL="0">
              <a:buNone/>
            </a:pPr>
            <a:r>
              <a:rPr lang="en-US" sz="1150" b="1" dirty="0">
                <a:solidFill>
                  <a:srgbClr val="2B2318"/>
                </a:solidFill>
                <a:latin typeface="Calibri" pitchFamily="34" charset="0"/>
                <a:ea typeface="Calibri" pitchFamily="34" charset="-122"/>
                <a:cs typeface="Calibri" pitchFamily="34" charset="-120"/>
              </a:rPr>
              <a:t>Green dot and +F mark</a:t>
            </a:r>
            <a:endParaRPr lang="en-US" sz="1150" dirty="0"/>
          </a:p>
        </p:txBody>
      </p:sp>
      <p:sp>
        <p:nvSpPr>
          <p:cNvPr id="27" name="Text 23"/>
          <p:cNvSpPr txBox="1"/>
          <p:nvPr/>
        </p:nvSpPr>
        <p:spPr>
          <a:xfrm>
            <a:off x="7589520" y="5294376"/>
            <a:ext cx="3758184" cy="347472"/>
          </a:xfrm>
          <a:prstGeom prst="rect">
            <a:avLst/>
          </a:prstGeom>
          <a:noFill/>
          <a:ln/>
        </p:spPr>
        <p:txBody>
          <a:bodyPr wrap="square" lIns="0" tIns="0" rIns="0" bIns="0" rtlCol="0" anchor="t"/>
          <a:lstStyle/>
          <a:p>
            <a:pPr indent="0" marL="0">
              <a:lnSpc>
                <a:spcPts val="1250"/>
              </a:lnSpc>
              <a:buNone/>
            </a:pPr>
            <a:r>
              <a:rPr lang="en-US" sz="1000" dirty="0">
                <a:solidFill>
                  <a:srgbClr val="6B6252"/>
                </a:solidFill>
                <a:latin typeface="Calibri" pitchFamily="34" charset="0"/>
                <a:ea typeface="Calibri" pitchFamily="34" charset="-122"/>
                <a:cs typeface="Calibri" pitchFamily="34" charset="-120"/>
              </a:rPr>
              <a:t>Vegetarian and fortification marks. Indicative artwork, final to FSSAI spec.</a:t>
            </a:r>
            <a:endParaRPr lang="en-US" sz="1000" dirty="0"/>
          </a:p>
        </p:txBody>
      </p:sp>
      <p:sp>
        <p:nvSpPr>
          <p:cNvPr id="28" name="Text 24"/>
          <p:cNvSpPr txBox="1"/>
          <p:nvPr/>
        </p:nvSpPr>
        <p:spPr>
          <a:xfrm>
            <a:off x="548640" y="6419088"/>
            <a:ext cx="4572000" cy="256032"/>
          </a:xfrm>
          <a:prstGeom prst="rect">
            <a:avLst/>
          </a:prstGeom>
          <a:noFill/>
          <a:ln/>
        </p:spPr>
        <p:txBody>
          <a:bodyPr wrap="square" lIns="0" tIns="0" rIns="0" bIns="0" rtlCol="0" anchor="ctr"/>
          <a:lstStyle/>
          <a:p>
            <a:pPr indent="0" marL="0">
              <a:buNone/>
            </a:pPr>
            <a:r>
              <a:rPr lang="en-US" sz="900" dirty="0">
                <a:solidFill>
                  <a:srgbClr val="9C907A"/>
                </a:solidFill>
                <a:latin typeface="Calibri" pitchFamily="34" charset="0"/>
                <a:ea typeface="Calibri" pitchFamily="34" charset="-122"/>
                <a:cs typeface="Calibri" pitchFamily="34" charset="-120"/>
              </a:rPr>
              <a:t>PoshanSetu — F&amp;B Submission</a:t>
            </a:r>
            <a:endParaRPr lang="en-US" sz="900" dirty="0"/>
          </a:p>
        </p:txBody>
      </p:sp>
      <p:sp>
        <p:nvSpPr>
          <p:cNvPr id="29" name="Text 25"/>
          <p:cNvSpPr txBox="1"/>
          <p:nvPr/>
        </p:nvSpPr>
        <p:spPr>
          <a:xfrm>
            <a:off x="10058400" y="6419088"/>
            <a:ext cx="1581912" cy="256032"/>
          </a:xfrm>
          <a:prstGeom prst="rect">
            <a:avLst/>
          </a:prstGeom>
          <a:noFill/>
          <a:ln/>
        </p:spPr>
        <p:txBody>
          <a:bodyPr wrap="square" lIns="0" tIns="0" rIns="0" bIns="0" rtlCol="0" anchor="ctr"/>
          <a:lstStyle/>
          <a:p>
            <a:pPr algn="r" indent="0" marL="0">
              <a:buNone/>
            </a:pPr>
            <a:r>
              <a:rPr lang="en-US" sz="900" dirty="0">
                <a:solidFill>
                  <a:srgbClr val="9C907A"/>
                </a:solidFill>
                <a:latin typeface="Calibri" pitchFamily="34" charset="0"/>
                <a:ea typeface="Calibri" pitchFamily="34" charset="-122"/>
                <a:cs typeface="Calibri"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100" b="1" spc="220" kern="0" dirty="0">
                <a:solidFill>
                  <a:srgbClr val="3F5B3E"/>
                </a:solidFill>
                <a:latin typeface="Calibri" pitchFamily="34" charset="0"/>
                <a:ea typeface="Calibri" pitchFamily="34" charset="-122"/>
                <a:cs typeface="Calibri" pitchFamily="34" charset="-120"/>
              </a:rPr>
              <a:t>04 · FORMULATION</a:t>
            </a:r>
            <a:endParaRPr lang="en-US" sz="1100" dirty="0"/>
          </a:p>
        </p:txBody>
      </p:sp>
      <p:sp>
        <p:nvSpPr>
          <p:cNvPr id="3" name="Text 1"/>
          <p:cNvSpPr txBox="1"/>
          <p:nvPr/>
        </p:nvSpPr>
        <p:spPr>
          <a:xfrm>
            <a:off x="548640" y="713232"/>
            <a:ext cx="11091672" cy="868680"/>
          </a:xfrm>
          <a:prstGeom prst="rect">
            <a:avLst/>
          </a:prstGeom>
          <a:noFill/>
          <a:ln/>
        </p:spPr>
        <p:txBody>
          <a:bodyPr wrap="square" lIns="0" tIns="0" rIns="0" bIns="0" rtlCol="0" anchor="t"/>
          <a:lstStyle/>
          <a:p>
            <a:pPr indent="0" marL="0">
              <a:lnSpc>
                <a:spcPts val="3600"/>
              </a:lnSpc>
              <a:buNone/>
            </a:pPr>
            <a:r>
              <a:rPr lang="en-US" sz="3000" b="1" dirty="0">
                <a:solidFill>
                  <a:srgbClr val="2B2318"/>
                </a:solidFill>
                <a:latin typeface="Cambria" pitchFamily="34" charset="0"/>
                <a:ea typeface="Cambria" pitchFamily="34" charset="-122"/>
                <a:cs typeface="Cambria" pitchFamily="34" charset="-120"/>
              </a:rPr>
              <a:t>What is in it, and how each part actually raises nutrition at 5–12.</a:t>
            </a:r>
            <a:endParaRPr lang="en-US" sz="3000" dirty="0"/>
          </a:p>
        </p:txBody>
      </p:sp>
      <p:sp>
        <p:nvSpPr>
          <p:cNvPr id="4" name="Text 2"/>
          <p:cNvSpPr txBox="1"/>
          <p:nvPr/>
        </p:nvSpPr>
        <p:spPr>
          <a:xfrm>
            <a:off x="548640" y="1737360"/>
            <a:ext cx="2121408" cy="237744"/>
          </a:xfrm>
          <a:prstGeom prst="rect">
            <a:avLst/>
          </a:prstGeom>
          <a:noFill/>
          <a:ln/>
        </p:spPr>
        <p:txBody>
          <a:bodyPr wrap="square" lIns="0" tIns="0" rIns="0" bIns="0" rtlCol="0" anchor="ctr"/>
          <a:lstStyle/>
          <a:p>
            <a:pPr indent="0" marL="0">
              <a:buNone/>
            </a:pPr>
            <a:r>
              <a:rPr lang="en-US" sz="950" b="1" spc="140" kern="0" dirty="0">
                <a:solidFill>
                  <a:srgbClr val="9C907A"/>
                </a:solidFill>
                <a:latin typeface="Calibri" pitchFamily="34" charset="0"/>
                <a:ea typeface="Calibri" pitchFamily="34" charset="-122"/>
                <a:cs typeface="Calibri" pitchFamily="34" charset="-120"/>
              </a:rPr>
              <a:t>THE GAP AT 5–12</a:t>
            </a:r>
            <a:endParaRPr lang="en-US" sz="950" dirty="0"/>
          </a:p>
        </p:txBody>
      </p:sp>
      <p:sp>
        <p:nvSpPr>
          <p:cNvPr id="5" name="Text 3"/>
          <p:cNvSpPr txBox="1"/>
          <p:nvPr/>
        </p:nvSpPr>
        <p:spPr>
          <a:xfrm>
            <a:off x="2761488" y="1737360"/>
            <a:ext cx="3319272" cy="237744"/>
          </a:xfrm>
          <a:prstGeom prst="rect">
            <a:avLst/>
          </a:prstGeom>
          <a:noFill/>
          <a:ln/>
        </p:spPr>
        <p:txBody>
          <a:bodyPr wrap="square" lIns="0" tIns="0" rIns="0" bIns="0" rtlCol="0" anchor="ctr"/>
          <a:lstStyle/>
          <a:p>
            <a:pPr indent="0" marL="0">
              <a:buNone/>
            </a:pPr>
            <a:r>
              <a:rPr lang="en-US" sz="950" b="1" spc="140" kern="0" dirty="0">
                <a:solidFill>
                  <a:srgbClr val="9C907A"/>
                </a:solidFill>
                <a:latin typeface="Calibri" pitchFamily="34" charset="0"/>
                <a:ea typeface="Calibri" pitchFamily="34" charset="-122"/>
                <a:cs typeface="Calibri" pitchFamily="34" charset="-120"/>
              </a:rPr>
              <a:t>WHAT WE PUT IN</a:t>
            </a:r>
            <a:endParaRPr lang="en-US" sz="950" dirty="0"/>
          </a:p>
        </p:txBody>
      </p:sp>
      <p:sp>
        <p:nvSpPr>
          <p:cNvPr id="6" name="Text 4"/>
          <p:cNvSpPr txBox="1"/>
          <p:nvPr/>
        </p:nvSpPr>
        <p:spPr>
          <a:xfrm>
            <a:off x="6172200" y="1737360"/>
            <a:ext cx="5468112" cy="237744"/>
          </a:xfrm>
          <a:prstGeom prst="rect">
            <a:avLst/>
          </a:prstGeom>
          <a:noFill/>
          <a:ln/>
        </p:spPr>
        <p:txBody>
          <a:bodyPr wrap="square" lIns="0" tIns="0" rIns="0" bIns="0" rtlCol="0" anchor="ctr"/>
          <a:lstStyle/>
          <a:p>
            <a:pPr indent="0" marL="0">
              <a:buNone/>
            </a:pPr>
            <a:r>
              <a:rPr lang="en-US" sz="950" b="1" spc="140" kern="0" dirty="0">
                <a:solidFill>
                  <a:srgbClr val="9C907A"/>
                </a:solidFill>
                <a:latin typeface="Calibri" pitchFamily="34" charset="0"/>
                <a:ea typeface="Calibri" pitchFamily="34" charset="-122"/>
                <a:cs typeface="Calibri" pitchFamily="34" charset="-120"/>
              </a:rPr>
              <a:t>HOW IT WORKS</a:t>
            </a:r>
            <a:endParaRPr lang="en-US" sz="950" dirty="0"/>
          </a:p>
        </p:txBody>
      </p:sp>
      <p:sp>
        <p:nvSpPr>
          <p:cNvPr id="7" name="Shape 5"/>
          <p:cNvSpPr/>
          <p:nvPr/>
        </p:nvSpPr>
        <p:spPr>
          <a:xfrm>
            <a:off x="548640" y="1993392"/>
            <a:ext cx="11091672" cy="530352"/>
          </a:xfrm>
          <a:prstGeom prst="roundRect">
            <a:avLst>
              <a:gd name="adj" fmla="val 15517"/>
            </a:avLst>
          </a:prstGeom>
          <a:solidFill>
            <a:srgbClr val="EEF3EC"/>
          </a:solidFill>
          <a:ln w="12700">
            <a:solidFill>
              <a:srgbClr val="CFE0CC"/>
            </a:solidFill>
            <a:prstDash val="solid"/>
          </a:ln>
          <a:effectLst>
            <a:outerShdw sx="100000" sy="100000" kx="0" ky="0" algn="bl" rotWithShape="0" blurRad="76200" dist="12700" dir="5400000">
              <a:srgbClr val="8A7C64">
                <a:alpha val="16000"/>
              </a:srgbClr>
            </a:outerShdw>
          </a:effectLst>
        </p:spPr>
      </p:sp>
      <p:sp>
        <p:nvSpPr>
          <p:cNvPr id="8" name="Text 6"/>
          <p:cNvSpPr txBox="1"/>
          <p:nvPr/>
        </p:nvSpPr>
        <p:spPr>
          <a:xfrm>
            <a:off x="768096" y="2048256"/>
            <a:ext cx="1847088" cy="420624"/>
          </a:xfrm>
          <a:prstGeom prst="rect">
            <a:avLst/>
          </a:prstGeom>
          <a:noFill/>
          <a:ln/>
        </p:spPr>
        <p:txBody>
          <a:bodyPr wrap="square" lIns="0" tIns="0" rIns="0" bIns="0" rtlCol="0" anchor="ctr"/>
          <a:lstStyle/>
          <a:p>
            <a:pPr indent="0" marL="0">
              <a:buNone/>
            </a:pPr>
            <a:r>
              <a:rPr lang="en-US" sz="1100" b="1" dirty="0">
                <a:solidFill>
                  <a:srgbClr val="3F5B3E"/>
                </a:solidFill>
                <a:latin typeface="Calibri" pitchFamily="34" charset="0"/>
                <a:ea typeface="Calibri" pitchFamily="34" charset="-122"/>
                <a:cs typeface="Calibri" pitchFamily="34" charset="-120"/>
              </a:rPr>
              <a:t>Iron / anaemia</a:t>
            </a:r>
            <a:endParaRPr lang="en-US" sz="1100" dirty="0"/>
          </a:p>
        </p:txBody>
      </p:sp>
      <p:sp>
        <p:nvSpPr>
          <p:cNvPr id="9" name="Text 7"/>
          <p:cNvSpPr txBox="1"/>
          <p:nvPr/>
        </p:nvSpPr>
        <p:spPr>
          <a:xfrm>
            <a:off x="2761488" y="2039112"/>
            <a:ext cx="3136392" cy="438912"/>
          </a:xfrm>
          <a:prstGeom prst="rect">
            <a:avLst/>
          </a:prstGeom>
          <a:noFill/>
          <a:ln/>
        </p:spPr>
        <p:txBody>
          <a:bodyPr wrap="square" lIns="0" tIns="0" rIns="0" bIns="0" rtlCol="0" anchor="ctr"/>
          <a:lstStyle/>
          <a:p>
            <a:pPr indent="0" marL="0">
              <a:lnSpc>
                <a:spcPts val="1250"/>
              </a:lnSpc>
              <a:buNone/>
            </a:pPr>
            <a:r>
              <a:rPr lang="en-US" sz="1000" dirty="0">
                <a:solidFill>
                  <a:srgbClr val="2B2318"/>
                </a:solidFill>
                <a:latin typeface="Calibri" pitchFamily="34" charset="0"/>
                <a:ea typeface="Calibri" pitchFamily="34" charset="-122"/>
                <a:cs typeface="Calibri" pitchFamily="34" charset="-120"/>
              </a:rPr>
              <a:t>Roasted bajra, premix iron, amla (vitamin C)</a:t>
            </a:r>
            <a:endParaRPr lang="en-US" sz="1000" dirty="0"/>
          </a:p>
        </p:txBody>
      </p:sp>
      <p:sp>
        <p:nvSpPr>
          <p:cNvPr id="10" name="Text 8"/>
          <p:cNvSpPr txBox="1"/>
          <p:nvPr/>
        </p:nvSpPr>
        <p:spPr>
          <a:xfrm>
            <a:off x="6172200" y="2039112"/>
            <a:ext cx="5468112" cy="438912"/>
          </a:xfrm>
          <a:prstGeom prst="rect">
            <a:avLst/>
          </a:prstGeom>
          <a:noFill/>
          <a:ln/>
        </p:spPr>
        <p:txBody>
          <a:bodyPr wrap="square" lIns="0" tIns="0" rIns="0" bIns="0" rtlCol="0" anchor="ctr"/>
          <a:lstStyle/>
          <a:p>
            <a:pPr indent="0" marL="0">
              <a:lnSpc>
                <a:spcPts val="1250"/>
              </a:lnSpc>
              <a:buNone/>
            </a:pPr>
            <a:r>
              <a:rPr lang="en-US" sz="1000" dirty="0">
                <a:solidFill>
                  <a:srgbClr val="6B6252"/>
                </a:solidFill>
                <a:latin typeface="Calibri" pitchFamily="34" charset="0"/>
                <a:ea typeface="Calibri" pitchFamily="34" charset="-122"/>
                <a:cs typeface="Calibri" pitchFamily="34" charset="-120"/>
              </a:rPr>
              <a:t>Roasting cuts the phytate that blocks iron in a millet base, and 25mg of vitamin C in the same serve lifts non-haem absorption. Adding iron is easy; absorbing it is the constraint.</a:t>
            </a:r>
            <a:endParaRPr lang="en-US" sz="1000" dirty="0"/>
          </a:p>
        </p:txBody>
      </p:sp>
      <p:sp>
        <p:nvSpPr>
          <p:cNvPr id="11" name="Shape 9"/>
          <p:cNvSpPr/>
          <p:nvPr/>
        </p:nvSpPr>
        <p:spPr>
          <a:xfrm>
            <a:off x="548640" y="2578608"/>
            <a:ext cx="11091672" cy="530352"/>
          </a:xfrm>
          <a:prstGeom prst="roundRect">
            <a:avLst>
              <a:gd name="adj" fmla="val 15517"/>
            </a:avLst>
          </a:prstGeom>
          <a:solidFill>
            <a:srgbClr val="FFFFFF"/>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12" name="Text 10"/>
          <p:cNvSpPr txBox="1"/>
          <p:nvPr/>
        </p:nvSpPr>
        <p:spPr>
          <a:xfrm>
            <a:off x="768096" y="2633472"/>
            <a:ext cx="1847088" cy="420624"/>
          </a:xfrm>
          <a:prstGeom prst="rect">
            <a:avLst/>
          </a:prstGeom>
          <a:noFill/>
          <a:ln/>
        </p:spPr>
        <p:txBody>
          <a:bodyPr wrap="square" lIns="0" tIns="0" rIns="0" bIns="0" rtlCol="0" anchor="ctr"/>
          <a:lstStyle/>
          <a:p>
            <a:pPr indent="0" marL="0">
              <a:buNone/>
            </a:pPr>
            <a:r>
              <a:rPr lang="en-US" sz="1100" b="1" dirty="0">
                <a:solidFill>
                  <a:srgbClr val="3F5B3E"/>
                </a:solidFill>
                <a:latin typeface="Calibri" pitchFamily="34" charset="0"/>
                <a:ea typeface="Calibri" pitchFamily="34" charset="-122"/>
                <a:cs typeface="Calibri" pitchFamily="34" charset="-120"/>
              </a:rPr>
              <a:t>Protein quality</a:t>
            </a:r>
            <a:endParaRPr lang="en-US" sz="1100" dirty="0"/>
          </a:p>
        </p:txBody>
      </p:sp>
      <p:sp>
        <p:nvSpPr>
          <p:cNvPr id="13" name="Text 11"/>
          <p:cNvSpPr txBox="1"/>
          <p:nvPr/>
        </p:nvSpPr>
        <p:spPr>
          <a:xfrm>
            <a:off x="2761488" y="2624328"/>
            <a:ext cx="3136392" cy="438912"/>
          </a:xfrm>
          <a:prstGeom prst="rect">
            <a:avLst/>
          </a:prstGeom>
          <a:noFill/>
          <a:ln/>
        </p:spPr>
        <p:txBody>
          <a:bodyPr wrap="square" lIns="0" tIns="0" rIns="0" bIns="0" rtlCol="0" anchor="ctr"/>
          <a:lstStyle/>
          <a:p>
            <a:pPr indent="0" marL="0">
              <a:lnSpc>
                <a:spcPts val="1250"/>
              </a:lnSpc>
              <a:buNone/>
            </a:pPr>
            <a:r>
              <a:rPr lang="en-US" sz="1000" dirty="0">
                <a:solidFill>
                  <a:srgbClr val="2B2318"/>
                </a:solidFill>
                <a:latin typeface="Calibri" pitchFamily="34" charset="0"/>
                <a:ea typeface="Calibri" pitchFamily="34" charset="-122"/>
                <a:cs typeface="Calibri" pitchFamily="34" charset="-120"/>
              </a:rPr>
              <a:t>Ragi and bajra + bengal gram + milk solids</a:t>
            </a:r>
            <a:endParaRPr lang="en-US" sz="1000" dirty="0"/>
          </a:p>
        </p:txBody>
      </p:sp>
      <p:sp>
        <p:nvSpPr>
          <p:cNvPr id="14" name="Text 12"/>
          <p:cNvSpPr txBox="1"/>
          <p:nvPr/>
        </p:nvSpPr>
        <p:spPr>
          <a:xfrm>
            <a:off x="6172200" y="2624328"/>
            <a:ext cx="5468112" cy="438912"/>
          </a:xfrm>
          <a:prstGeom prst="rect">
            <a:avLst/>
          </a:prstGeom>
          <a:noFill/>
          <a:ln/>
        </p:spPr>
        <p:txBody>
          <a:bodyPr wrap="square" lIns="0" tIns="0" rIns="0" bIns="0" rtlCol="0" anchor="ctr"/>
          <a:lstStyle/>
          <a:p>
            <a:pPr indent="0" marL="0">
              <a:lnSpc>
                <a:spcPts val="1250"/>
              </a:lnSpc>
              <a:buNone/>
            </a:pPr>
            <a:r>
              <a:rPr lang="en-US" sz="1000" dirty="0">
                <a:solidFill>
                  <a:srgbClr val="6B6252"/>
                </a:solidFill>
                <a:latin typeface="Calibri" pitchFamily="34" charset="0"/>
                <a:ea typeface="Calibri" pitchFamily="34" charset="-122"/>
                <a:cs typeface="Calibri" pitchFamily="34" charset="-120"/>
              </a:rPr>
              <a:t>Millets are low in lysine; gram and milk solids supply it. At roughly 3:1 cereal to pulse the amino acid profile approaches complete — what linear growth needs where 22% are still stunted.</a:t>
            </a:r>
            <a:endParaRPr lang="en-US" sz="1000" dirty="0"/>
          </a:p>
        </p:txBody>
      </p:sp>
      <p:sp>
        <p:nvSpPr>
          <p:cNvPr id="15" name="Shape 13"/>
          <p:cNvSpPr/>
          <p:nvPr/>
        </p:nvSpPr>
        <p:spPr>
          <a:xfrm>
            <a:off x="548640" y="3163824"/>
            <a:ext cx="11091672" cy="530352"/>
          </a:xfrm>
          <a:prstGeom prst="roundRect">
            <a:avLst>
              <a:gd name="adj" fmla="val 15517"/>
            </a:avLst>
          </a:prstGeom>
          <a:solidFill>
            <a:srgbClr val="EEF3EC"/>
          </a:solidFill>
          <a:ln w="12700">
            <a:solidFill>
              <a:srgbClr val="CFE0CC"/>
            </a:solidFill>
            <a:prstDash val="solid"/>
          </a:ln>
          <a:effectLst>
            <a:outerShdw sx="100000" sy="100000" kx="0" ky="0" algn="bl" rotWithShape="0" blurRad="76200" dist="12700" dir="5400000">
              <a:srgbClr val="8A7C64">
                <a:alpha val="16000"/>
              </a:srgbClr>
            </a:outerShdw>
          </a:effectLst>
        </p:spPr>
      </p:sp>
      <p:sp>
        <p:nvSpPr>
          <p:cNvPr id="16" name="Text 14"/>
          <p:cNvSpPr txBox="1"/>
          <p:nvPr/>
        </p:nvSpPr>
        <p:spPr>
          <a:xfrm>
            <a:off x="768096" y="3218688"/>
            <a:ext cx="1847088" cy="420624"/>
          </a:xfrm>
          <a:prstGeom prst="rect">
            <a:avLst/>
          </a:prstGeom>
          <a:noFill/>
          <a:ln/>
        </p:spPr>
        <p:txBody>
          <a:bodyPr wrap="square" lIns="0" tIns="0" rIns="0" bIns="0" rtlCol="0" anchor="ctr"/>
          <a:lstStyle/>
          <a:p>
            <a:pPr indent="0" marL="0">
              <a:buNone/>
            </a:pPr>
            <a:r>
              <a:rPr lang="en-US" sz="1100" b="1" dirty="0">
                <a:solidFill>
                  <a:srgbClr val="3F5B3E"/>
                </a:solidFill>
                <a:latin typeface="Calibri" pitchFamily="34" charset="0"/>
                <a:ea typeface="Calibri" pitchFamily="34" charset="-122"/>
                <a:cs typeface="Calibri" pitchFamily="34" charset="-120"/>
              </a:rPr>
              <a:t>Calcium + vitamin D</a:t>
            </a:r>
            <a:endParaRPr lang="en-US" sz="1100" dirty="0"/>
          </a:p>
        </p:txBody>
      </p:sp>
      <p:sp>
        <p:nvSpPr>
          <p:cNvPr id="17" name="Text 15"/>
          <p:cNvSpPr txBox="1"/>
          <p:nvPr/>
        </p:nvSpPr>
        <p:spPr>
          <a:xfrm>
            <a:off x="2761488" y="3209544"/>
            <a:ext cx="3136392" cy="438912"/>
          </a:xfrm>
          <a:prstGeom prst="rect">
            <a:avLst/>
          </a:prstGeom>
          <a:noFill/>
          <a:ln/>
        </p:spPr>
        <p:txBody>
          <a:bodyPr wrap="square" lIns="0" tIns="0" rIns="0" bIns="0" rtlCol="0" anchor="ctr"/>
          <a:lstStyle/>
          <a:p>
            <a:pPr indent="0" marL="0">
              <a:lnSpc>
                <a:spcPts val="1250"/>
              </a:lnSpc>
              <a:buNone/>
            </a:pPr>
            <a:r>
              <a:rPr lang="en-US" sz="1000" dirty="0">
                <a:solidFill>
                  <a:srgbClr val="2B2318"/>
                </a:solidFill>
                <a:latin typeface="Calibri" pitchFamily="34" charset="0"/>
                <a:ea typeface="Calibri" pitchFamily="34" charset="-122"/>
                <a:cs typeface="Calibri" pitchFamily="34" charset="-120"/>
              </a:rPr>
              <a:t>Sprouted ragi, vitamin D3 from premix</a:t>
            </a:r>
            <a:endParaRPr lang="en-US" sz="1000" dirty="0"/>
          </a:p>
        </p:txBody>
      </p:sp>
      <p:sp>
        <p:nvSpPr>
          <p:cNvPr id="18" name="Text 16"/>
          <p:cNvSpPr txBox="1"/>
          <p:nvPr/>
        </p:nvSpPr>
        <p:spPr>
          <a:xfrm>
            <a:off x="6172200" y="3209544"/>
            <a:ext cx="5468112" cy="438912"/>
          </a:xfrm>
          <a:prstGeom prst="rect">
            <a:avLst/>
          </a:prstGeom>
          <a:noFill/>
          <a:ln/>
        </p:spPr>
        <p:txBody>
          <a:bodyPr wrap="square" lIns="0" tIns="0" rIns="0" bIns="0" rtlCol="0" anchor="ctr"/>
          <a:lstStyle/>
          <a:p>
            <a:pPr indent="0" marL="0">
              <a:lnSpc>
                <a:spcPts val="1250"/>
              </a:lnSpc>
              <a:buNone/>
            </a:pPr>
            <a:r>
              <a:rPr lang="en-US" sz="1000" dirty="0">
                <a:solidFill>
                  <a:srgbClr val="6B6252"/>
                </a:solidFill>
                <a:latin typeface="Calibri" pitchFamily="34" charset="0"/>
                <a:ea typeface="Calibri" pitchFamily="34" charset="-122"/>
                <a:cs typeface="Calibri" pitchFamily="34" charset="-120"/>
              </a:rPr>
              <a:t>Ragi is among the most calcium-dense cereals grown in India, and sprouting cuts the phytate that locks it up. Pre-pubertal bone accrual peaks in exactly this window.</a:t>
            </a:r>
            <a:endParaRPr lang="en-US" sz="1000" dirty="0"/>
          </a:p>
        </p:txBody>
      </p:sp>
      <p:sp>
        <p:nvSpPr>
          <p:cNvPr id="19" name="Shape 17"/>
          <p:cNvSpPr/>
          <p:nvPr/>
        </p:nvSpPr>
        <p:spPr>
          <a:xfrm>
            <a:off x="548640" y="3749040"/>
            <a:ext cx="11091672" cy="530352"/>
          </a:xfrm>
          <a:prstGeom prst="roundRect">
            <a:avLst>
              <a:gd name="adj" fmla="val 15517"/>
            </a:avLst>
          </a:prstGeom>
          <a:solidFill>
            <a:srgbClr val="FFFFFF"/>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20" name="Text 18"/>
          <p:cNvSpPr txBox="1"/>
          <p:nvPr/>
        </p:nvSpPr>
        <p:spPr>
          <a:xfrm>
            <a:off x="768096" y="3803904"/>
            <a:ext cx="1847088" cy="420624"/>
          </a:xfrm>
          <a:prstGeom prst="rect">
            <a:avLst/>
          </a:prstGeom>
          <a:noFill/>
          <a:ln/>
        </p:spPr>
        <p:txBody>
          <a:bodyPr wrap="square" lIns="0" tIns="0" rIns="0" bIns="0" rtlCol="0" anchor="ctr"/>
          <a:lstStyle/>
          <a:p>
            <a:pPr indent="0" marL="0">
              <a:buNone/>
            </a:pPr>
            <a:r>
              <a:rPr lang="en-US" sz="1100" b="1" dirty="0">
                <a:solidFill>
                  <a:srgbClr val="3F5B3E"/>
                </a:solidFill>
                <a:latin typeface="Calibri" pitchFamily="34" charset="0"/>
                <a:ea typeface="Calibri" pitchFamily="34" charset="-122"/>
                <a:cs typeface="Calibri" pitchFamily="34" charset="-120"/>
              </a:rPr>
              <a:t>Zinc</a:t>
            </a:r>
            <a:endParaRPr lang="en-US" sz="1100" dirty="0"/>
          </a:p>
        </p:txBody>
      </p:sp>
      <p:sp>
        <p:nvSpPr>
          <p:cNvPr id="21" name="Text 19"/>
          <p:cNvSpPr txBox="1"/>
          <p:nvPr/>
        </p:nvSpPr>
        <p:spPr>
          <a:xfrm>
            <a:off x="2761488" y="3794760"/>
            <a:ext cx="3136392" cy="438912"/>
          </a:xfrm>
          <a:prstGeom prst="rect">
            <a:avLst/>
          </a:prstGeom>
          <a:noFill/>
          <a:ln/>
        </p:spPr>
        <p:txBody>
          <a:bodyPr wrap="square" lIns="0" tIns="0" rIns="0" bIns="0" rtlCol="0" anchor="ctr"/>
          <a:lstStyle/>
          <a:p>
            <a:pPr indent="0" marL="0">
              <a:lnSpc>
                <a:spcPts val="1250"/>
              </a:lnSpc>
              <a:buNone/>
            </a:pPr>
            <a:r>
              <a:rPr lang="en-US" sz="1000" dirty="0">
                <a:solidFill>
                  <a:srgbClr val="2B2318"/>
                </a:solidFill>
                <a:latin typeface="Calibri" pitchFamily="34" charset="0"/>
                <a:ea typeface="Calibri" pitchFamily="34" charset="-122"/>
                <a:cs typeface="Calibri" pitchFamily="34" charset="-120"/>
              </a:rPr>
              <a:t>Groundnut, bengal gram, premix zinc</a:t>
            </a:r>
            <a:endParaRPr lang="en-US" sz="1000" dirty="0"/>
          </a:p>
        </p:txBody>
      </p:sp>
      <p:sp>
        <p:nvSpPr>
          <p:cNvPr id="22" name="Text 20"/>
          <p:cNvSpPr txBox="1"/>
          <p:nvPr/>
        </p:nvSpPr>
        <p:spPr>
          <a:xfrm>
            <a:off x="6172200" y="3794760"/>
            <a:ext cx="5468112" cy="438912"/>
          </a:xfrm>
          <a:prstGeom prst="rect">
            <a:avLst/>
          </a:prstGeom>
          <a:noFill/>
          <a:ln/>
        </p:spPr>
        <p:txBody>
          <a:bodyPr wrap="square" lIns="0" tIns="0" rIns="0" bIns="0" rtlCol="0" anchor="ctr"/>
          <a:lstStyle/>
          <a:p>
            <a:pPr indent="0" marL="0">
              <a:lnSpc>
                <a:spcPts val="1250"/>
              </a:lnSpc>
              <a:buNone/>
            </a:pPr>
            <a:r>
              <a:rPr lang="en-US" sz="1000" dirty="0">
                <a:solidFill>
                  <a:srgbClr val="6B6252"/>
                </a:solidFill>
                <a:latin typeface="Calibri" pitchFamily="34" charset="0"/>
                <a:ea typeface="Calibri" pitchFamily="34" charset="-122"/>
                <a:cs typeface="Calibri" pitchFamily="34" charset="-120"/>
              </a:rPr>
              <a:t>Supports growth and immune function. Fewer infections means fewer missed school days — the outcome a school actually notices.</a:t>
            </a:r>
            <a:endParaRPr lang="en-US" sz="1000" dirty="0"/>
          </a:p>
        </p:txBody>
      </p:sp>
      <p:sp>
        <p:nvSpPr>
          <p:cNvPr id="23" name="Shape 21"/>
          <p:cNvSpPr/>
          <p:nvPr/>
        </p:nvSpPr>
        <p:spPr>
          <a:xfrm>
            <a:off x="548640" y="4334256"/>
            <a:ext cx="11091672" cy="530352"/>
          </a:xfrm>
          <a:prstGeom prst="roundRect">
            <a:avLst>
              <a:gd name="adj" fmla="val 15517"/>
            </a:avLst>
          </a:prstGeom>
          <a:solidFill>
            <a:srgbClr val="EEF3EC"/>
          </a:solidFill>
          <a:ln w="12700">
            <a:solidFill>
              <a:srgbClr val="CFE0CC"/>
            </a:solidFill>
            <a:prstDash val="solid"/>
          </a:ln>
          <a:effectLst>
            <a:outerShdw sx="100000" sy="100000" kx="0" ky="0" algn="bl" rotWithShape="0" blurRad="76200" dist="12700" dir="5400000">
              <a:srgbClr val="8A7C64">
                <a:alpha val="16000"/>
              </a:srgbClr>
            </a:outerShdw>
          </a:effectLst>
        </p:spPr>
      </p:sp>
      <p:sp>
        <p:nvSpPr>
          <p:cNvPr id="24" name="Text 22"/>
          <p:cNvSpPr txBox="1"/>
          <p:nvPr/>
        </p:nvSpPr>
        <p:spPr>
          <a:xfrm>
            <a:off x="768096" y="4389120"/>
            <a:ext cx="1847088" cy="420624"/>
          </a:xfrm>
          <a:prstGeom prst="rect">
            <a:avLst/>
          </a:prstGeom>
          <a:noFill/>
          <a:ln/>
        </p:spPr>
        <p:txBody>
          <a:bodyPr wrap="square" lIns="0" tIns="0" rIns="0" bIns="0" rtlCol="0" anchor="ctr"/>
          <a:lstStyle/>
          <a:p>
            <a:pPr indent="0" marL="0">
              <a:buNone/>
            </a:pPr>
            <a:r>
              <a:rPr lang="en-US" sz="1100" b="1" dirty="0">
                <a:solidFill>
                  <a:srgbClr val="3F5B3E"/>
                </a:solidFill>
                <a:latin typeface="Calibri" pitchFamily="34" charset="0"/>
                <a:ea typeface="Calibri" pitchFamily="34" charset="-122"/>
                <a:cs typeface="Calibri" pitchFamily="34" charset="-120"/>
              </a:rPr>
              <a:t>Vitamin B12</a:t>
            </a:r>
            <a:endParaRPr lang="en-US" sz="1100" dirty="0"/>
          </a:p>
        </p:txBody>
      </p:sp>
      <p:sp>
        <p:nvSpPr>
          <p:cNvPr id="25" name="Text 23"/>
          <p:cNvSpPr txBox="1"/>
          <p:nvPr/>
        </p:nvSpPr>
        <p:spPr>
          <a:xfrm>
            <a:off x="2761488" y="4379976"/>
            <a:ext cx="3136392" cy="438912"/>
          </a:xfrm>
          <a:prstGeom prst="rect">
            <a:avLst/>
          </a:prstGeom>
          <a:noFill/>
          <a:ln/>
        </p:spPr>
        <p:txBody>
          <a:bodyPr wrap="square" lIns="0" tIns="0" rIns="0" bIns="0" rtlCol="0" anchor="ctr"/>
          <a:lstStyle/>
          <a:p>
            <a:pPr indent="0" marL="0">
              <a:lnSpc>
                <a:spcPts val="1250"/>
              </a:lnSpc>
              <a:buNone/>
            </a:pPr>
            <a:r>
              <a:rPr lang="en-US" sz="1000" dirty="0">
                <a:solidFill>
                  <a:srgbClr val="2B2318"/>
                </a:solidFill>
                <a:latin typeface="Calibri" pitchFamily="34" charset="0"/>
                <a:ea typeface="Calibri" pitchFamily="34" charset="-122"/>
                <a:cs typeface="Calibri" pitchFamily="34" charset="-120"/>
              </a:rPr>
              <a:t>Skimmed milk solids, premix B12</a:t>
            </a:r>
            <a:endParaRPr lang="en-US" sz="1000" dirty="0"/>
          </a:p>
        </p:txBody>
      </p:sp>
      <p:sp>
        <p:nvSpPr>
          <p:cNvPr id="26" name="Text 24"/>
          <p:cNvSpPr txBox="1"/>
          <p:nvPr/>
        </p:nvSpPr>
        <p:spPr>
          <a:xfrm>
            <a:off x="6172200" y="4379976"/>
            <a:ext cx="5468112" cy="438912"/>
          </a:xfrm>
          <a:prstGeom prst="rect">
            <a:avLst/>
          </a:prstGeom>
          <a:noFill/>
          <a:ln/>
        </p:spPr>
        <p:txBody>
          <a:bodyPr wrap="square" lIns="0" tIns="0" rIns="0" bIns="0" rtlCol="0" anchor="ctr"/>
          <a:lstStyle/>
          <a:p>
            <a:pPr indent="0" marL="0">
              <a:lnSpc>
                <a:spcPts val="1250"/>
              </a:lnSpc>
              <a:buNone/>
            </a:pPr>
            <a:r>
              <a:rPr lang="en-US" sz="1000" dirty="0">
                <a:solidFill>
                  <a:srgbClr val="6B6252"/>
                </a:solidFill>
                <a:latin typeface="Calibri" pitchFamily="34" charset="0"/>
                <a:ea typeface="Calibri" pitchFamily="34" charset="-122"/>
                <a:cs typeface="Calibri" pitchFamily="34" charset="-120"/>
              </a:rPr>
              <a:t>Tier 3/4 diets are largely vegetarian and B12 comes almost entirely from animal foods. Deficiency here shows up in attention and cognition, not in height.</a:t>
            </a:r>
            <a:endParaRPr lang="en-US" sz="1000" dirty="0"/>
          </a:p>
        </p:txBody>
      </p:sp>
      <p:sp>
        <p:nvSpPr>
          <p:cNvPr id="27" name="Shape 25"/>
          <p:cNvSpPr/>
          <p:nvPr/>
        </p:nvSpPr>
        <p:spPr>
          <a:xfrm>
            <a:off x="548640" y="4919472"/>
            <a:ext cx="11091672" cy="530352"/>
          </a:xfrm>
          <a:prstGeom prst="roundRect">
            <a:avLst>
              <a:gd name="adj" fmla="val 15517"/>
            </a:avLst>
          </a:prstGeom>
          <a:solidFill>
            <a:srgbClr val="FFFFFF"/>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28" name="Text 26"/>
          <p:cNvSpPr txBox="1"/>
          <p:nvPr/>
        </p:nvSpPr>
        <p:spPr>
          <a:xfrm>
            <a:off x="768096" y="4974336"/>
            <a:ext cx="1847088" cy="420624"/>
          </a:xfrm>
          <a:prstGeom prst="rect">
            <a:avLst/>
          </a:prstGeom>
          <a:noFill/>
          <a:ln/>
        </p:spPr>
        <p:txBody>
          <a:bodyPr wrap="square" lIns="0" tIns="0" rIns="0" bIns="0" rtlCol="0" anchor="ctr"/>
          <a:lstStyle/>
          <a:p>
            <a:pPr indent="0" marL="0">
              <a:buNone/>
            </a:pPr>
            <a:r>
              <a:rPr lang="en-US" sz="1100" b="1" dirty="0">
                <a:solidFill>
                  <a:srgbClr val="3F5B3E"/>
                </a:solidFill>
                <a:latin typeface="Calibri" pitchFamily="34" charset="0"/>
                <a:ea typeface="Calibri" pitchFamily="34" charset="-122"/>
                <a:cs typeface="Calibri" pitchFamily="34" charset="-120"/>
              </a:rPr>
              <a:t>Energy density</a:t>
            </a:r>
            <a:endParaRPr lang="en-US" sz="1100" dirty="0"/>
          </a:p>
        </p:txBody>
      </p:sp>
      <p:sp>
        <p:nvSpPr>
          <p:cNvPr id="29" name="Text 27"/>
          <p:cNvSpPr txBox="1"/>
          <p:nvPr/>
        </p:nvSpPr>
        <p:spPr>
          <a:xfrm>
            <a:off x="2761488" y="4965192"/>
            <a:ext cx="3136392" cy="438912"/>
          </a:xfrm>
          <a:prstGeom prst="rect">
            <a:avLst/>
          </a:prstGeom>
          <a:noFill/>
          <a:ln/>
        </p:spPr>
        <p:txBody>
          <a:bodyPr wrap="square" lIns="0" tIns="0" rIns="0" bIns="0" rtlCol="0" anchor="ctr"/>
          <a:lstStyle/>
          <a:p>
            <a:pPr indent="0" marL="0">
              <a:lnSpc>
                <a:spcPts val="1250"/>
              </a:lnSpc>
              <a:buNone/>
            </a:pPr>
            <a:r>
              <a:rPr lang="en-US" sz="1000" dirty="0">
                <a:solidFill>
                  <a:srgbClr val="2B2318"/>
                </a:solidFill>
                <a:latin typeface="Calibri" pitchFamily="34" charset="0"/>
                <a:ea typeface="Calibri" pitchFamily="34" charset="-122"/>
                <a:cs typeface="Calibri" pitchFamily="34" charset="-120"/>
              </a:rPr>
              <a:t>Groundnut paste, groundnut oil</a:t>
            </a:r>
            <a:endParaRPr lang="en-US" sz="1000" dirty="0"/>
          </a:p>
        </p:txBody>
      </p:sp>
      <p:sp>
        <p:nvSpPr>
          <p:cNvPr id="30" name="Text 28"/>
          <p:cNvSpPr txBox="1"/>
          <p:nvPr/>
        </p:nvSpPr>
        <p:spPr>
          <a:xfrm>
            <a:off x="6172200" y="4965192"/>
            <a:ext cx="5468112" cy="438912"/>
          </a:xfrm>
          <a:prstGeom prst="rect">
            <a:avLst/>
          </a:prstGeom>
          <a:noFill/>
          <a:ln/>
        </p:spPr>
        <p:txBody>
          <a:bodyPr wrap="square" lIns="0" tIns="0" rIns="0" bIns="0" rtlCol="0" anchor="ctr"/>
          <a:lstStyle/>
          <a:p>
            <a:pPr indent="0" marL="0">
              <a:lnSpc>
                <a:spcPts val="1250"/>
              </a:lnSpc>
              <a:buNone/>
            </a:pPr>
            <a:r>
              <a:rPr lang="en-US" sz="1000" dirty="0">
                <a:solidFill>
                  <a:srgbClr val="6B6252"/>
                </a:solidFill>
                <a:latin typeface="Calibri" pitchFamily="34" charset="0"/>
                <a:ea typeface="Calibri" pitchFamily="34" charset="-122"/>
                <a:cs typeface="Calibri" pitchFamily="34" charset="-120"/>
              </a:rPr>
              <a:t>150 kcal in 35g. A child who drinks it fast and runs off still gets the calories; a thin porridge fills the stomach without feeding it.</a:t>
            </a:r>
            <a:endParaRPr lang="en-US" sz="1000" dirty="0"/>
          </a:p>
        </p:txBody>
      </p:sp>
      <p:sp>
        <p:nvSpPr>
          <p:cNvPr id="31" name="Shape 29"/>
          <p:cNvSpPr/>
          <p:nvPr/>
        </p:nvSpPr>
        <p:spPr>
          <a:xfrm>
            <a:off x="548640" y="5541264"/>
            <a:ext cx="11091672" cy="713232"/>
          </a:xfrm>
          <a:prstGeom prst="roundRect">
            <a:avLst>
              <a:gd name="adj" fmla="val 11538"/>
            </a:avLst>
          </a:prstGeom>
          <a:solidFill>
            <a:srgbClr val="FCF3E0"/>
          </a:solidFill>
          <a:ln w="12700">
            <a:solidFill>
              <a:srgbClr val="EAE1CE"/>
            </a:solidFill>
            <a:prstDash val="solid"/>
          </a:ln>
          <a:effectLst>
            <a:outerShdw sx="100000" sy="100000" kx="0" ky="0" algn="bl" rotWithShape="0" blurRad="76200" dist="12700" dir="5400000">
              <a:srgbClr val="8A7C64">
                <a:alpha val="16000"/>
              </a:srgbClr>
            </a:outerShdw>
          </a:effectLst>
        </p:spPr>
      </p:sp>
      <p:sp>
        <p:nvSpPr>
          <p:cNvPr id="32" name="Text 30"/>
          <p:cNvSpPr txBox="1"/>
          <p:nvPr/>
        </p:nvSpPr>
        <p:spPr>
          <a:xfrm>
            <a:off x="841248" y="5660136"/>
            <a:ext cx="3566160" cy="274320"/>
          </a:xfrm>
          <a:prstGeom prst="rect">
            <a:avLst/>
          </a:prstGeom>
          <a:noFill/>
          <a:ln/>
        </p:spPr>
        <p:txBody>
          <a:bodyPr wrap="square" lIns="0" tIns="0" rIns="0" bIns="0" rtlCol="0" anchor="t"/>
          <a:lstStyle/>
          <a:p>
            <a:pPr indent="0" marL="0">
              <a:buNone/>
            </a:pPr>
            <a:r>
              <a:rPr lang="en-US" sz="1200" b="1" dirty="0">
                <a:solidFill>
                  <a:srgbClr val="8F6115"/>
                </a:solidFill>
                <a:latin typeface="Calibri" pitchFamily="34" charset="0"/>
                <a:ea typeface="Calibri" pitchFamily="34" charset="-122"/>
                <a:cs typeface="Calibri" pitchFamily="34" charset="-120"/>
              </a:rPr>
              <a:t>The differentiator is processing, not fortification.</a:t>
            </a:r>
            <a:endParaRPr lang="en-US" sz="1200" dirty="0"/>
          </a:p>
        </p:txBody>
      </p:sp>
      <p:sp>
        <p:nvSpPr>
          <p:cNvPr id="33" name="Text 31"/>
          <p:cNvSpPr txBox="1"/>
          <p:nvPr/>
        </p:nvSpPr>
        <p:spPr>
          <a:xfrm>
            <a:off x="4526280" y="5641848"/>
            <a:ext cx="6839712" cy="457200"/>
          </a:xfrm>
          <a:prstGeom prst="rect">
            <a:avLst/>
          </a:prstGeom>
          <a:noFill/>
          <a:ln/>
        </p:spPr>
        <p:txBody>
          <a:bodyPr wrap="square" lIns="0" tIns="0" rIns="0" bIns="0" rtlCol="0" anchor="t"/>
          <a:lstStyle/>
          <a:p>
            <a:pPr indent="0" marL="0">
              <a:lnSpc>
                <a:spcPts val="1350"/>
              </a:lnSpc>
              <a:buNone/>
            </a:pPr>
            <a:r>
              <a:rPr lang="en-US" sz="1050" dirty="0">
                <a:solidFill>
                  <a:srgbClr val="6B6252"/>
                </a:solidFill>
                <a:latin typeface="Calibri" pitchFamily="34" charset="0"/>
                <a:ea typeface="Calibri" pitchFamily="34" charset="-122"/>
                <a:cs typeface="Calibri" pitchFamily="34" charset="-120"/>
              </a:rPr>
              <a:t>Sprouting, roasting and co-delivering vitamin C are what turn “fortified” into “absorbed”. None of it appears on a competitor's label. These are design rationales — the 90-day pilot is what converts mechanism into evidence.</a:t>
            </a:r>
            <a:endParaRPr lang="en-US" sz="1050" dirty="0"/>
          </a:p>
        </p:txBody>
      </p:sp>
      <p:sp>
        <p:nvSpPr>
          <p:cNvPr id="34" name="Text 32"/>
          <p:cNvSpPr txBox="1"/>
          <p:nvPr/>
        </p:nvSpPr>
        <p:spPr>
          <a:xfrm>
            <a:off x="548640" y="6419088"/>
            <a:ext cx="4572000" cy="256032"/>
          </a:xfrm>
          <a:prstGeom prst="rect">
            <a:avLst/>
          </a:prstGeom>
          <a:noFill/>
          <a:ln/>
        </p:spPr>
        <p:txBody>
          <a:bodyPr wrap="square" lIns="0" tIns="0" rIns="0" bIns="0" rtlCol="0" anchor="ctr"/>
          <a:lstStyle/>
          <a:p>
            <a:pPr indent="0" marL="0">
              <a:buNone/>
            </a:pPr>
            <a:r>
              <a:rPr lang="en-US" sz="900" dirty="0">
                <a:solidFill>
                  <a:srgbClr val="9C907A"/>
                </a:solidFill>
                <a:latin typeface="Calibri" pitchFamily="34" charset="0"/>
                <a:ea typeface="Calibri" pitchFamily="34" charset="-122"/>
                <a:cs typeface="Calibri" pitchFamily="34" charset="-120"/>
              </a:rPr>
              <a:t>PoshanSetu — F&amp;B Submission</a:t>
            </a:r>
            <a:endParaRPr lang="en-US" sz="900" dirty="0"/>
          </a:p>
        </p:txBody>
      </p:sp>
      <p:sp>
        <p:nvSpPr>
          <p:cNvPr id="35" name="Text 33"/>
          <p:cNvSpPr txBox="1"/>
          <p:nvPr/>
        </p:nvSpPr>
        <p:spPr>
          <a:xfrm>
            <a:off x="10058400" y="6419088"/>
            <a:ext cx="1581912" cy="256032"/>
          </a:xfrm>
          <a:prstGeom prst="rect">
            <a:avLst/>
          </a:prstGeom>
          <a:noFill/>
          <a:ln/>
        </p:spPr>
        <p:txBody>
          <a:bodyPr wrap="square" lIns="0" tIns="0" rIns="0" bIns="0" rtlCol="0" anchor="ctr"/>
          <a:lstStyle/>
          <a:p>
            <a:pPr algn="r" indent="0" marL="0">
              <a:buNone/>
            </a:pPr>
            <a:r>
              <a:rPr lang="en-US" sz="900" dirty="0">
                <a:solidFill>
                  <a:srgbClr val="9C907A"/>
                </a:solidFill>
                <a:latin typeface="Calibri" pitchFamily="34" charset="0"/>
                <a:ea typeface="Calibri" pitchFamily="34" charset="-122"/>
                <a:cs typeface="Calibri" pitchFamily="34" charset="-120"/>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100" b="1" spc="220" kern="0" dirty="0">
                <a:solidFill>
                  <a:srgbClr val="6B3452"/>
                </a:solidFill>
                <a:latin typeface="Calibri" pitchFamily="34" charset="0"/>
                <a:ea typeface="Calibri" pitchFamily="34" charset="-122"/>
                <a:cs typeface="Calibri" pitchFamily="34" charset="-120"/>
              </a:rPr>
              <a:t>05 · WHY CHILDREN WILL TAKE IT</a:t>
            </a:r>
            <a:endParaRPr lang="en-US" sz="1100" dirty="0"/>
          </a:p>
        </p:txBody>
      </p:sp>
      <p:sp>
        <p:nvSpPr>
          <p:cNvPr id="3" name="Text 1"/>
          <p:cNvSpPr txBox="1"/>
          <p:nvPr/>
        </p:nvSpPr>
        <p:spPr>
          <a:xfrm>
            <a:off x="548640" y="713232"/>
            <a:ext cx="11091672" cy="868680"/>
          </a:xfrm>
          <a:prstGeom prst="rect">
            <a:avLst/>
          </a:prstGeom>
          <a:noFill/>
          <a:ln/>
        </p:spPr>
        <p:txBody>
          <a:bodyPr wrap="square" lIns="0" tIns="0" rIns="0" bIns="0" rtlCol="0" anchor="t"/>
          <a:lstStyle/>
          <a:p>
            <a:pPr indent="0" marL="0">
              <a:lnSpc>
                <a:spcPts val="3600"/>
              </a:lnSpc>
              <a:buNone/>
            </a:pPr>
            <a:r>
              <a:rPr lang="en-US" sz="3000" b="1" dirty="0">
                <a:solidFill>
                  <a:srgbClr val="2B2318"/>
                </a:solidFill>
                <a:latin typeface="Cambria" pitchFamily="34" charset="0"/>
                <a:ea typeface="Cambria" pitchFamily="34" charset="-122"/>
                <a:cs typeface="Cambria" pitchFamily="34" charset="-120"/>
              </a:rPr>
              <a:t>The tablet fails on compliance. We designed for compliance first.</a:t>
            </a:r>
            <a:endParaRPr lang="en-US" sz="3000" dirty="0"/>
          </a:p>
        </p:txBody>
      </p:sp>
      <p:sp>
        <p:nvSpPr>
          <p:cNvPr id="4" name="Shape 2"/>
          <p:cNvSpPr/>
          <p:nvPr/>
        </p:nvSpPr>
        <p:spPr>
          <a:xfrm>
            <a:off x="548640" y="1755648"/>
            <a:ext cx="5349240" cy="2148840"/>
          </a:xfrm>
          <a:prstGeom prst="roundRect">
            <a:avLst>
              <a:gd name="adj" fmla="val 3830"/>
            </a:avLst>
          </a:prstGeom>
          <a:solidFill>
            <a:srgbClr val="F6EAF0"/>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5" name="Text 3"/>
          <p:cNvSpPr txBox="1"/>
          <p:nvPr/>
        </p:nvSpPr>
        <p:spPr>
          <a:xfrm>
            <a:off x="822960" y="1938528"/>
            <a:ext cx="4800600" cy="256032"/>
          </a:xfrm>
          <a:prstGeom prst="rect">
            <a:avLst/>
          </a:prstGeom>
          <a:noFill/>
          <a:ln/>
        </p:spPr>
        <p:txBody>
          <a:bodyPr wrap="square" lIns="0" tIns="0" rIns="0" bIns="0" rtlCol="0" anchor="ctr"/>
          <a:lstStyle/>
          <a:p>
            <a:pPr indent="0" marL="0">
              <a:buNone/>
            </a:pPr>
            <a:r>
              <a:rPr lang="en-US" sz="1050" b="1" spc="180" kern="0" dirty="0">
                <a:solidFill>
                  <a:srgbClr val="6B3452"/>
                </a:solidFill>
                <a:latin typeface="Calibri" pitchFamily="34" charset="0"/>
                <a:ea typeface="Calibri" pitchFamily="34" charset="-122"/>
                <a:cs typeface="Calibri" pitchFamily="34" charset="-120"/>
              </a:rPr>
              <a:t>THE MODEL WE BORROWED</a:t>
            </a:r>
            <a:endParaRPr lang="en-US" sz="1050" dirty="0"/>
          </a:p>
        </p:txBody>
      </p:sp>
      <p:sp>
        <p:nvSpPr>
          <p:cNvPr id="6" name="Text 4"/>
          <p:cNvSpPr txBox="1"/>
          <p:nvPr/>
        </p:nvSpPr>
        <p:spPr>
          <a:xfrm>
            <a:off x="822960" y="2249424"/>
            <a:ext cx="4800600" cy="1463040"/>
          </a:xfrm>
          <a:prstGeom prst="rect">
            <a:avLst/>
          </a:prstGeom>
          <a:noFill/>
          <a:ln/>
        </p:spPr>
        <p:txBody>
          <a:bodyPr wrap="square" lIns="0" tIns="0" rIns="0" bIns="0" rtlCol="0" anchor="t"/>
          <a:lstStyle/>
          <a:p>
            <a:pPr indent="0" marL="0">
              <a:lnSpc>
                <a:spcPts val="1450"/>
              </a:lnSpc>
              <a:buNone/>
            </a:pPr>
            <a:r>
              <a:rPr lang="en-US" sz="1100" dirty="0">
                <a:solidFill>
                  <a:srgbClr val="2B2318"/>
                </a:solidFill>
                <a:latin typeface="Calibri" pitchFamily="34" charset="0"/>
                <a:ea typeface="Calibri" pitchFamily="34" charset="-122"/>
                <a:cs typeface="Calibri" pitchFamily="34" charset="-120"/>
              </a:rPr>
              <a:t>Confectionery brands that pair a small toy or collectible with a food have known for decades that the non-food component drives the repeat purchase. The child asks; the parent pays. We have taken the mechanic and pointed it at a fortified product instead of a sugar one.</a:t>
            </a:r>
            <a:endParaRPr lang="en-US" sz="1100" dirty="0"/>
          </a:p>
          <a:p>
            <a:pPr indent="0" marL="0">
              <a:lnSpc>
                <a:spcPts val="1450"/>
              </a:lnSpc>
              <a:buNone/>
            </a:pPr>
            <a:endParaRPr lang="en-US" sz="1100" dirty="0"/>
          </a:p>
          <a:p>
            <a:pPr indent="0" marL="0">
              <a:lnSpc>
                <a:spcPts val="1450"/>
              </a:lnSpc>
              <a:buNone/>
            </a:pPr>
            <a:r>
              <a:rPr lang="en-US" sz="1100" dirty="0">
                <a:solidFill>
                  <a:srgbClr val="2B2318"/>
                </a:solidFill>
                <a:latin typeface="Calibri" pitchFamily="34" charset="0"/>
                <a:ea typeface="Calibri" pitchFamily="34" charset="-122"/>
                <a:cs typeface="Calibri" pitchFamily="34" charset="-120"/>
              </a:rPr>
              <a:t>Six numbered puzzle pieces, one per pack, assemble into Setu's bridge. A completed bridge is shown to a teacher or anganwadi worker to claim a small prize. Each pack also carries a code, so a school can log completion by class.</a:t>
            </a:r>
            <a:endParaRPr lang="en-US" sz="1100" dirty="0"/>
          </a:p>
        </p:txBody>
      </p:sp>
      <p:sp>
        <p:nvSpPr>
          <p:cNvPr id="7" name="Shape 5"/>
          <p:cNvSpPr/>
          <p:nvPr/>
        </p:nvSpPr>
        <p:spPr>
          <a:xfrm>
            <a:off x="6144768" y="1755648"/>
            <a:ext cx="5495544" cy="2148840"/>
          </a:xfrm>
          <a:prstGeom prst="roundRect">
            <a:avLst>
              <a:gd name="adj" fmla="val 3830"/>
            </a:avLst>
          </a:prstGeom>
          <a:solidFill>
            <a:srgbClr val="EEF3EC"/>
          </a:solidFill>
          <a:ln w="12700">
            <a:solidFill>
              <a:srgbClr val="CFE0CC"/>
            </a:solidFill>
            <a:prstDash val="solid"/>
          </a:ln>
          <a:effectLst>
            <a:outerShdw sx="100000" sy="100000" kx="0" ky="0" algn="bl" rotWithShape="0" blurRad="76200" dist="12700" dir="5400000">
              <a:srgbClr val="8A7C64">
                <a:alpha val="16000"/>
              </a:srgbClr>
            </a:outerShdw>
          </a:effectLst>
        </p:spPr>
      </p:sp>
      <p:sp>
        <p:nvSpPr>
          <p:cNvPr id="8" name="Text 6"/>
          <p:cNvSpPr txBox="1"/>
          <p:nvPr/>
        </p:nvSpPr>
        <p:spPr>
          <a:xfrm>
            <a:off x="6419088" y="1938528"/>
            <a:ext cx="4946904" cy="256032"/>
          </a:xfrm>
          <a:prstGeom prst="rect">
            <a:avLst/>
          </a:prstGeom>
          <a:noFill/>
          <a:ln/>
        </p:spPr>
        <p:txBody>
          <a:bodyPr wrap="square" lIns="0" tIns="0" rIns="0" bIns="0" rtlCol="0" anchor="ctr"/>
          <a:lstStyle/>
          <a:p>
            <a:pPr indent="0" marL="0">
              <a:buNone/>
            </a:pPr>
            <a:r>
              <a:rPr lang="en-US" sz="1050" b="1" spc="140" kern="0" dirty="0">
                <a:solidFill>
                  <a:srgbClr val="3F5B3E"/>
                </a:solidFill>
                <a:latin typeface="Calibri" pitchFamily="34" charset="0"/>
                <a:ea typeface="Calibri" pitchFamily="34" charset="-122"/>
                <a:cs typeface="Calibri" pitchFamily="34" charset="-120"/>
              </a:rPr>
              <a:t>WHY THIS IS A GOVERNMENT ARGUMENT, NOT A MARKETING ONE</a:t>
            </a:r>
            <a:endParaRPr lang="en-US" sz="1050" dirty="0"/>
          </a:p>
        </p:txBody>
      </p:sp>
      <p:sp>
        <p:nvSpPr>
          <p:cNvPr id="9" name="Text 7"/>
          <p:cNvSpPr txBox="1"/>
          <p:nvPr/>
        </p:nvSpPr>
        <p:spPr>
          <a:xfrm>
            <a:off x="6419088" y="2249424"/>
            <a:ext cx="4946904" cy="1463040"/>
          </a:xfrm>
          <a:prstGeom prst="rect">
            <a:avLst/>
          </a:prstGeom>
          <a:noFill/>
          <a:ln/>
        </p:spPr>
        <p:txBody>
          <a:bodyPr wrap="square" lIns="0" tIns="0" rIns="0" bIns="0" rtlCol="0" anchor="t"/>
          <a:lstStyle/>
          <a:p>
            <a:pPr indent="0" marL="0">
              <a:lnSpc>
                <a:spcPts val="1450"/>
              </a:lnSpc>
              <a:buNone/>
            </a:pPr>
            <a:r>
              <a:rPr lang="en-US" sz="1100" dirty="0">
                <a:solidFill>
                  <a:srgbClr val="2B2318"/>
                </a:solidFill>
                <a:latin typeface="Calibri" pitchFamily="34" charset="0"/>
                <a:ea typeface="Calibri" pitchFamily="34" charset="-122"/>
                <a:cs typeface="Calibri" pitchFamily="34" charset="-120"/>
              </a:rPr>
              <a:t>The weekly iron-folic acid tablet is already free, already procured and already delivered to schools. Its problem is that children do not take it — it tastes metallic and can cause nausea. The state's constraint is adherence, not supply.</a:t>
            </a:r>
            <a:endParaRPr lang="en-US" sz="1100" dirty="0"/>
          </a:p>
          <a:p>
            <a:pPr indent="0" marL="0">
              <a:lnSpc>
                <a:spcPts val="1450"/>
              </a:lnSpc>
              <a:buNone/>
            </a:pPr>
            <a:endParaRPr lang="en-US" sz="1100" dirty="0"/>
          </a:p>
          <a:p>
            <a:pPr indent="0" marL="0">
              <a:lnSpc>
                <a:spcPts val="1450"/>
              </a:lnSpc>
              <a:buNone/>
            </a:pPr>
            <a:r>
              <a:rPr lang="en-US" sz="1100" dirty="0">
                <a:solidFill>
                  <a:srgbClr val="2B2318"/>
                </a:solidFill>
                <a:latin typeface="Calibri" pitchFamily="34" charset="0"/>
                <a:ea typeface="Calibri" pitchFamily="34" charset="-122"/>
                <a:cs typeface="Calibri" pitchFamily="34" charset="-120"/>
              </a:rPr>
              <a:t>A product a child wants to open has a different adherence curve. And the completed bridge, redeemed in front of a teacher, is something a ration bag can never produce: a per-child receipt that the food was consumed rather than merely delivered.</a:t>
            </a:r>
            <a:endParaRPr lang="en-US" sz="1100" dirty="0"/>
          </a:p>
        </p:txBody>
      </p:sp>
      <p:sp>
        <p:nvSpPr>
          <p:cNvPr id="10" name="Shape 8"/>
          <p:cNvSpPr/>
          <p:nvPr/>
        </p:nvSpPr>
        <p:spPr>
          <a:xfrm>
            <a:off x="548640" y="4096512"/>
            <a:ext cx="3557016" cy="1517904"/>
          </a:xfrm>
          <a:prstGeom prst="roundRect">
            <a:avLst>
              <a:gd name="adj" fmla="val 5422"/>
            </a:avLst>
          </a:prstGeom>
          <a:solidFill>
            <a:srgbClr val="FFFFFF"/>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11" name="Text 9"/>
          <p:cNvSpPr txBox="1"/>
          <p:nvPr/>
        </p:nvSpPr>
        <p:spPr>
          <a:xfrm>
            <a:off x="786384" y="4279392"/>
            <a:ext cx="3081528" cy="256032"/>
          </a:xfrm>
          <a:prstGeom prst="rect">
            <a:avLst/>
          </a:prstGeom>
          <a:noFill/>
          <a:ln/>
        </p:spPr>
        <p:txBody>
          <a:bodyPr wrap="square" lIns="0" tIns="0" rIns="0" bIns="0" rtlCol="0" anchor="t"/>
          <a:lstStyle/>
          <a:p>
            <a:pPr indent="0" marL="0">
              <a:buNone/>
            </a:pPr>
            <a:r>
              <a:rPr lang="en-US" sz="1200" b="1" dirty="0">
                <a:solidFill>
                  <a:srgbClr val="2B2318"/>
                </a:solidFill>
                <a:latin typeface="Calibri" pitchFamily="34" charset="0"/>
                <a:ea typeface="Calibri" pitchFamily="34" charset="-122"/>
                <a:cs typeface="Calibri" pitchFamily="34" charset="-120"/>
              </a:rPr>
              <a:t>Consumption receipt</a:t>
            </a:r>
            <a:endParaRPr lang="en-US" sz="1200" dirty="0"/>
          </a:p>
        </p:txBody>
      </p:sp>
      <p:sp>
        <p:nvSpPr>
          <p:cNvPr id="12" name="Text 10"/>
          <p:cNvSpPr txBox="1"/>
          <p:nvPr/>
        </p:nvSpPr>
        <p:spPr>
          <a:xfrm>
            <a:off x="786384" y="4590288"/>
            <a:ext cx="3081528" cy="804672"/>
          </a:xfrm>
          <a:prstGeom prst="rect">
            <a:avLst/>
          </a:prstGeom>
          <a:noFill/>
          <a:ln/>
        </p:spPr>
        <p:txBody>
          <a:bodyPr wrap="square" lIns="0" tIns="0" rIns="0" bIns="0" rtlCol="0" anchor="t"/>
          <a:lstStyle/>
          <a:p>
            <a:pPr indent="0" marL="0">
              <a:lnSpc>
                <a:spcPts val="1300"/>
              </a:lnSpc>
              <a:buNone/>
            </a:pPr>
            <a:r>
              <a:rPr lang="en-US" sz="1000" dirty="0">
                <a:solidFill>
                  <a:srgbClr val="6B6252"/>
                </a:solidFill>
                <a:latin typeface="Calibri" pitchFamily="34" charset="0"/>
                <a:ea typeface="Calibri" pitchFamily="34" charset="-122"/>
                <a:cs typeface="Calibri" pitchFamily="34" charset="-120"/>
              </a:rPr>
              <a:t>Pack code plus redeemed bridge gives a district officer per-child evidence of consumption. After the Madhya Pradesh take-home-ration audit found over ₹100 crore in irregularities, this is the most saleable thing we own.</a:t>
            </a:r>
            <a:endParaRPr lang="en-US" sz="1000" dirty="0"/>
          </a:p>
        </p:txBody>
      </p:sp>
      <p:sp>
        <p:nvSpPr>
          <p:cNvPr id="13" name="Shape 11"/>
          <p:cNvSpPr/>
          <p:nvPr/>
        </p:nvSpPr>
        <p:spPr>
          <a:xfrm>
            <a:off x="4315968" y="4096512"/>
            <a:ext cx="3557016" cy="1517904"/>
          </a:xfrm>
          <a:prstGeom prst="roundRect">
            <a:avLst>
              <a:gd name="adj" fmla="val 5422"/>
            </a:avLst>
          </a:prstGeom>
          <a:solidFill>
            <a:srgbClr val="FFFFFF"/>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14" name="Text 12"/>
          <p:cNvSpPr txBox="1"/>
          <p:nvPr/>
        </p:nvSpPr>
        <p:spPr>
          <a:xfrm>
            <a:off x="4553712" y="4279392"/>
            <a:ext cx="3081528" cy="256032"/>
          </a:xfrm>
          <a:prstGeom prst="rect">
            <a:avLst/>
          </a:prstGeom>
          <a:noFill/>
          <a:ln/>
        </p:spPr>
        <p:txBody>
          <a:bodyPr wrap="square" lIns="0" tIns="0" rIns="0" bIns="0" rtlCol="0" anchor="t"/>
          <a:lstStyle/>
          <a:p>
            <a:pPr indent="0" marL="0">
              <a:buNone/>
            </a:pPr>
            <a:r>
              <a:rPr lang="en-US" sz="1200" b="1" dirty="0">
                <a:solidFill>
                  <a:srgbClr val="2B2318"/>
                </a:solidFill>
                <a:latin typeface="Calibri" pitchFamily="34" charset="0"/>
                <a:ea typeface="Calibri" pitchFamily="34" charset="-122"/>
                <a:cs typeface="Calibri" pitchFamily="34" charset="-120"/>
              </a:rPr>
              <a:t>Peer effect inside a classroom</a:t>
            </a:r>
            <a:endParaRPr lang="en-US" sz="1200" dirty="0"/>
          </a:p>
        </p:txBody>
      </p:sp>
      <p:sp>
        <p:nvSpPr>
          <p:cNvPr id="15" name="Text 13"/>
          <p:cNvSpPr txBox="1"/>
          <p:nvPr/>
        </p:nvSpPr>
        <p:spPr>
          <a:xfrm>
            <a:off x="4553712" y="4590288"/>
            <a:ext cx="3081528" cy="804672"/>
          </a:xfrm>
          <a:prstGeom prst="rect">
            <a:avLst/>
          </a:prstGeom>
          <a:noFill/>
          <a:ln/>
        </p:spPr>
        <p:txBody>
          <a:bodyPr wrap="square" lIns="0" tIns="0" rIns="0" bIns="0" rtlCol="0" anchor="t"/>
          <a:lstStyle/>
          <a:p>
            <a:pPr indent="0" marL="0">
              <a:lnSpc>
                <a:spcPts val="1300"/>
              </a:lnSpc>
              <a:buNone/>
            </a:pPr>
            <a:r>
              <a:rPr lang="en-US" sz="1000" dirty="0">
                <a:solidFill>
                  <a:srgbClr val="6B6252"/>
                </a:solidFill>
                <a:latin typeface="Calibri" pitchFamily="34" charset="0"/>
                <a:ea typeface="Calibri" pitchFamily="34" charset="-122"/>
                <a:cs typeface="Calibri" pitchFamily="34" charset="-120"/>
              </a:rPr>
              <a:t>Collection mechanics work hardest where children sit together every day. A class leaderboard costs us nothing and does more than any advertisement we could afford.</a:t>
            </a:r>
            <a:endParaRPr lang="en-US" sz="1000" dirty="0"/>
          </a:p>
        </p:txBody>
      </p:sp>
      <p:sp>
        <p:nvSpPr>
          <p:cNvPr id="16" name="Shape 14"/>
          <p:cNvSpPr/>
          <p:nvPr/>
        </p:nvSpPr>
        <p:spPr>
          <a:xfrm>
            <a:off x="8083296" y="4096512"/>
            <a:ext cx="3557016" cy="1517904"/>
          </a:xfrm>
          <a:prstGeom prst="roundRect">
            <a:avLst>
              <a:gd name="adj" fmla="val 5422"/>
            </a:avLst>
          </a:prstGeom>
          <a:solidFill>
            <a:srgbClr val="FFFFFF"/>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17" name="Text 15"/>
          <p:cNvSpPr txBox="1"/>
          <p:nvPr/>
        </p:nvSpPr>
        <p:spPr>
          <a:xfrm>
            <a:off x="8321040" y="4279392"/>
            <a:ext cx="3081528" cy="256032"/>
          </a:xfrm>
          <a:prstGeom prst="rect">
            <a:avLst/>
          </a:prstGeom>
          <a:noFill/>
          <a:ln/>
        </p:spPr>
        <p:txBody>
          <a:bodyPr wrap="square" lIns="0" tIns="0" rIns="0" bIns="0" rtlCol="0" anchor="t"/>
          <a:lstStyle/>
          <a:p>
            <a:pPr indent="0" marL="0">
              <a:buNone/>
            </a:pPr>
            <a:r>
              <a:rPr lang="en-US" sz="1200" b="1" dirty="0">
                <a:solidFill>
                  <a:srgbClr val="2B2318"/>
                </a:solidFill>
                <a:latin typeface="Calibri" pitchFamily="34" charset="0"/>
                <a:ea typeface="Calibri" pitchFamily="34" charset="-122"/>
                <a:cs typeface="Calibri" pitchFamily="34" charset="-120"/>
              </a:rPr>
              <a:t>The risk, stated plainly</a:t>
            </a:r>
            <a:endParaRPr lang="en-US" sz="1200" dirty="0"/>
          </a:p>
        </p:txBody>
      </p:sp>
      <p:sp>
        <p:nvSpPr>
          <p:cNvPr id="18" name="Text 16"/>
          <p:cNvSpPr txBox="1"/>
          <p:nvPr/>
        </p:nvSpPr>
        <p:spPr>
          <a:xfrm>
            <a:off x="8321040" y="4590288"/>
            <a:ext cx="3081528" cy="804672"/>
          </a:xfrm>
          <a:prstGeom prst="rect">
            <a:avLst/>
          </a:prstGeom>
          <a:noFill/>
          <a:ln/>
        </p:spPr>
        <p:txBody>
          <a:bodyPr wrap="square" lIns="0" tIns="0" rIns="0" bIns="0" rtlCol="0" anchor="t"/>
          <a:lstStyle/>
          <a:p>
            <a:pPr indent="0" marL="0">
              <a:lnSpc>
                <a:spcPts val="1300"/>
              </a:lnSpc>
              <a:buNone/>
            </a:pPr>
            <a:r>
              <a:rPr lang="en-US" sz="1000" dirty="0">
                <a:solidFill>
                  <a:srgbClr val="6B6252"/>
                </a:solidFill>
                <a:latin typeface="Calibri" pitchFamily="34" charset="0"/>
                <a:ea typeface="Calibri" pitchFamily="34" charset="-122"/>
                <a:cs typeface="Calibri" pitchFamily="34" charset="-120"/>
              </a:rPr>
              <a:t>Game mechanics on food marketed to children attract scrutiny, and rightly. Our defences are a non-HFSS formulation, redemption rather than chance, and no in-school advertising beyond the pack itself.</a:t>
            </a:r>
            <a:endParaRPr lang="en-US" sz="1000" dirty="0"/>
          </a:p>
        </p:txBody>
      </p:sp>
      <p:sp>
        <p:nvSpPr>
          <p:cNvPr id="19" name="Shape 17"/>
          <p:cNvSpPr/>
          <p:nvPr/>
        </p:nvSpPr>
        <p:spPr>
          <a:xfrm>
            <a:off x="548640" y="5779008"/>
            <a:ext cx="11091672" cy="475488"/>
          </a:xfrm>
          <a:prstGeom prst="roundRect">
            <a:avLst>
              <a:gd name="adj" fmla="val 17308"/>
            </a:avLst>
          </a:prstGeom>
          <a:solidFill>
            <a:srgbClr val="FCF3E0"/>
          </a:solidFill>
          <a:ln w="12700">
            <a:solidFill>
              <a:srgbClr val="EAE1CE"/>
            </a:solidFill>
            <a:prstDash val="solid"/>
          </a:ln>
          <a:effectLst>
            <a:outerShdw sx="100000" sy="100000" kx="0" ky="0" algn="bl" rotWithShape="0" blurRad="76200" dist="12700" dir="5400000">
              <a:srgbClr val="8A7C64">
                <a:alpha val="16000"/>
              </a:srgbClr>
            </a:outerShdw>
          </a:effectLst>
        </p:spPr>
      </p:sp>
      <p:sp>
        <p:nvSpPr>
          <p:cNvPr id="20" name="Text 18"/>
          <p:cNvSpPr txBox="1"/>
          <p:nvPr/>
        </p:nvSpPr>
        <p:spPr>
          <a:xfrm>
            <a:off x="841248" y="5870448"/>
            <a:ext cx="10506456" cy="310896"/>
          </a:xfrm>
          <a:prstGeom prst="rect">
            <a:avLst/>
          </a:prstGeom>
          <a:noFill/>
          <a:ln/>
        </p:spPr>
        <p:txBody>
          <a:bodyPr wrap="square" lIns="0" tIns="0" rIns="0" bIns="0" rtlCol="0" anchor="t"/>
          <a:lstStyle/>
          <a:p>
            <a:pPr indent="0" marL="0">
              <a:buNone/>
            </a:pPr>
            <a:r>
              <a:rPr lang="en-US" sz="1050" i="1" dirty="0">
                <a:solidFill>
                  <a:srgbClr val="6B6252"/>
                </a:solidFill>
                <a:latin typeface="Calibri" pitchFamily="34" charset="0"/>
                <a:ea typeface="Calibri" pitchFamily="34" charset="-122"/>
                <a:cs typeface="Calibri" pitchFamily="34" charset="-120"/>
              </a:rPr>
              <a:t>Cost of the mechanic: roughly one free pack for every six purchased, modelled at 11–12 percentage points of gross margin on the loyalty cohort. It is a real cost, carried in the unit economics on slide 12.</a:t>
            </a:r>
            <a:endParaRPr lang="en-US" sz="1050" dirty="0"/>
          </a:p>
        </p:txBody>
      </p:sp>
      <p:sp>
        <p:nvSpPr>
          <p:cNvPr id="21" name="Text 19"/>
          <p:cNvSpPr txBox="1"/>
          <p:nvPr/>
        </p:nvSpPr>
        <p:spPr>
          <a:xfrm>
            <a:off x="548640" y="6419088"/>
            <a:ext cx="4572000" cy="256032"/>
          </a:xfrm>
          <a:prstGeom prst="rect">
            <a:avLst/>
          </a:prstGeom>
          <a:noFill/>
          <a:ln/>
        </p:spPr>
        <p:txBody>
          <a:bodyPr wrap="square" lIns="0" tIns="0" rIns="0" bIns="0" rtlCol="0" anchor="ctr"/>
          <a:lstStyle/>
          <a:p>
            <a:pPr indent="0" marL="0">
              <a:buNone/>
            </a:pPr>
            <a:r>
              <a:rPr lang="en-US" sz="900" dirty="0">
                <a:solidFill>
                  <a:srgbClr val="9C907A"/>
                </a:solidFill>
                <a:latin typeface="Calibri" pitchFamily="34" charset="0"/>
                <a:ea typeface="Calibri" pitchFamily="34" charset="-122"/>
                <a:cs typeface="Calibri" pitchFamily="34" charset="-120"/>
              </a:rPr>
              <a:t>PoshanSetu — F&amp;B Submission</a:t>
            </a:r>
            <a:endParaRPr lang="en-US" sz="900" dirty="0"/>
          </a:p>
        </p:txBody>
      </p:sp>
      <p:sp>
        <p:nvSpPr>
          <p:cNvPr id="22" name="Text 20"/>
          <p:cNvSpPr txBox="1"/>
          <p:nvPr/>
        </p:nvSpPr>
        <p:spPr>
          <a:xfrm>
            <a:off x="10058400" y="6419088"/>
            <a:ext cx="1581912" cy="256032"/>
          </a:xfrm>
          <a:prstGeom prst="rect">
            <a:avLst/>
          </a:prstGeom>
          <a:noFill/>
          <a:ln/>
        </p:spPr>
        <p:txBody>
          <a:bodyPr wrap="square" lIns="0" tIns="0" rIns="0" bIns="0" rtlCol="0" anchor="ctr"/>
          <a:lstStyle/>
          <a:p>
            <a:pPr algn="r" indent="0" marL="0">
              <a:buNone/>
            </a:pPr>
            <a:r>
              <a:rPr lang="en-US" sz="900" dirty="0">
                <a:solidFill>
                  <a:srgbClr val="9C907A"/>
                </a:solidFill>
                <a:latin typeface="Calibri" pitchFamily="34" charset="0"/>
                <a:ea typeface="Calibri" pitchFamily="34" charset="-122"/>
                <a:cs typeface="Calibri" pitchFamily="34" charset="-120"/>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100" b="1" spc="220" kern="0" dirty="0">
                <a:solidFill>
                  <a:srgbClr val="7A2E1E"/>
                </a:solidFill>
                <a:latin typeface="Calibri" pitchFamily="34" charset="0"/>
                <a:ea typeface="Calibri" pitchFamily="34" charset="-122"/>
                <a:cs typeface="Calibri" pitchFamily="34" charset="-120"/>
              </a:rPr>
              <a:t>06 · WHY GOVERNMENT</a:t>
            </a:r>
            <a:endParaRPr lang="en-US" sz="1100" dirty="0"/>
          </a:p>
        </p:txBody>
      </p:sp>
      <p:sp>
        <p:nvSpPr>
          <p:cNvPr id="3" name="Text 1"/>
          <p:cNvSpPr txBox="1"/>
          <p:nvPr/>
        </p:nvSpPr>
        <p:spPr>
          <a:xfrm>
            <a:off x="548640" y="713232"/>
            <a:ext cx="11091672" cy="868680"/>
          </a:xfrm>
          <a:prstGeom prst="rect">
            <a:avLst/>
          </a:prstGeom>
          <a:noFill/>
          <a:ln/>
        </p:spPr>
        <p:txBody>
          <a:bodyPr wrap="square" lIns="0" tIns="0" rIns="0" bIns="0" rtlCol="0" anchor="t"/>
          <a:lstStyle/>
          <a:p>
            <a:pPr indent="0" marL="0">
              <a:lnSpc>
                <a:spcPts val="3600"/>
              </a:lnSpc>
              <a:buNone/>
            </a:pPr>
            <a:r>
              <a:rPr lang="en-US" sz="3000" b="1" dirty="0">
                <a:solidFill>
                  <a:srgbClr val="2B2318"/>
                </a:solidFill>
                <a:latin typeface="Cambria" pitchFamily="34" charset="0"/>
                <a:ea typeface="Cambria" pitchFamily="34" charset="-122"/>
                <a:cs typeface="Cambria" pitchFamily="34" charset="-120"/>
              </a:rPr>
              <a:t>Against the state's own three tools for a 5–12 child.</a:t>
            </a:r>
            <a:endParaRPr lang="en-US" sz="3000" dirty="0"/>
          </a:p>
        </p:txBody>
      </p:sp>
      <p:sp>
        <p:nvSpPr>
          <p:cNvPr id="4" name="Text 2"/>
          <p:cNvSpPr txBox="1"/>
          <p:nvPr/>
        </p:nvSpPr>
        <p:spPr>
          <a:xfrm>
            <a:off x="2999232" y="1773936"/>
            <a:ext cx="2121408" cy="420624"/>
          </a:xfrm>
          <a:prstGeom prst="rect">
            <a:avLst/>
          </a:prstGeom>
          <a:noFill/>
          <a:ln/>
        </p:spPr>
        <p:txBody>
          <a:bodyPr wrap="square" lIns="0" tIns="0" rIns="0" bIns="0" rtlCol="0" anchor="t"/>
          <a:lstStyle/>
          <a:p>
            <a:pPr algn="ctr" indent="0" marL="0">
              <a:lnSpc>
                <a:spcPts val="1350"/>
              </a:lnSpc>
              <a:buNone/>
            </a:pPr>
            <a:r>
              <a:rPr lang="en-US" sz="1100" b="1" dirty="0">
                <a:solidFill>
                  <a:srgbClr val="2B2318"/>
                </a:solidFill>
                <a:latin typeface="Calibri" pitchFamily="34" charset="0"/>
                <a:ea typeface="Calibri" pitchFamily="34" charset="-122"/>
                <a:cs typeface="Calibri" pitchFamily="34" charset="-120"/>
              </a:rPr>
              <a:t>PM POSHAN hot meal</a:t>
            </a:r>
            <a:endParaRPr lang="en-US" sz="1100" dirty="0"/>
          </a:p>
        </p:txBody>
      </p:sp>
      <p:sp>
        <p:nvSpPr>
          <p:cNvPr id="5" name="Text 3"/>
          <p:cNvSpPr txBox="1"/>
          <p:nvPr/>
        </p:nvSpPr>
        <p:spPr>
          <a:xfrm>
            <a:off x="5175504" y="1773936"/>
            <a:ext cx="2121408" cy="420624"/>
          </a:xfrm>
          <a:prstGeom prst="rect">
            <a:avLst/>
          </a:prstGeom>
          <a:noFill/>
          <a:ln/>
        </p:spPr>
        <p:txBody>
          <a:bodyPr wrap="square" lIns="0" tIns="0" rIns="0" bIns="0" rtlCol="0" anchor="t"/>
          <a:lstStyle/>
          <a:p>
            <a:pPr algn="ctr" indent="0" marL="0">
              <a:lnSpc>
                <a:spcPts val="1350"/>
              </a:lnSpc>
              <a:buNone/>
            </a:pPr>
            <a:r>
              <a:rPr lang="en-US" sz="1100" b="1" dirty="0">
                <a:solidFill>
                  <a:srgbClr val="2B2318"/>
                </a:solidFill>
                <a:latin typeface="Calibri" pitchFamily="34" charset="0"/>
                <a:ea typeface="Calibri" pitchFamily="34" charset="-122"/>
                <a:cs typeface="Calibri" pitchFamily="34" charset="-120"/>
              </a:rPr>
              <a:t>Fortified rice</a:t>
            </a:r>
            <a:endParaRPr lang="en-US" sz="1100" dirty="0"/>
          </a:p>
        </p:txBody>
      </p:sp>
      <p:sp>
        <p:nvSpPr>
          <p:cNvPr id="6" name="Text 4"/>
          <p:cNvSpPr txBox="1"/>
          <p:nvPr/>
        </p:nvSpPr>
        <p:spPr>
          <a:xfrm>
            <a:off x="7351776" y="1773936"/>
            <a:ext cx="2121408" cy="420624"/>
          </a:xfrm>
          <a:prstGeom prst="rect">
            <a:avLst/>
          </a:prstGeom>
          <a:noFill/>
          <a:ln/>
        </p:spPr>
        <p:txBody>
          <a:bodyPr wrap="square" lIns="0" tIns="0" rIns="0" bIns="0" rtlCol="0" anchor="t"/>
          <a:lstStyle/>
          <a:p>
            <a:pPr algn="ctr" indent="0" marL="0">
              <a:lnSpc>
                <a:spcPts val="1350"/>
              </a:lnSpc>
              <a:buNone/>
            </a:pPr>
            <a:r>
              <a:rPr lang="en-US" sz="1100" b="1" dirty="0">
                <a:solidFill>
                  <a:srgbClr val="2B2318"/>
                </a:solidFill>
                <a:latin typeface="Calibri" pitchFamily="34" charset="0"/>
                <a:ea typeface="Calibri" pitchFamily="34" charset="-122"/>
                <a:cs typeface="Calibri" pitchFamily="34" charset="-120"/>
              </a:rPr>
              <a:t>Weekly IFA tablet</a:t>
            </a:r>
            <a:endParaRPr lang="en-US" sz="1100" dirty="0"/>
          </a:p>
        </p:txBody>
      </p:sp>
      <p:sp>
        <p:nvSpPr>
          <p:cNvPr id="7" name="Shape 5"/>
          <p:cNvSpPr/>
          <p:nvPr/>
        </p:nvSpPr>
        <p:spPr>
          <a:xfrm>
            <a:off x="9473184" y="1700784"/>
            <a:ext cx="2231136" cy="3877056"/>
          </a:xfrm>
          <a:prstGeom prst="roundRect">
            <a:avLst>
              <a:gd name="adj" fmla="val 3279"/>
            </a:avLst>
          </a:prstGeom>
          <a:solidFill>
            <a:srgbClr val="EEF3EC"/>
          </a:solidFill>
          <a:ln w="15875">
            <a:solidFill>
              <a:srgbClr val="3F5B3E"/>
            </a:solidFill>
            <a:prstDash val="solid"/>
          </a:ln>
        </p:spPr>
      </p:sp>
      <p:sp>
        <p:nvSpPr>
          <p:cNvPr id="8" name="Text 6"/>
          <p:cNvSpPr txBox="1"/>
          <p:nvPr/>
        </p:nvSpPr>
        <p:spPr>
          <a:xfrm>
            <a:off x="9528048" y="1773936"/>
            <a:ext cx="2121408" cy="420624"/>
          </a:xfrm>
          <a:prstGeom prst="rect">
            <a:avLst/>
          </a:prstGeom>
          <a:noFill/>
          <a:ln/>
        </p:spPr>
        <p:txBody>
          <a:bodyPr wrap="square" lIns="0" tIns="0" rIns="0" bIns="0" rtlCol="0" anchor="t"/>
          <a:lstStyle/>
          <a:p>
            <a:pPr algn="ctr" indent="0" marL="0">
              <a:lnSpc>
                <a:spcPts val="1350"/>
              </a:lnSpc>
              <a:buNone/>
            </a:pPr>
            <a:r>
              <a:rPr lang="en-US" sz="1100" b="1" dirty="0">
                <a:solidFill>
                  <a:srgbClr val="3F5B3E"/>
                </a:solidFill>
                <a:latin typeface="Calibri" pitchFamily="34" charset="0"/>
                <a:ea typeface="Calibri" pitchFamily="34" charset="-122"/>
                <a:cs typeface="Calibri" pitchFamily="34" charset="-120"/>
              </a:rPr>
              <a:t>PoshanSetu</a:t>
            </a:r>
            <a:endParaRPr lang="en-US" sz="1100" dirty="0"/>
          </a:p>
        </p:txBody>
      </p:sp>
      <p:sp>
        <p:nvSpPr>
          <p:cNvPr id="9" name="Shape 7"/>
          <p:cNvSpPr/>
          <p:nvPr/>
        </p:nvSpPr>
        <p:spPr>
          <a:xfrm>
            <a:off x="548640" y="2212848"/>
            <a:ext cx="11091672" cy="530352"/>
          </a:xfrm>
          <a:prstGeom prst="rect">
            <a:avLst/>
          </a:prstGeom>
          <a:solidFill>
            <a:srgbClr val="EAE1CE"/>
          </a:solidFill>
          <a:ln w="12700">
            <a:solidFill>
              <a:srgbClr val="EAE1CE"/>
            </a:solidFill>
            <a:prstDash val="solid"/>
          </a:ln>
        </p:spPr>
      </p:sp>
      <p:sp>
        <p:nvSpPr>
          <p:cNvPr id="10" name="Text 8"/>
          <p:cNvSpPr txBox="1"/>
          <p:nvPr/>
        </p:nvSpPr>
        <p:spPr>
          <a:xfrm>
            <a:off x="658368" y="2267712"/>
            <a:ext cx="2212848" cy="420624"/>
          </a:xfrm>
          <a:prstGeom prst="rect">
            <a:avLst/>
          </a:prstGeom>
          <a:noFill/>
          <a:ln/>
        </p:spPr>
        <p:txBody>
          <a:bodyPr wrap="square" lIns="0" tIns="0" rIns="0" bIns="0" rtlCol="0" anchor="ctr"/>
          <a:lstStyle/>
          <a:p>
            <a:pPr indent="0" marL="0">
              <a:buNone/>
            </a:pPr>
            <a:r>
              <a:rPr lang="en-US" sz="1050" b="1" dirty="0">
                <a:solidFill>
                  <a:srgbClr val="2B2318"/>
                </a:solidFill>
                <a:latin typeface="Calibri" pitchFamily="34" charset="0"/>
                <a:ea typeface="Calibri" pitchFamily="34" charset="-122"/>
                <a:cs typeface="Calibri" pitchFamily="34" charset="-120"/>
              </a:rPr>
              <a:t>What it delivers</a:t>
            </a:r>
            <a:endParaRPr lang="en-US" sz="1050" dirty="0"/>
          </a:p>
        </p:txBody>
      </p:sp>
      <p:sp>
        <p:nvSpPr>
          <p:cNvPr id="11" name="Text 9"/>
          <p:cNvSpPr txBox="1"/>
          <p:nvPr/>
        </p:nvSpPr>
        <p:spPr>
          <a:xfrm>
            <a:off x="3072384" y="2258568"/>
            <a:ext cx="1975104" cy="438912"/>
          </a:xfrm>
          <a:prstGeom prst="rect">
            <a:avLst/>
          </a:prstGeom>
          <a:noFill/>
          <a:ln/>
        </p:spPr>
        <p:txBody>
          <a:bodyPr wrap="square" lIns="0" tIns="0" rIns="0" bIns="0" rtlCol="0" anchor="ctr"/>
          <a:lstStyle/>
          <a:p>
            <a:pPr algn="ctr" indent="0" marL="0">
              <a:lnSpc>
                <a:spcPts val="1200"/>
              </a:lnSpc>
              <a:buNone/>
            </a:pPr>
            <a:r>
              <a:rPr lang="en-US" sz="950" dirty="0">
                <a:solidFill>
                  <a:srgbClr val="6B6252"/>
                </a:solidFill>
                <a:latin typeface="Calibri" pitchFamily="34" charset="0"/>
                <a:ea typeface="Calibri" pitchFamily="34" charset="-122"/>
                <a:cs typeface="Calibri" pitchFamily="34" charset="-120"/>
              </a:rPr>
              <a:t>A cooked meal: calories and protein</a:t>
            </a:r>
            <a:endParaRPr lang="en-US" sz="950" dirty="0"/>
          </a:p>
        </p:txBody>
      </p:sp>
      <p:sp>
        <p:nvSpPr>
          <p:cNvPr id="12" name="Text 10"/>
          <p:cNvSpPr txBox="1"/>
          <p:nvPr/>
        </p:nvSpPr>
        <p:spPr>
          <a:xfrm>
            <a:off x="5248656" y="2258568"/>
            <a:ext cx="1975104" cy="438912"/>
          </a:xfrm>
          <a:prstGeom prst="rect">
            <a:avLst/>
          </a:prstGeom>
          <a:noFill/>
          <a:ln/>
        </p:spPr>
        <p:txBody>
          <a:bodyPr wrap="square" lIns="0" tIns="0" rIns="0" bIns="0" rtlCol="0" anchor="ctr"/>
          <a:lstStyle/>
          <a:p>
            <a:pPr algn="ctr" indent="0" marL="0">
              <a:lnSpc>
                <a:spcPts val="1200"/>
              </a:lnSpc>
              <a:buNone/>
            </a:pPr>
            <a:r>
              <a:rPr lang="en-US" sz="950" dirty="0">
                <a:solidFill>
                  <a:srgbClr val="6B6252"/>
                </a:solidFill>
                <a:latin typeface="Calibri" pitchFamily="34" charset="0"/>
                <a:ea typeface="Calibri" pitchFamily="34" charset="-122"/>
                <a:cs typeface="Calibri" pitchFamily="34" charset="-120"/>
              </a:rPr>
              <a:t>Iron, folic acid and B12 only</a:t>
            </a:r>
            <a:endParaRPr lang="en-US" sz="950" dirty="0"/>
          </a:p>
        </p:txBody>
      </p:sp>
      <p:sp>
        <p:nvSpPr>
          <p:cNvPr id="13" name="Text 11"/>
          <p:cNvSpPr txBox="1"/>
          <p:nvPr/>
        </p:nvSpPr>
        <p:spPr>
          <a:xfrm>
            <a:off x="7424928" y="2258568"/>
            <a:ext cx="1975104" cy="438912"/>
          </a:xfrm>
          <a:prstGeom prst="rect">
            <a:avLst/>
          </a:prstGeom>
          <a:noFill/>
          <a:ln/>
        </p:spPr>
        <p:txBody>
          <a:bodyPr wrap="square" lIns="0" tIns="0" rIns="0" bIns="0" rtlCol="0" anchor="ctr"/>
          <a:lstStyle/>
          <a:p>
            <a:pPr algn="ctr" indent="0" marL="0">
              <a:lnSpc>
                <a:spcPts val="1200"/>
              </a:lnSpc>
              <a:buNone/>
            </a:pPr>
            <a:r>
              <a:rPr lang="en-US" sz="950" dirty="0">
                <a:solidFill>
                  <a:srgbClr val="6B6252"/>
                </a:solidFill>
                <a:latin typeface="Calibri" pitchFamily="34" charset="0"/>
                <a:ea typeface="Calibri" pitchFamily="34" charset="-122"/>
                <a:cs typeface="Calibri" pitchFamily="34" charset="-120"/>
              </a:rPr>
              <a:t>Iron and folic acid only</a:t>
            </a:r>
            <a:endParaRPr lang="en-US" sz="950" dirty="0"/>
          </a:p>
        </p:txBody>
      </p:sp>
      <p:sp>
        <p:nvSpPr>
          <p:cNvPr id="14" name="Text 12"/>
          <p:cNvSpPr txBox="1"/>
          <p:nvPr/>
        </p:nvSpPr>
        <p:spPr>
          <a:xfrm>
            <a:off x="9601200" y="2258568"/>
            <a:ext cx="1975104" cy="438912"/>
          </a:xfrm>
          <a:prstGeom prst="rect">
            <a:avLst/>
          </a:prstGeom>
          <a:noFill/>
          <a:ln/>
        </p:spPr>
        <p:txBody>
          <a:bodyPr wrap="square" lIns="0" tIns="0" rIns="0" bIns="0" rtlCol="0" anchor="ctr"/>
          <a:lstStyle/>
          <a:p>
            <a:pPr algn="ctr" indent="0" marL="0">
              <a:lnSpc>
                <a:spcPts val="1200"/>
              </a:lnSpc>
              <a:buNone/>
            </a:pPr>
            <a:r>
              <a:rPr lang="en-US" sz="980" b="1" dirty="0">
                <a:solidFill>
                  <a:srgbClr val="3F5B3E"/>
                </a:solidFill>
                <a:latin typeface="Calibri" pitchFamily="34" charset="0"/>
                <a:ea typeface="Calibri" pitchFamily="34" charset="-122"/>
                <a:cs typeface="Calibri" pitchFamily="34" charset="-120"/>
              </a:rPr>
              <a:t>8 micronutrients, protein, 150 kcal</a:t>
            </a:r>
            <a:endParaRPr lang="en-US" sz="980" dirty="0"/>
          </a:p>
        </p:txBody>
      </p:sp>
      <p:sp>
        <p:nvSpPr>
          <p:cNvPr id="15" name="Text 13"/>
          <p:cNvSpPr txBox="1"/>
          <p:nvPr/>
        </p:nvSpPr>
        <p:spPr>
          <a:xfrm>
            <a:off x="658368" y="2798064"/>
            <a:ext cx="2212848" cy="420624"/>
          </a:xfrm>
          <a:prstGeom prst="rect">
            <a:avLst/>
          </a:prstGeom>
          <a:noFill/>
          <a:ln/>
        </p:spPr>
        <p:txBody>
          <a:bodyPr wrap="square" lIns="0" tIns="0" rIns="0" bIns="0" rtlCol="0" anchor="ctr"/>
          <a:lstStyle/>
          <a:p>
            <a:pPr indent="0" marL="0">
              <a:buNone/>
            </a:pPr>
            <a:r>
              <a:rPr lang="en-US" sz="1050" b="1" dirty="0">
                <a:solidFill>
                  <a:srgbClr val="2B2318"/>
                </a:solidFill>
                <a:latin typeface="Calibri" pitchFamily="34" charset="0"/>
                <a:ea typeface="Calibri" pitchFamily="34" charset="-122"/>
                <a:cs typeface="Calibri" pitchFamily="34" charset="-120"/>
              </a:rPr>
              <a:t>Days it reaches a child</a:t>
            </a:r>
            <a:endParaRPr lang="en-US" sz="1050" dirty="0"/>
          </a:p>
        </p:txBody>
      </p:sp>
      <p:sp>
        <p:nvSpPr>
          <p:cNvPr id="16" name="Text 14"/>
          <p:cNvSpPr txBox="1"/>
          <p:nvPr/>
        </p:nvSpPr>
        <p:spPr>
          <a:xfrm>
            <a:off x="3072384" y="2788920"/>
            <a:ext cx="1975104" cy="438912"/>
          </a:xfrm>
          <a:prstGeom prst="rect">
            <a:avLst/>
          </a:prstGeom>
          <a:noFill/>
          <a:ln/>
        </p:spPr>
        <p:txBody>
          <a:bodyPr wrap="square" lIns="0" tIns="0" rIns="0" bIns="0" rtlCol="0" anchor="ctr"/>
          <a:lstStyle/>
          <a:p>
            <a:pPr algn="ctr" indent="0" marL="0">
              <a:lnSpc>
                <a:spcPts val="1200"/>
              </a:lnSpc>
              <a:buNone/>
            </a:pPr>
            <a:r>
              <a:rPr lang="en-US" sz="950" dirty="0">
                <a:solidFill>
                  <a:srgbClr val="6B6252"/>
                </a:solidFill>
                <a:latin typeface="Calibri" pitchFamily="34" charset="0"/>
                <a:ea typeface="Calibri" pitchFamily="34" charset="-122"/>
                <a:cs typeface="Calibri" pitchFamily="34" charset="-120"/>
              </a:rPr>
              <a:t>~200 school days</a:t>
            </a:r>
            <a:endParaRPr lang="en-US" sz="950" dirty="0"/>
          </a:p>
        </p:txBody>
      </p:sp>
      <p:sp>
        <p:nvSpPr>
          <p:cNvPr id="17" name="Text 15"/>
          <p:cNvSpPr txBox="1"/>
          <p:nvPr/>
        </p:nvSpPr>
        <p:spPr>
          <a:xfrm>
            <a:off x="5248656" y="2788920"/>
            <a:ext cx="1975104" cy="438912"/>
          </a:xfrm>
          <a:prstGeom prst="rect">
            <a:avLst/>
          </a:prstGeom>
          <a:noFill/>
          <a:ln/>
        </p:spPr>
        <p:txBody>
          <a:bodyPr wrap="square" lIns="0" tIns="0" rIns="0" bIns="0" rtlCol="0" anchor="ctr"/>
          <a:lstStyle/>
          <a:p>
            <a:pPr algn="ctr" indent="0" marL="0">
              <a:lnSpc>
                <a:spcPts val="1200"/>
              </a:lnSpc>
              <a:buNone/>
            </a:pPr>
            <a:r>
              <a:rPr lang="en-US" sz="950" dirty="0">
                <a:solidFill>
                  <a:srgbClr val="6B6252"/>
                </a:solidFill>
                <a:latin typeface="Calibri" pitchFamily="34" charset="0"/>
                <a:ea typeface="Calibri" pitchFamily="34" charset="-122"/>
                <a:cs typeface="Calibri" pitchFamily="34" charset="-120"/>
              </a:rPr>
              <a:t>Only when the meal is cooked</a:t>
            </a:r>
            <a:endParaRPr lang="en-US" sz="950" dirty="0"/>
          </a:p>
        </p:txBody>
      </p:sp>
      <p:sp>
        <p:nvSpPr>
          <p:cNvPr id="18" name="Text 16"/>
          <p:cNvSpPr txBox="1"/>
          <p:nvPr/>
        </p:nvSpPr>
        <p:spPr>
          <a:xfrm>
            <a:off x="7424928" y="2788920"/>
            <a:ext cx="1975104" cy="438912"/>
          </a:xfrm>
          <a:prstGeom prst="rect">
            <a:avLst/>
          </a:prstGeom>
          <a:noFill/>
          <a:ln/>
        </p:spPr>
        <p:txBody>
          <a:bodyPr wrap="square" lIns="0" tIns="0" rIns="0" bIns="0" rtlCol="0" anchor="ctr"/>
          <a:lstStyle/>
          <a:p>
            <a:pPr algn="ctr" indent="0" marL="0">
              <a:lnSpc>
                <a:spcPts val="1200"/>
              </a:lnSpc>
              <a:buNone/>
            </a:pPr>
            <a:r>
              <a:rPr lang="en-US" sz="950" dirty="0">
                <a:solidFill>
                  <a:srgbClr val="6B6252"/>
                </a:solidFill>
                <a:latin typeface="Calibri" pitchFamily="34" charset="0"/>
                <a:ea typeface="Calibri" pitchFamily="34" charset="-122"/>
                <a:cs typeface="Calibri" pitchFamily="34" charset="-120"/>
              </a:rPr>
              <a:t>40 doses a year</a:t>
            </a:r>
            <a:endParaRPr lang="en-US" sz="950" dirty="0"/>
          </a:p>
        </p:txBody>
      </p:sp>
      <p:sp>
        <p:nvSpPr>
          <p:cNvPr id="19" name="Text 17"/>
          <p:cNvSpPr txBox="1"/>
          <p:nvPr/>
        </p:nvSpPr>
        <p:spPr>
          <a:xfrm>
            <a:off x="9601200" y="2788920"/>
            <a:ext cx="1975104" cy="438912"/>
          </a:xfrm>
          <a:prstGeom prst="rect">
            <a:avLst/>
          </a:prstGeom>
          <a:noFill/>
          <a:ln/>
        </p:spPr>
        <p:txBody>
          <a:bodyPr wrap="square" lIns="0" tIns="0" rIns="0" bIns="0" rtlCol="0" anchor="ctr"/>
          <a:lstStyle/>
          <a:p>
            <a:pPr algn="ctr" indent="0" marL="0">
              <a:lnSpc>
                <a:spcPts val="1200"/>
              </a:lnSpc>
              <a:buNone/>
            </a:pPr>
            <a:r>
              <a:rPr lang="en-US" sz="980" b="1" dirty="0">
                <a:solidFill>
                  <a:srgbClr val="3F5B3E"/>
                </a:solidFill>
                <a:latin typeface="Calibri" pitchFamily="34" charset="0"/>
                <a:ea typeface="Calibri" pitchFamily="34" charset="-122"/>
                <a:cs typeface="Calibri" pitchFamily="34" charset="-120"/>
              </a:rPr>
              <a:t>Any day, including vacations</a:t>
            </a:r>
            <a:endParaRPr lang="en-US" sz="980" dirty="0"/>
          </a:p>
        </p:txBody>
      </p:sp>
      <p:sp>
        <p:nvSpPr>
          <p:cNvPr id="20" name="Shape 18"/>
          <p:cNvSpPr/>
          <p:nvPr/>
        </p:nvSpPr>
        <p:spPr>
          <a:xfrm>
            <a:off x="548640" y="3273552"/>
            <a:ext cx="11091672" cy="530352"/>
          </a:xfrm>
          <a:prstGeom prst="rect">
            <a:avLst/>
          </a:prstGeom>
          <a:solidFill>
            <a:srgbClr val="EAE1CE"/>
          </a:solidFill>
          <a:ln w="12700">
            <a:solidFill>
              <a:srgbClr val="EAE1CE"/>
            </a:solidFill>
            <a:prstDash val="solid"/>
          </a:ln>
        </p:spPr>
      </p:sp>
      <p:sp>
        <p:nvSpPr>
          <p:cNvPr id="21" name="Text 19"/>
          <p:cNvSpPr txBox="1"/>
          <p:nvPr/>
        </p:nvSpPr>
        <p:spPr>
          <a:xfrm>
            <a:off x="658368" y="3328416"/>
            <a:ext cx="2212848" cy="420624"/>
          </a:xfrm>
          <a:prstGeom prst="rect">
            <a:avLst/>
          </a:prstGeom>
          <a:noFill/>
          <a:ln/>
        </p:spPr>
        <p:txBody>
          <a:bodyPr wrap="square" lIns="0" tIns="0" rIns="0" bIns="0" rtlCol="0" anchor="ctr"/>
          <a:lstStyle/>
          <a:p>
            <a:pPr indent="0" marL="0">
              <a:buNone/>
            </a:pPr>
            <a:r>
              <a:rPr lang="en-US" sz="1050" b="1" dirty="0">
                <a:solidFill>
                  <a:srgbClr val="2B2318"/>
                </a:solidFill>
                <a:latin typeface="Calibri" pitchFamily="34" charset="0"/>
                <a:ea typeface="Calibri" pitchFamily="34" charset="-122"/>
                <a:cs typeface="Calibri" pitchFamily="34" charset="-120"/>
              </a:rPr>
              <a:t>Needs a working kitchen</a:t>
            </a:r>
            <a:endParaRPr lang="en-US" sz="1050" dirty="0"/>
          </a:p>
        </p:txBody>
      </p:sp>
      <p:sp>
        <p:nvSpPr>
          <p:cNvPr id="22" name="Text 20"/>
          <p:cNvSpPr txBox="1"/>
          <p:nvPr/>
        </p:nvSpPr>
        <p:spPr>
          <a:xfrm>
            <a:off x="3072384" y="3319272"/>
            <a:ext cx="1975104" cy="438912"/>
          </a:xfrm>
          <a:prstGeom prst="rect">
            <a:avLst/>
          </a:prstGeom>
          <a:noFill/>
          <a:ln/>
        </p:spPr>
        <p:txBody>
          <a:bodyPr wrap="square" lIns="0" tIns="0" rIns="0" bIns="0" rtlCol="0" anchor="ctr"/>
          <a:lstStyle/>
          <a:p>
            <a:pPr algn="ctr" indent="0" marL="0">
              <a:lnSpc>
                <a:spcPts val="1200"/>
              </a:lnSpc>
              <a:buNone/>
            </a:pPr>
            <a:r>
              <a:rPr lang="en-US" sz="950" dirty="0">
                <a:solidFill>
                  <a:srgbClr val="6B6252"/>
                </a:solidFill>
                <a:latin typeface="Calibri" pitchFamily="34" charset="0"/>
                <a:ea typeface="Calibri" pitchFamily="34" charset="-122"/>
                <a:cs typeface="Calibri" pitchFamily="34" charset="-120"/>
              </a:rPr>
              <a:t>Yes</a:t>
            </a:r>
            <a:endParaRPr lang="en-US" sz="950" dirty="0"/>
          </a:p>
        </p:txBody>
      </p:sp>
      <p:sp>
        <p:nvSpPr>
          <p:cNvPr id="23" name="Text 21"/>
          <p:cNvSpPr txBox="1"/>
          <p:nvPr/>
        </p:nvSpPr>
        <p:spPr>
          <a:xfrm>
            <a:off x="5248656" y="3319272"/>
            <a:ext cx="1975104" cy="438912"/>
          </a:xfrm>
          <a:prstGeom prst="rect">
            <a:avLst/>
          </a:prstGeom>
          <a:noFill/>
          <a:ln/>
        </p:spPr>
        <p:txBody>
          <a:bodyPr wrap="square" lIns="0" tIns="0" rIns="0" bIns="0" rtlCol="0" anchor="ctr"/>
          <a:lstStyle/>
          <a:p>
            <a:pPr algn="ctr" indent="0" marL="0">
              <a:lnSpc>
                <a:spcPts val="1200"/>
              </a:lnSpc>
              <a:buNone/>
            </a:pPr>
            <a:r>
              <a:rPr lang="en-US" sz="950" dirty="0">
                <a:solidFill>
                  <a:srgbClr val="6B6252"/>
                </a:solidFill>
                <a:latin typeface="Calibri" pitchFamily="34" charset="0"/>
                <a:ea typeface="Calibri" pitchFamily="34" charset="-122"/>
                <a:cs typeface="Calibri" pitchFamily="34" charset="-120"/>
              </a:rPr>
              <a:t>Yes</a:t>
            </a:r>
            <a:endParaRPr lang="en-US" sz="950" dirty="0"/>
          </a:p>
        </p:txBody>
      </p:sp>
      <p:sp>
        <p:nvSpPr>
          <p:cNvPr id="24" name="Text 22"/>
          <p:cNvSpPr txBox="1"/>
          <p:nvPr/>
        </p:nvSpPr>
        <p:spPr>
          <a:xfrm>
            <a:off x="7424928" y="3319272"/>
            <a:ext cx="1975104" cy="438912"/>
          </a:xfrm>
          <a:prstGeom prst="rect">
            <a:avLst/>
          </a:prstGeom>
          <a:noFill/>
          <a:ln/>
        </p:spPr>
        <p:txBody>
          <a:bodyPr wrap="square" lIns="0" tIns="0" rIns="0" bIns="0" rtlCol="0" anchor="ctr"/>
          <a:lstStyle/>
          <a:p>
            <a:pPr algn="ctr" indent="0" marL="0">
              <a:lnSpc>
                <a:spcPts val="1200"/>
              </a:lnSpc>
              <a:buNone/>
            </a:pPr>
            <a:r>
              <a:rPr lang="en-US" sz="950" dirty="0">
                <a:solidFill>
                  <a:srgbClr val="6B6252"/>
                </a:solidFill>
                <a:latin typeface="Calibri" pitchFamily="34" charset="0"/>
                <a:ea typeface="Calibri" pitchFamily="34" charset="-122"/>
                <a:cs typeface="Calibri" pitchFamily="34" charset="-120"/>
              </a:rPr>
              <a:t>No</a:t>
            </a:r>
            <a:endParaRPr lang="en-US" sz="950" dirty="0"/>
          </a:p>
        </p:txBody>
      </p:sp>
      <p:sp>
        <p:nvSpPr>
          <p:cNvPr id="25" name="Text 23"/>
          <p:cNvSpPr txBox="1"/>
          <p:nvPr/>
        </p:nvSpPr>
        <p:spPr>
          <a:xfrm>
            <a:off x="9601200" y="3319272"/>
            <a:ext cx="1975104" cy="438912"/>
          </a:xfrm>
          <a:prstGeom prst="rect">
            <a:avLst/>
          </a:prstGeom>
          <a:noFill/>
          <a:ln/>
        </p:spPr>
        <p:txBody>
          <a:bodyPr wrap="square" lIns="0" tIns="0" rIns="0" bIns="0" rtlCol="0" anchor="ctr"/>
          <a:lstStyle/>
          <a:p>
            <a:pPr algn="ctr" indent="0" marL="0">
              <a:lnSpc>
                <a:spcPts val="1200"/>
              </a:lnSpc>
              <a:buNone/>
            </a:pPr>
            <a:r>
              <a:rPr lang="en-US" sz="980" b="1" dirty="0">
                <a:solidFill>
                  <a:srgbClr val="3F5B3E"/>
                </a:solidFill>
                <a:latin typeface="Calibri" pitchFamily="34" charset="0"/>
                <a:ea typeface="Calibri" pitchFamily="34" charset="-122"/>
                <a:cs typeface="Calibri" pitchFamily="34" charset="-120"/>
              </a:rPr>
              <a:t>No</a:t>
            </a:r>
            <a:endParaRPr lang="en-US" sz="980" dirty="0"/>
          </a:p>
        </p:txBody>
      </p:sp>
      <p:sp>
        <p:nvSpPr>
          <p:cNvPr id="26" name="Text 24"/>
          <p:cNvSpPr txBox="1"/>
          <p:nvPr/>
        </p:nvSpPr>
        <p:spPr>
          <a:xfrm>
            <a:off x="658368" y="3858768"/>
            <a:ext cx="2212848" cy="420624"/>
          </a:xfrm>
          <a:prstGeom prst="rect">
            <a:avLst/>
          </a:prstGeom>
          <a:noFill/>
          <a:ln/>
        </p:spPr>
        <p:txBody>
          <a:bodyPr wrap="square" lIns="0" tIns="0" rIns="0" bIns="0" rtlCol="0" anchor="ctr"/>
          <a:lstStyle/>
          <a:p>
            <a:pPr indent="0" marL="0">
              <a:buNone/>
            </a:pPr>
            <a:r>
              <a:rPr lang="en-US" sz="1050" b="1" dirty="0">
                <a:solidFill>
                  <a:srgbClr val="2B2318"/>
                </a:solidFill>
                <a:latin typeface="Calibri" pitchFamily="34" charset="0"/>
                <a:ea typeface="Calibri" pitchFamily="34" charset="-122"/>
                <a:cs typeface="Calibri" pitchFamily="34" charset="-120"/>
              </a:rPr>
              <a:t>Will the child take it</a:t>
            </a:r>
            <a:endParaRPr lang="en-US" sz="1050" dirty="0"/>
          </a:p>
        </p:txBody>
      </p:sp>
      <p:sp>
        <p:nvSpPr>
          <p:cNvPr id="27" name="Text 25"/>
          <p:cNvSpPr txBox="1"/>
          <p:nvPr/>
        </p:nvSpPr>
        <p:spPr>
          <a:xfrm>
            <a:off x="3072384" y="3849624"/>
            <a:ext cx="1975104" cy="438912"/>
          </a:xfrm>
          <a:prstGeom prst="rect">
            <a:avLst/>
          </a:prstGeom>
          <a:noFill/>
          <a:ln/>
        </p:spPr>
        <p:txBody>
          <a:bodyPr wrap="square" lIns="0" tIns="0" rIns="0" bIns="0" rtlCol="0" anchor="ctr"/>
          <a:lstStyle/>
          <a:p>
            <a:pPr algn="ctr" indent="0" marL="0">
              <a:lnSpc>
                <a:spcPts val="1200"/>
              </a:lnSpc>
              <a:buNone/>
            </a:pPr>
            <a:r>
              <a:rPr lang="en-US" sz="950" dirty="0">
                <a:solidFill>
                  <a:srgbClr val="6B6252"/>
                </a:solidFill>
                <a:latin typeface="Calibri" pitchFamily="34" charset="0"/>
                <a:ea typeface="Calibri" pitchFamily="34" charset="-122"/>
                <a:cs typeface="Calibri" pitchFamily="34" charset="-120"/>
              </a:rPr>
              <a:t>Yes, if present</a:t>
            </a:r>
            <a:endParaRPr lang="en-US" sz="950" dirty="0"/>
          </a:p>
        </p:txBody>
      </p:sp>
      <p:sp>
        <p:nvSpPr>
          <p:cNvPr id="28" name="Text 26"/>
          <p:cNvSpPr txBox="1"/>
          <p:nvPr/>
        </p:nvSpPr>
        <p:spPr>
          <a:xfrm>
            <a:off x="5248656" y="3849624"/>
            <a:ext cx="1975104" cy="438912"/>
          </a:xfrm>
          <a:prstGeom prst="rect">
            <a:avLst/>
          </a:prstGeom>
          <a:noFill/>
          <a:ln/>
        </p:spPr>
        <p:txBody>
          <a:bodyPr wrap="square" lIns="0" tIns="0" rIns="0" bIns="0" rtlCol="0" anchor="ctr"/>
          <a:lstStyle/>
          <a:p>
            <a:pPr algn="ctr" indent="0" marL="0">
              <a:lnSpc>
                <a:spcPts val="1200"/>
              </a:lnSpc>
              <a:buNone/>
            </a:pPr>
            <a:r>
              <a:rPr lang="en-US" sz="950" dirty="0">
                <a:solidFill>
                  <a:srgbClr val="6B6252"/>
                </a:solidFill>
                <a:latin typeface="Calibri" pitchFamily="34" charset="0"/>
                <a:ea typeface="Calibri" pitchFamily="34" charset="-122"/>
                <a:cs typeface="Calibri" pitchFamily="34" charset="-120"/>
              </a:rPr>
              <a:t>Invisible — no choice involved</a:t>
            </a:r>
            <a:endParaRPr lang="en-US" sz="950" dirty="0"/>
          </a:p>
        </p:txBody>
      </p:sp>
      <p:sp>
        <p:nvSpPr>
          <p:cNvPr id="29" name="Text 27"/>
          <p:cNvSpPr txBox="1"/>
          <p:nvPr/>
        </p:nvSpPr>
        <p:spPr>
          <a:xfrm>
            <a:off x="7424928" y="3849624"/>
            <a:ext cx="1975104" cy="438912"/>
          </a:xfrm>
          <a:prstGeom prst="rect">
            <a:avLst/>
          </a:prstGeom>
          <a:noFill/>
          <a:ln/>
        </p:spPr>
        <p:txBody>
          <a:bodyPr wrap="square" lIns="0" tIns="0" rIns="0" bIns="0" rtlCol="0" anchor="ctr"/>
          <a:lstStyle/>
          <a:p>
            <a:pPr algn="ctr" indent="0" marL="0">
              <a:lnSpc>
                <a:spcPts val="1200"/>
              </a:lnSpc>
              <a:buNone/>
            </a:pPr>
            <a:r>
              <a:rPr lang="en-US" sz="950" dirty="0">
                <a:solidFill>
                  <a:srgbClr val="6B6252"/>
                </a:solidFill>
                <a:latin typeface="Calibri" pitchFamily="34" charset="0"/>
                <a:ea typeface="Calibri" pitchFamily="34" charset="-122"/>
                <a:cs typeface="Calibri" pitchFamily="34" charset="-120"/>
              </a:rPr>
              <a:t>Often refused; metallic taste</a:t>
            </a:r>
            <a:endParaRPr lang="en-US" sz="950" dirty="0"/>
          </a:p>
        </p:txBody>
      </p:sp>
      <p:sp>
        <p:nvSpPr>
          <p:cNvPr id="30" name="Text 28"/>
          <p:cNvSpPr txBox="1"/>
          <p:nvPr/>
        </p:nvSpPr>
        <p:spPr>
          <a:xfrm>
            <a:off x="9601200" y="3849624"/>
            <a:ext cx="1975104" cy="438912"/>
          </a:xfrm>
          <a:prstGeom prst="rect">
            <a:avLst/>
          </a:prstGeom>
          <a:noFill/>
          <a:ln/>
        </p:spPr>
        <p:txBody>
          <a:bodyPr wrap="square" lIns="0" tIns="0" rIns="0" bIns="0" rtlCol="0" anchor="ctr"/>
          <a:lstStyle/>
          <a:p>
            <a:pPr algn="ctr" indent="0" marL="0">
              <a:lnSpc>
                <a:spcPts val="1200"/>
              </a:lnSpc>
              <a:buNone/>
            </a:pPr>
            <a:r>
              <a:rPr lang="en-US" sz="980" b="1" dirty="0">
                <a:solidFill>
                  <a:srgbClr val="3F5B3E"/>
                </a:solidFill>
                <a:latin typeface="Calibri" pitchFamily="34" charset="0"/>
                <a:ea typeface="Calibri" pitchFamily="34" charset="-122"/>
                <a:cs typeface="Calibri" pitchFamily="34" charset="-120"/>
              </a:rPr>
              <a:t>Designed to be wanted</a:t>
            </a:r>
            <a:endParaRPr lang="en-US" sz="980" dirty="0"/>
          </a:p>
        </p:txBody>
      </p:sp>
      <p:sp>
        <p:nvSpPr>
          <p:cNvPr id="31" name="Shape 29"/>
          <p:cNvSpPr/>
          <p:nvPr/>
        </p:nvSpPr>
        <p:spPr>
          <a:xfrm>
            <a:off x="548640" y="4334256"/>
            <a:ext cx="11091672" cy="530352"/>
          </a:xfrm>
          <a:prstGeom prst="rect">
            <a:avLst/>
          </a:prstGeom>
          <a:solidFill>
            <a:srgbClr val="EAE1CE"/>
          </a:solidFill>
          <a:ln w="12700">
            <a:solidFill>
              <a:srgbClr val="EAE1CE"/>
            </a:solidFill>
            <a:prstDash val="solid"/>
          </a:ln>
        </p:spPr>
      </p:sp>
      <p:sp>
        <p:nvSpPr>
          <p:cNvPr id="32" name="Text 30"/>
          <p:cNvSpPr txBox="1"/>
          <p:nvPr/>
        </p:nvSpPr>
        <p:spPr>
          <a:xfrm>
            <a:off x="658368" y="4389120"/>
            <a:ext cx="2212848" cy="420624"/>
          </a:xfrm>
          <a:prstGeom prst="rect">
            <a:avLst/>
          </a:prstGeom>
          <a:noFill/>
          <a:ln/>
        </p:spPr>
        <p:txBody>
          <a:bodyPr wrap="square" lIns="0" tIns="0" rIns="0" bIns="0" rtlCol="0" anchor="ctr"/>
          <a:lstStyle/>
          <a:p>
            <a:pPr indent="0" marL="0">
              <a:buNone/>
            </a:pPr>
            <a:r>
              <a:rPr lang="en-US" sz="1050" b="1" dirty="0">
                <a:solidFill>
                  <a:srgbClr val="2B2318"/>
                </a:solidFill>
                <a:latin typeface="Calibri" pitchFamily="34" charset="0"/>
                <a:ea typeface="Calibri" pitchFamily="34" charset="-122"/>
                <a:cs typeface="Calibri" pitchFamily="34" charset="-120"/>
              </a:rPr>
              <a:t>Per-child verification</a:t>
            </a:r>
            <a:endParaRPr lang="en-US" sz="1050" dirty="0"/>
          </a:p>
        </p:txBody>
      </p:sp>
      <p:sp>
        <p:nvSpPr>
          <p:cNvPr id="33" name="Text 31"/>
          <p:cNvSpPr txBox="1"/>
          <p:nvPr/>
        </p:nvSpPr>
        <p:spPr>
          <a:xfrm>
            <a:off x="3072384" y="4379976"/>
            <a:ext cx="1975104" cy="438912"/>
          </a:xfrm>
          <a:prstGeom prst="rect">
            <a:avLst/>
          </a:prstGeom>
          <a:noFill/>
          <a:ln/>
        </p:spPr>
        <p:txBody>
          <a:bodyPr wrap="square" lIns="0" tIns="0" rIns="0" bIns="0" rtlCol="0" anchor="ctr"/>
          <a:lstStyle/>
          <a:p>
            <a:pPr algn="ctr" indent="0" marL="0">
              <a:lnSpc>
                <a:spcPts val="1200"/>
              </a:lnSpc>
              <a:buNone/>
            </a:pPr>
            <a:r>
              <a:rPr lang="en-US" sz="950" dirty="0">
                <a:solidFill>
                  <a:srgbClr val="6B6252"/>
                </a:solidFill>
                <a:latin typeface="Calibri" pitchFamily="34" charset="0"/>
                <a:ea typeface="Calibri" pitchFamily="34" charset="-122"/>
                <a:cs typeface="Calibri" pitchFamily="34" charset="-120"/>
              </a:rPr>
              <a:t>Attendance register</a:t>
            </a:r>
            <a:endParaRPr lang="en-US" sz="950" dirty="0"/>
          </a:p>
        </p:txBody>
      </p:sp>
      <p:sp>
        <p:nvSpPr>
          <p:cNvPr id="34" name="Text 32"/>
          <p:cNvSpPr txBox="1"/>
          <p:nvPr/>
        </p:nvSpPr>
        <p:spPr>
          <a:xfrm>
            <a:off x="5248656" y="4379976"/>
            <a:ext cx="1975104" cy="438912"/>
          </a:xfrm>
          <a:prstGeom prst="rect">
            <a:avLst/>
          </a:prstGeom>
          <a:noFill/>
          <a:ln/>
        </p:spPr>
        <p:txBody>
          <a:bodyPr wrap="square" lIns="0" tIns="0" rIns="0" bIns="0" rtlCol="0" anchor="ctr"/>
          <a:lstStyle/>
          <a:p>
            <a:pPr algn="ctr" indent="0" marL="0">
              <a:lnSpc>
                <a:spcPts val="1200"/>
              </a:lnSpc>
              <a:buNone/>
            </a:pPr>
            <a:r>
              <a:rPr lang="en-US" sz="950" dirty="0">
                <a:solidFill>
                  <a:srgbClr val="6B6252"/>
                </a:solidFill>
                <a:latin typeface="Calibri" pitchFamily="34" charset="0"/>
                <a:ea typeface="Calibri" pitchFamily="34" charset="-122"/>
                <a:cs typeface="Calibri" pitchFamily="34" charset="-120"/>
              </a:rPr>
              <a:t>None</a:t>
            </a:r>
            <a:endParaRPr lang="en-US" sz="950" dirty="0"/>
          </a:p>
        </p:txBody>
      </p:sp>
      <p:sp>
        <p:nvSpPr>
          <p:cNvPr id="35" name="Text 33"/>
          <p:cNvSpPr txBox="1"/>
          <p:nvPr/>
        </p:nvSpPr>
        <p:spPr>
          <a:xfrm>
            <a:off x="7424928" y="4379976"/>
            <a:ext cx="1975104" cy="438912"/>
          </a:xfrm>
          <a:prstGeom prst="rect">
            <a:avLst/>
          </a:prstGeom>
          <a:noFill/>
          <a:ln/>
        </p:spPr>
        <p:txBody>
          <a:bodyPr wrap="square" lIns="0" tIns="0" rIns="0" bIns="0" rtlCol="0" anchor="ctr"/>
          <a:lstStyle/>
          <a:p>
            <a:pPr algn="ctr" indent="0" marL="0">
              <a:lnSpc>
                <a:spcPts val="1200"/>
              </a:lnSpc>
              <a:buNone/>
            </a:pPr>
            <a:r>
              <a:rPr lang="en-US" sz="950" dirty="0">
                <a:solidFill>
                  <a:srgbClr val="6B6252"/>
                </a:solidFill>
                <a:latin typeface="Calibri" pitchFamily="34" charset="0"/>
                <a:ea typeface="Calibri" pitchFamily="34" charset="-122"/>
                <a:cs typeface="Calibri" pitchFamily="34" charset="-120"/>
              </a:rPr>
              <a:t>Register only</a:t>
            </a:r>
            <a:endParaRPr lang="en-US" sz="950" dirty="0"/>
          </a:p>
        </p:txBody>
      </p:sp>
      <p:sp>
        <p:nvSpPr>
          <p:cNvPr id="36" name="Text 34"/>
          <p:cNvSpPr txBox="1"/>
          <p:nvPr/>
        </p:nvSpPr>
        <p:spPr>
          <a:xfrm>
            <a:off x="9601200" y="4379976"/>
            <a:ext cx="1975104" cy="438912"/>
          </a:xfrm>
          <a:prstGeom prst="rect">
            <a:avLst/>
          </a:prstGeom>
          <a:noFill/>
          <a:ln/>
        </p:spPr>
        <p:txBody>
          <a:bodyPr wrap="square" lIns="0" tIns="0" rIns="0" bIns="0" rtlCol="0" anchor="ctr"/>
          <a:lstStyle/>
          <a:p>
            <a:pPr algn="ctr" indent="0" marL="0">
              <a:lnSpc>
                <a:spcPts val="1200"/>
              </a:lnSpc>
              <a:buNone/>
            </a:pPr>
            <a:r>
              <a:rPr lang="en-US" sz="980" b="1" dirty="0">
                <a:solidFill>
                  <a:srgbClr val="3F5B3E"/>
                </a:solidFill>
                <a:latin typeface="Calibri" pitchFamily="34" charset="0"/>
                <a:ea typeface="Calibri" pitchFamily="34" charset="-122"/>
                <a:cs typeface="Calibri" pitchFamily="34" charset="-120"/>
              </a:rPr>
              <a:t>Pack code plus redeemed bridge</a:t>
            </a:r>
            <a:endParaRPr lang="en-US" sz="980" dirty="0"/>
          </a:p>
        </p:txBody>
      </p:sp>
      <p:sp>
        <p:nvSpPr>
          <p:cNvPr id="37" name="Text 35"/>
          <p:cNvSpPr txBox="1"/>
          <p:nvPr/>
        </p:nvSpPr>
        <p:spPr>
          <a:xfrm>
            <a:off x="658368" y="4919472"/>
            <a:ext cx="2212848" cy="603504"/>
          </a:xfrm>
          <a:prstGeom prst="rect">
            <a:avLst/>
          </a:prstGeom>
          <a:noFill/>
          <a:ln/>
        </p:spPr>
        <p:txBody>
          <a:bodyPr wrap="square" lIns="0" tIns="0" rIns="0" bIns="0" rtlCol="0" anchor="ctr"/>
          <a:lstStyle/>
          <a:p>
            <a:pPr indent="0" marL="0">
              <a:buNone/>
            </a:pPr>
            <a:r>
              <a:rPr lang="en-US" sz="1050" b="1" dirty="0">
                <a:solidFill>
                  <a:srgbClr val="2B2318"/>
                </a:solidFill>
                <a:latin typeface="Calibri" pitchFamily="34" charset="0"/>
                <a:ea typeface="Calibri" pitchFamily="34" charset="-122"/>
                <a:cs typeface="Calibri" pitchFamily="34" charset="-120"/>
              </a:rPr>
              <a:t>Cost to the state</a:t>
            </a:r>
            <a:endParaRPr lang="en-US" sz="1050" dirty="0"/>
          </a:p>
        </p:txBody>
      </p:sp>
      <p:sp>
        <p:nvSpPr>
          <p:cNvPr id="38" name="Text 36"/>
          <p:cNvSpPr txBox="1"/>
          <p:nvPr/>
        </p:nvSpPr>
        <p:spPr>
          <a:xfrm>
            <a:off x="3072384" y="4910328"/>
            <a:ext cx="1975104" cy="621792"/>
          </a:xfrm>
          <a:prstGeom prst="rect">
            <a:avLst/>
          </a:prstGeom>
          <a:noFill/>
          <a:ln/>
        </p:spPr>
        <p:txBody>
          <a:bodyPr wrap="square" lIns="0" tIns="0" rIns="0" bIns="0" rtlCol="0" anchor="ctr"/>
          <a:lstStyle/>
          <a:p>
            <a:pPr algn="ctr" indent="0" marL="0">
              <a:lnSpc>
                <a:spcPts val="1200"/>
              </a:lnSpc>
              <a:buNone/>
            </a:pPr>
            <a:r>
              <a:rPr lang="en-US" sz="950" dirty="0">
                <a:solidFill>
                  <a:srgbClr val="6B6252"/>
                </a:solidFill>
                <a:latin typeface="Calibri" pitchFamily="34" charset="0"/>
                <a:ea typeface="Calibri" pitchFamily="34" charset="-122"/>
                <a:cs typeface="Calibri" pitchFamily="34" charset="-120"/>
              </a:rPr>
              <a:t>₹6.78 primary / ₹10.17 upper primary, per school day (cooking cost, May 2025)</a:t>
            </a:r>
            <a:endParaRPr lang="en-US" sz="950" dirty="0"/>
          </a:p>
        </p:txBody>
      </p:sp>
      <p:sp>
        <p:nvSpPr>
          <p:cNvPr id="39" name="Text 37"/>
          <p:cNvSpPr txBox="1"/>
          <p:nvPr/>
        </p:nvSpPr>
        <p:spPr>
          <a:xfrm>
            <a:off x="5248656" y="4910328"/>
            <a:ext cx="1975104" cy="621792"/>
          </a:xfrm>
          <a:prstGeom prst="rect">
            <a:avLst/>
          </a:prstGeom>
          <a:noFill/>
          <a:ln/>
        </p:spPr>
        <p:txBody>
          <a:bodyPr wrap="square" lIns="0" tIns="0" rIns="0" bIns="0" rtlCol="0" anchor="ctr"/>
          <a:lstStyle/>
          <a:p>
            <a:pPr algn="ctr" indent="0" marL="0">
              <a:lnSpc>
                <a:spcPts val="1200"/>
              </a:lnSpc>
              <a:buNone/>
            </a:pPr>
            <a:r>
              <a:rPr lang="en-US" sz="950" dirty="0">
                <a:solidFill>
                  <a:srgbClr val="6B6252"/>
                </a:solidFill>
                <a:latin typeface="Calibri" pitchFamily="34" charset="0"/>
                <a:ea typeface="Calibri" pitchFamily="34" charset="-122"/>
                <a:cs typeface="Calibri" pitchFamily="34" charset="-120"/>
              </a:rPr>
              <a:t>Fortification premium only</a:t>
            </a:r>
            <a:endParaRPr lang="en-US" sz="950" dirty="0"/>
          </a:p>
        </p:txBody>
      </p:sp>
      <p:sp>
        <p:nvSpPr>
          <p:cNvPr id="40" name="Text 38"/>
          <p:cNvSpPr txBox="1"/>
          <p:nvPr/>
        </p:nvSpPr>
        <p:spPr>
          <a:xfrm>
            <a:off x="7424928" y="4910328"/>
            <a:ext cx="1975104" cy="621792"/>
          </a:xfrm>
          <a:prstGeom prst="rect">
            <a:avLst/>
          </a:prstGeom>
          <a:noFill/>
          <a:ln/>
        </p:spPr>
        <p:txBody>
          <a:bodyPr wrap="square" lIns="0" tIns="0" rIns="0" bIns="0" rtlCol="0" anchor="ctr"/>
          <a:lstStyle/>
          <a:p>
            <a:pPr algn="ctr" indent="0" marL="0">
              <a:lnSpc>
                <a:spcPts val="1200"/>
              </a:lnSpc>
              <a:buNone/>
            </a:pPr>
            <a:r>
              <a:rPr lang="en-US" sz="950" dirty="0">
                <a:solidFill>
                  <a:srgbClr val="6B6252"/>
                </a:solidFill>
                <a:latin typeface="Calibri" pitchFamily="34" charset="0"/>
                <a:ea typeface="Calibri" pitchFamily="34" charset="-122"/>
                <a:cs typeface="Calibri" pitchFamily="34" charset="-120"/>
              </a:rPr>
              <a:t>Negligible per dose</a:t>
            </a:r>
            <a:endParaRPr lang="en-US" sz="950" dirty="0"/>
          </a:p>
        </p:txBody>
      </p:sp>
      <p:sp>
        <p:nvSpPr>
          <p:cNvPr id="41" name="Text 39"/>
          <p:cNvSpPr txBox="1"/>
          <p:nvPr/>
        </p:nvSpPr>
        <p:spPr>
          <a:xfrm>
            <a:off x="9601200" y="4910328"/>
            <a:ext cx="1975104" cy="621792"/>
          </a:xfrm>
          <a:prstGeom prst="rect">
            <a:avLst/>
          </a:prstGeom>
          <a:noFill/>
          <a:ln/>
        </p:spPr>
        <p:txBody>
          <a:bodyPr wrap="square" lIns="0" tIns="0" rIns="0" bIns="0" rtlCol="0" anchor="ctr"/>
          <a:lstStyle/>
          <a:p>
            <a:pPr algn="ctr" indent="0" marL="0">
              <a:lnSpc>
                <a:spcPts val="1200"/>
              </a:lnSpc>
              <a:buNone/>
            </a:pPr>
            <a:r>
              <a:rPr lang="en-US" sz="980" b="1" dirty="0">
                <a:solidFill>
                  <a:srgbClr val="3F5B3E"/>
                </a:solidFill>
                <a:latin typeface="Calibri" pitchFamily="34" charset="0"/>
                <a:ea typeface="Calibri" pitchFamily="34" charset="-122"/>
                <a:cs typeface="Calibri" pitchFamily="34" charset="-120"/>
              </a:rPr>
              <a:t>₹7 a serve · 3 a week · ₹840 per child a year</a:t>
            </a:r>
            <a:endParaRPr lang="en-US" sz="980" dirty="0"/>
          </a:p>
        </p:txBody>
      </p:sp>
      <p:sp>
        <p:nvSpPr>
          <p:cNvPr id="42" name="Shape 40"/>
          <p:cNvSpPr/>
          <p:nvPr/>
        </p:nvSpPr>
        <p:spPr>
          <a:xfrm>
            <a:off x="548640" y="5650992"/>
            <a:ext cx="11091672" cy="603504"/>
          </a:xfrm>
          <a:prstGeom prst="roundRect">
            <a:avLst>
              <a:gd name="adj" fmla="val 13636"/>
            </a:avLst>
          </a:prstGeom>
          <a:solidFill>
            <a:srgbClr val="FCF3E0"/>
          </a:solidFill>
          <a:ln w="12700">
            <a:solidFill>
              <a:srgbClr val="EAE1CE"/>
            </a:solidFill>
            <a:prstDash val="solid"/>
          </a:ln>
          <a:effectLst>
            <a:outerShdw sx="100000" sy="100000" kx="0" ky="0" algn="bl" rotWithShape="0" blurRad="76200" dist="12700" dir="5400000">
              <a:srgbClr val="8A7C64">
                <a:alpha val="16000"/>
              </a:srgbClr>
            </a:outerShdw>
          </a:effectLst>
        </p:spPr>
      </p:sp>
      <p:sp>
        <p:nvSpPr>
          <p:cNvPr id="43" name="Text 41"/>
          <p:cNvSpPr txBox="1"/>
          <p:nvPr/>
        </p:nvSpPr>
        <p:spPr>
          <a:xfrm>
            <a:off x="841248" y="5815584"/>
            <a:ext cx="3108960" cy="274320"/>
          </a:xfrm>
          <a:prstGeom prst="rect">
            <a:avLst/>
          </a:prstGeom>
          <a:noFill/>
          <a:ln/>
        </p:spPr>
        <p:txBody>
          <a:bodyPr wrap="square" lIns="0" tIns="0" rIns="0" bIns="0" rtlCol="0" anchor="t"/>
          <a:lstStyle/>
          <a:p>
            <a:pPr indent="0" marL="0">
              <a:buNone/>
            </a:pPr>
            <a:r>
              <a:rPr lang="en-US" sz="1200" b="1" dirty="0">
                <a:solidFill>
                  <a:srgbClr val="8F6115"/>
                </a:solidFill>
                <a:latin typeface="Calibri" pitchFamily="34" charset="0"/>
                <a:ea typeface="Calibri" pitchFamily="34" charset="-122"/>
                <a:cs typeface="Calibri" pitchFamily="34" charset="-120"/>
              </a:rPr>
              <a:t>We are not asking a state to replace the meal.</a:t>
            </a:r>
            <a:endParaRPr lang="en-US" sz="1200" dirty="0"/>
          </a:p>
        </p:txBody>
      </p:sp>
      <p:sp>
        <p:nvSpPr>
          <p:cNvPr id="44" name="Text 42"/>
          <p:cNvSpPr txBox="1"/>
          <p:nvPr/>
        </p:nvSpPr>
        <p:spPr>
          <a:xfrm>
            <a:off x="4114800" y="5760720"/>
            <a:ext cx="7251192" cy="420624"/>
          </a:xfrm>
          <a:prstGeom prst="rect">
            <a:avLst/>
          </a:prstGeom>
          <a:noFill/>
          <a:ln/>
        </p:spPr>
        <p:txBody>
          <a:bodyPr wrap="square" lIns="0" tIns="0" rIns="0" bIns="0" rtlCol="0" anchor="t"/>
          <a:lstStyle/>
          <a:p>
            <a:pPr indent="0" marL="0">
              <a:lnSpc>
                <a:spcPts val="1350"/>
              </a:lnSpc>
              <a:buNone/>
            </a:pPr>
            <a:r>
              <a:rPr lang="en-US" sz="1050" dirty="0">
                <a:solidFill>
                  <a:srgbClr val="6B6252"/>
                </a:solidFill>
                <a:latin typeface="Calibri" pitchFamily="34" charset="0"/>
                <a:ea typeface="Calibri" pitchFamily="34" charset="-122"/>
                <a:cs typeface="Calibri" pitchFamily="34" charset="-120"/>
              </a:rPr>
              <a:t>We are asking it to spend ₹840 a year on the 20% of children its own school health screening has already flagged — a targeted micronutrient intervention alongside the meal, not a universal replacement for it.</a:t>
            </a:r>
            <a:endParaRPr lang="en-US" sz="1050" dirty="0"/>
          </a:p>
        </p:txBody>
      </p:sp>
      <p:sp>
        <p:nvSpPr>
          <p:cNvPr id="45" name="Text 43"/>
          <p:cNvSpPr txBox="1"/>
          <p:nvPr/>
        </p:nvSpPr>
        <p:spPr>
          <a:xfrm>
            <a:off x="548640" y="6419088"/>
            <a:ext cx="4572000" cy="256032"/>
          </a:xfrm>
          <a:prstGeom prst="rect">
            <a:avLst/>
          </a:prstGeom>
          <a:noFill/>
          <a:ln/>
        </p:spPr>
        <p:txBody>
          <a:bodyPr wrap="square" lIns="0" tIns="0" rIns="0" bIns="0" rtlCol="0" anchor="ctr"/>
          <a:lstStyle/>
          <a:p>
            <a:pPr indent="0" marL="0">
              <a:buNone/>
            </a:pPr>
            <a:r>
              <a:rPr lang="en-US" sz="900" dirty="0">
                <a:solidFill>
                  <a:srgbClr val="9C907A"/>
                </a:solidFill>
                <a:latin typeface="Calibri" pitchFamily="34" charset="0"/>
                <a:ea typeface="Calibri" pitchFamily="34" charset="-122"/>
                <a:cs typeface="Calibri" pitchFamily="34" charset="-120"/>
              </a:rPr>
              <a:t>PoshanSetu — F&amp;B Submission</a:t>
            </a:r>
            <a:endParaRPr lang="en-US" sz="900" dirty="0"/>
          </a:p>
        </p:txBody>
      </p:sp>
      <p:sp>
        <p:nvSpPr>
          <p:cNvPr id="46" name="Text 44"/>
          <p:cNvSpPr txBox="1"/>
          <p:nvPr/>
        </p:nvSpPr>
        <p:spPr>
          <a:xfrm>
            <a:off x="10058400" y="6419088"/>
            <a:ext cx="1581912" cy="256032"/>
          </a:xfrm>
          <a:prstGeom prst="rect">
            <a:avLst/>
          </a:prstGeom>
          <a:noFill/>
          <a:ln/>
        </p:spPr>
        <p:txBody>
          <a:bodyPr wrap="square" lIns="0" tIns="0" rIns="0" bIns="0" rtlCol="0" anchor="ctr"/>
          <a:lstStyle/>
          <a:p>
            <a:pPr algn="r" indent="0" marL="0">
              <a:buNone/>
            </a:pPr>
            <a:r>
              <a:rPr lang="en-US" sz="900" dirty="0">
                <a:solidFill>
                  <a:srgbClr val="9C907A"/>
                </a:solidFill>
                <a:latin typeface="Calibri" pitchFamily="34" charset="0"/>
                <a:ea typeface="Calibri" pitchFamily="34" charset="-122"/>
                <a:cs typeface="Calibri" pitchFamily="34" charset="-120"/>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100" b="1" spc="220" kern="0" dirty="0">
                <a:solidFill>
                  <a:srgbClr val="7A2E1E"/>
                </a:solidFill>
                <a:latin typeface="Calibri" pitchFamily="34" charset="0"/>
                <a:ea typeface="Calibri" pitchFamily="34" charset="-122"/>
                <a:cs typeface="Calibri" pitchFamily="34" charset="-120"/>
              </a:rPr>
              <a:t>07 · WHY US, NOT ANOTHER SUPPLIER</a:t>
            </a:r>
            <a:endParaRPr lang="en-US" sz="1100" dirty="0"/>
          </a:p>
        </p:txBody>
      </p:sp>
      <p:sp>
        <p:nvSpPr>
          <p:cNvPr id="3" name="Text 1"/>
          <p:cNvSpPr txBox="1"/>
          <p:nvPr/>
        </p:nvSpPr>
        <p:spPr>
          <a:xfrm>
            <a:off x="548640" y="713232"/>
            <a:ext cx="11091672" cy="868680"/>
          </a:xfrm>
          <a:prstGeom prst="rect">
            <a:avLst/>
          </a:prstGeom>
          <a:noFill/>
          <a:ln/>
        </p:spPr>
        <p:txBody>
          <a:bodyPr wrap="square" lIns="0" tIns="0" rIns="0" bIns="0" rtlCol="0" anchor="t"/>
          <a:lstStyle/>
          <a:p>
            <a:pPr indent="0" marL="0">
              <a:lnSpc>
                <a:spcPts val="3600"/>
              </a:lnSpc>
              <a:buNone/>
            </a:pPr>
            <a:r>
              <a:rPr lang="en-US" sz="3000" b="1" dirty="0">
                <a:solidFill>
                  <a:srgbClr val="2B2318"/>
                </a:solidFill>
                <a:latin typeface="Cambria" pitchFamily="34" charset="0"/>
                <a:ea typeface="Cambria" pitchFamily="34" charset="-122"/>
                <a:cs typeface="Cambria" pitchFamily="34" charset="-120"/>
              </a:rPr>
              <a:t>Four reasons a procurement officer picks us over an incumbent.</a:t>
            </a:r>
            <a:endParaRPr lang="en-US" sz="3000" dirty="0"/>
          </a:p>
        </p:txBody>
      </p:sp>
      <p:sp>
        <p:nvSpPr>
          <p:cNvPr id="4" name="Shape 2"/>
          <p:cNvSpPr/>
          <p:nvPr/>
        </p:nvSpPr>
        <p:spPr>
          <a:xfrm>
            <a:off x="548640" y="1783080"/>
            <a:ext cx="2670048" cy="2743200"/>
          </a:xfrm>
          <a:prstGeom prst="roundRect">
            <a:avLst>
              <a:gd name="adj" fmla="val 3082"/>
            </a:avLst>
          </a:prstGeom>
          <a:solidFill>
            <a:srgbClr val="FBEDE9"/>
          </a:solidFill>
          <a:ln w="12700">
            <a:solidFill>
              <a:srgbClr val="E8D3CB"/>
            </a:solidFill>
            <a:prstDash val="solid"/>
          </a:ln>
          <a:effectLst>
            <a:outerShdw sx="100000" sy="100000" kx="0" ky="0" algn="bl" rotWithShape="0" blurRad="76200" dist="12700" dir="5400000">
              <a:srgbClr val="8A7C64">
                <a:alpha val="16000"/>
              </a:srgbClr>
            </a:outerShdw>
          </a:effectLst>
        </p:spPr>
      </p:sp>
      <p:sp>
        <p:nvSpPr>
          <p:cNvPr id="5" name="Text 3"/>
          <p:cNvSpPr txBox="1"/>
          <p:nvPr/>
        </p:nvSpPr>
        <p:spPr>
          <a:xfrm>
            <a:off x="768096" y="1965960"/>
            <a:ext cx="2231136" cy="457200"/>
          </a:xfrm>
          <a:prstGeom prst="rect">
            <a:avLst/>
          </a:prstGeom>
          <a:noFill/>
          <a:ln/>
        </p:spPr>
        <p:txBody>
          <a:bodyPr wrap="square" lIns="0" tIns="0" rIns="0" bIns="0" rtlCol="0" anchor="t"/>
          <a:lstStyle/>
          <a:p>
            <a:pPr indent="0" marL="0">
              <a:lnSpc>
                <a:spcPts val="1300"/>
              </a:lnSpc>
              <a:buNone/>
            </a:pPr>
            <a:r>
              <a:rPr lang="en-US" sz="1000" b="1" spc="120" kern="0" dirty="0">
                <a:solidFill>
                  <a:srgbClr val="7A2E1E"/>
                </a:solidFill>
                <a:latin typeface="Calibri" pitchFamily="34" charset="0"/>
                <a:ea typeface="Calibri" pitchFamily="34" charset="-122"/>
                <a:cs typeface="Calibri" pitchFamily="34" charset="-120"/>
              </a:rPr>
              <a:t>NOBODY MAKES THIS</a:t>
            </a:r>
            <a:endParaRPr lang="en-US" sz="1000" dirty="0"/>
          </a:p>
        </p:txBody>
      </p:sp>
      <p:sp>
        <p:nvSpPr>
          <p:cNvPr id="6" name="Text 4"/>
          <p:cNvSpPr txBox="1"/>
          <p:nvPr/>
        </p:nvSpPr>
        <p:spPr>
          <a:xfrm>
            <a:off x="768096" y="2487168"/>
            <a:ext cx="2231136" cy="1874520"/>
          </a:xfrm>
          <a:prstGeom prst="rect">
            <a:avLst/>
          </a:prstGeom>
          <a:noFill/>
          <a:ln/>
        </p:spPr>
        <p:txBody>
          <a:bodyPr wrap="square" lIns="0" tIns="0" rIns="0" bIns="0" rtlCol="0" anchor="t"/>
          <a:lstStyle/>
          <a:p>
            <a:pPr indent="0" marL="0">
              <a:lnSpc>
                <a:spcPts val="1400"/>
              </a:lnSpc>
              <a:buNone/>
            </a:pPr>
            <a:r>
              <a:rPr lang="en-US" sz="1050" dirty="0">
                <a:solidFill>
                  <a:srgbClr val="6B6252"/>
                </a:solidFill>
                <a:latin typeface="Calibri" pitchFamily="34" charset="0"/>
                <a:ea typeface="Calibri" pitchFamily="34" charset="-122"/>
                <a:cs typeface="Calibri" pitchFamily="34" charset="-120"/>
              </a:rPr>
              <a:t>RUTF makers (Nuflower, Hexagon, Amul) build for severe acute malnutrition in 6–59 month olds. Fortified rice is an ingredient. IFA is pharma. Millet startups sell online to metro parents. No incumbent has a 5–12 school-day product.</a:t>
            </a:r>
            <a:endParaRPr lang="en-US" sz="1050" dirty="0"/>
          </a:p>
        </p:txBody>
      </p:sp>
      <p:sp>
        <p:nvSpPr>
          <p:cNvPr id="7" name="Shape 5"/>
          <p:cNvSpPr/>
          <p:nvPr/>
        </p:nvSpPr>
        <p:spPr>
          <a:xfrm>
            <a:off x="3415284" y="1783080"/>
            <a:ext cx="2670048" cy="2743200"/>
          </a:xfrm>
          <a:prstGeom prst="roundRect">
            <a:avLst>
              <a:gd name="adj" fmla="val 3082"/>
            </a:avLst>
          </a:prstGeom>
          <a:solidFill>
            <a:srgbClr val="EEF3EC"/>
          </a:solidFill>
          <a:ln w="12700">
            <a:solidFill>
              <a:srgbClr val="CFE0CC"/>
            </a:solidFill>
            <a:prstDash val="solid"/>
          </a:ln>
          <a:effectLst>
            <a:outerShdw sx="100000" sy="100000" kx="0" ky="0" algn="bl" rotWithShape="0" blurRad="76200" dist="12700" dir="5400000">
              <a:srgbClr val="8A7C64">
                <a:alpha val="16000"/>
              </a:srgbClr>
            </a:outerShdw>
          </a:effectLst>
        </p:spPr>
      </p:sp>
      <p:sp>
        <p:nvSpPr>
          <p:cNvPr id="8" name="Text 6"/>
          <p:cNvSpPr txBox="1"/>
          <p:nvPr/>
        </p:nvSpPr>
        <p:spPr>
          <a:xfrm>
            <a:off x="3634740" y="1965960"/>
            <a:ext cx="2231136" cy="457200"/>
          </a:xfrm>
          <a:prstGeom prst="rect">
            <a:avLst/>
          </a:prstGeom>
          <a:noFill/>
          <a:ln/>
        </p:spPr>
        <p:txBody>
          <a:bodyPr wrap="square" lIns="0" tIns="0" rIns="0" bIns="0" rtlCol="0" anchor="t"/>
          <a:lstStyle/>
          <a:p>
            <a:pPr indent="0" marL="0">
              <a:lnSpc>
                <a:spcPts val="1300"/>
              </a:lnSpc>
              <a:buNone/>
            </a:pPr>
            <a:r>
              <a:rPr lang="en-US" sz="1000" b="1" spc="120" kern="0" dirty="0">
                <a:solidFill>
                  <a:srgbClr val="3F5B3E"/>
                </a:solidFill>
                <a:latin typeface="Calibri" pitchFamily="34" charset="0"/>
                <a:ea typeface="Calibri" pitchFamily="34" charset="-122"/>
                <a:cs typeface="Calibri" pitchFamily="34" charset="-120"/>
              </a:rPr>
              <a:t>PROCUREMENT-ALIGNED BY DESIGN</a:t>
            </a:r>
            <a:endParaRPr lang="en-US" sz="1000" dirty="0"/>
          </a:p>
        </p:txBody>
      </p:sp>
      <p:sp>
        <p:nvSpPr>
          <p:cNvPr id="9" name="Text 7"/>
          <p:cNvSpPr txBox="1"/>
          <p:nvPr/>
        </p:nvSpPr>
        <p:spPr>
          <a:xfrm>
            <a:off x="3634740" y="2487168"/>
            <a:ext cx="2231136" cy="1874520"/>
          </a:xfrm>
          <a:prstGeom prst="rect">
            <a:avLst/>
          </a:prstGeom>
          <a:noFill/>
          <a:ln/>
        </p:spPr>
        <p:txBody>
          <a:bodyPr wrap="square" lIns="0" tIns="0" rIns="0" bIns="0" rtlCol="0" anchor="t"/>
          <a:lstStyle/>
          <a:p>
            <a:pPr indent="0" marL="0">
              <a:lnSpc>
                <a:spcPts val="1400"/>
              </a:lnSpc>
              <a:buNone/>
            </a:pPr>
            <a:r>
              <a:rPr lang="en-US" sz="1050" dirty="0">
                <a:solidFill>
                  <a:srgbClr val="6B6252"/>
                </a:solidFill>
                <a:latin typeface="Calibri" pitchFamily="34" charset="0"/>
                <a:ea typeface="Calibri" pitchFamily="34" charset="-122"/>
                <a:cs typeface="Calibri" pitchFamily="34" charset="-120"/>
              </a:rPr>
              <a:t>Poshan 2.0 already mandates millets in supplementary nutrition at least once a week, and a parliamentary committee has recommended a millet-based diet chart for PM POSHAN. A ragi-and-bajra base is not a preference — it is the policy direction.</a:t>
            </a:r>
            <a:endParaRPr lang="en-US" sz="1050" dirty="0"/>
          </a:p>
        </p:txBody>
      </p:sp>
      <p:sp>
        <p:nvSpPr>
          <p:cNvPr id="10" name="Shape 8"/>
          <p:cNvSpPr/>
          <p:nvPr/>
        </p:nvSpPr>
        <p:spPr>
          <a:xfrm>
            <a:off x="6281928" y="1783080"/>
            <a:ext cx="2670048" cy="2743200"/>
          </a:xfrm>
          <a:prstGeom prst="roundRect">
            <a:avLst>
              <a:gd name="adj" fmla="val 3082"/>
            </a:avLst>
          </a:prstGeom>
          <a:solidFill>
            <a:srgbClr val="F6EAF0"/>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11" name="Text 9"/>
          <p:cNvSpPr txBox="1"/>
          <p:nvPr/>
        </p:nvSpPr>
        <p:spPr>
          <a:xfrm>
            <a:off x="6501384" y="1965960"/>
            <a:ext cx="2231136" cy="457200"/>
          </a:xfrm>
          <a:prstGeom prst="rect">
            <a:avLst/>
          </a:prstGeom>
          <a:noFill/>
          <a:ln/>
        </p:spPr>
        <p:txBody>
          <a:bodyPr wrap="square" lIns="0" tIns="0" rIns="0" bIns="0" rtlCol="0" anchor="t"/>
          <a:lstStyle/>
          <a:p>
            <a:pPr indent="0" marL="0">
              <a:lnSpc>
                <a:spcPts val="1300"/>
              </a:lnSpc>
              <a:buNone/>
            </a:pPr>
            <a:r>
              <a:rPr lang="en-US" sz="1000" b="1" spc="120" kern="0" dirty="0">
                <a:solidFill>
                  <a:srgbClr val="6B3452"/>
                </a:solidFill>
                <a:latin typeface="Calibri" pitchFamily="34" charset="0"/>
                <a:ea typeface="Calibri" pitchFamily="34" charset="-122"/>
                <a:cs typeface="Calibri" pitchFamily="34" charset="-120"/>
              </a:rPr>
              <a:t>WE CAN PROVE CONSUMPTION</a:t>
            </a:r>
            <a:endParaRPr lang="en-US" sz="1000" dirty="0"/>
          </a:p>
        </p:txBody>
      </p:sp>
      <p:sp>
        <p:nvSpPr>
          <p:cNvPr id="12" name="Text 10"/>
          <p:cNvSpPr txBox="1"/>
          <p:nvPr/>
        </p:nvSpPr>
        <p:spPr>
          <a:xfrm>
            <a:off x="6501384" y="2487168"/>
            <a:ext cx="2231136" cy="1874520"/>
          </a:xfrm>
          <a:prstGeom prst="rect">
            <a:avLst/>
          </a:prstGeom>
          <a:noFill/>
          <a:ln/>
        </p:spPr>
        <p:txBody>
          <a:bodyPr wrap="square" lIns="0" tIns="0" rIns="0" bIns="0" rtlCol="0" anchor="t"/>
          <a:lstStyle/>
          <a:p>
            <a:pPr indent="0" marL="0">
              <a:lnSpc>
                <a:spcPts val="1400"/>
              </a:lnSpc>
              <a:buNone/>
            </a:pPr>
            <a:r>
              <a:rPr lang="en-US" sz="1050" dirty="0">
                <a:solidFill>
                  <a:srgbClr val="6B6252"/>
                </a:solidFill>
                <a:latin typeface="Calibri" pitchFamily="34" charset="0"/>
                <a:ea typeface="Calibri" pitchFamily="34" charset="-122"/>
                <a:cs typeface="Calibri" pitchFamily="34" charset="-120"/>
              </a:rPr>
              <a:t>Every competitor can prove delivery. None can prove consumption. The pack code and redeemed bridge give a district officer per-child evidence — the single thing an audit-scarred department most wants to buy.</a:t>
            </a:r>
            <a:endParaRPr lang="en-US" sz="1050" dirty="0"/>
          </a:p>
        </p:txBody>
      </p:sp>
      <p:sp>
        <p:nvSpPr>
          <p:cNvPr id="13" name="Shape 11"/>
          <p:cNvSpPr/>
          <p:nvPr/>
        </p:nvSpPr>
        <p:spPr>
          <a:xfrm>
            <a:off x="9148572" y="1783080"/>
            <a:ext cx="2670048" cy="2743200"/>
          </a:xfrm>
          <a:prstGeom prst="roundRect">
            <a:avLst>
              <a:gd name="adj" fmla="val 3082"/>
            </a:avLst>
          </a:prstGeom>
          <a:solidFill>
            <a:srgbClr val="EAF1F5"/>
          </a:solidFill>
          <a:ln w="12700">
            <a:solidFill>
              <a:srgbClr val="CFE0E8"/>
            </a:solidFill>
            <a:prstDash val="solid"/>
          </a:ln>
          <a:effectLst>
            <a:outerShdw sx="100000" sy="100000" kx="0" ky="0" algn="bl" rotWithShape="0" blurRad="76200" dist="12700" dir="5400000">
              <a:srgbClr val="8A7C64">
                <a:alpha val="16000"/>
              </a:srgbClr>
            </a:outerShdw>
          </a:effectLst>
        </p:spPr>
      </p:sp>
      <p:sp>
        <p:nvSpPr>
          <p:cNvPr id="14" name="Text 12"/>
          <p:cNvSpPr txBox="1"/>
          <p:nvPr/>
        </p:nvSpPr>
        <p:spPr>
          <a:xfrm>
            <a:off x="9368028" y="1965960"/>
            <a:ext cx="2231136" cy="457200"/>
          </a:xfrm>
          <a:prstGeom prst="rect">
            <a:avLst/>
          </a:prstGeom>
          <a:noFill/>
          <a:ln/>
        </p:spPr>
        <p:txBody>
          <a:bodyPr wrap="square" lIns="0" tIns="0" rIns="0" bIns="0" rtlCol="0" anchor="t"/>
          <a:lstStyle/>
          <a:p>
            <a:pPr indent="0" marL="0">
              <a:lnSpc>
                <a:spcPts val="1300"/>
              </a:lnSpc>
              <a:buNone/>
            </a:pPr>
            <a:r>
              <a:rPr lang="en-US" sz="1000" b="1" spc="120" kern="0" dirty="0">
                <a:solidFill>
                  <a:srgbClr val="3E5566"/>
                </a:solidFill>
                <a:latin typeface="Calibri" pitchFamily="34" charset="0"/>
                <a:ea typeface="Calibri" pitchFamily="34" charset="-122"/>
                <a:cs typeface="Calibri" pitchFamily="34" charset="-120"/>
              </a:rPr>
              <a:t>WE EXIST OUTSIDE THE TENDER</a:t>
            </a:r>
            <a:endParaRPr lang="en-US" sz="1000" dirty="0"/>
          </a:p>
        </p:txBody>
      </p:sp>
      <p:sp>
        <p:nvSpPr>
          <p:cNvPr id="15" name="Text 13"/>
          <p:cNvSpPr txBox="1"/>
          <p:nvPr/>
        </p:nvSpPr>
        <p:spPr>
          <a:xfrm>
            <a:off x="9368028" y="2487168"/>
            <a:ext cx="2231136" cy="1874520"/>
          </a:xfrm>
          <a:prstGeom prst="rect">
            <a:avLst/>
          </a:prstGeom>
          <a:noFill/>
          <a:ln/>
        </p:spPr>
        <p:txBody>
          <a:bodyPr wrap="square" lIns="0" tIns="0" rIns="0" bIns="0" rtlCol="0" anchor="t"/>
          <a:lstStyle/>
          <a:p>
            <a:pPr indent="0" marL="0">
              <a:lnSpc>
                <a:spcPts val="1400"/>
              </a:lnSpc>
              <a:buNone/>
            </a:pPr>
            <a:r>
              <a:rPr lang="en-US" sz="1050" dirty="0">
                <a:solidFill>
                  <a:srgbClr val="6B6252"/>
                </a:solidFill>
                <a:latin typeface="Calibri" pitchFamily="34" charset="0"/>
                <a:ea typeface="Calibri" pitchFamily="34" charset="-122"/>
                <a:cs typeface="Calibri" pitchFamily="34" charset="-120"/>
              </a:rPr>
              <a:t>A supplier that lives only on government contracts faces no quality pressure. We sell the same product to paying parents at ₹20, which means it has to taste good enough to be bought twice.</a:t>
            </a:r>
            <a:endParaRPr lang="en-US" sz="1050" dirty="0"/>
          </a:p>
        </p:txBody>
      </p:sp>
      <p:sp>
        <p:nvSpPr>
          <p:cNvPr id="16" name="Shape 14"/>
          <p:cNvSpPr/>
          <p:nvPr/>
        </p:nvSpPr>
        <p:spPr>
          <a:xfrm>
            <a:off x="548640" y="4736592"/>
            <a:ext cx="7863840" cy="1508760"/>
          </a:xfrm>
          <a:prstGeom prst="roundRect">
            <a:avLst>
              <a:gd name="adj" fmla="val 5455"/>
            </a:avLst>
          </a:prstGeom>
          <a:solidFill>
            <a:srgbClr val="FCF3E0"/>
          </a:solidFill>
          <a:ln w="12700">
            <a:solidFill>
              <a:srgbClr val="EAE1CE"/>
            </a:solidFill>
            <a:prstDash val="solid"/>
          </a:ln>
          <a:effectLst>
            <a:outerShdw sx="100000" sy="100000" kx="0" ky="0" algn="bl" rotWithShape="0" blurRad="76200" dist="12700" dir="5400000">
              <a:srgbClr val="8A7C64">
                <a:alpha val="16000"/>
              </a:srgbClr>
            </a:outerShdw>
          </a:effectLst>
        </p:spPr>
      </p:sp>
      <p:sp>
        <p:nvSpPr>
          <p:cNvPr id="17" name="Text 15"/>
          <p:cNvSpPr txBox="1"/>
          <p:nvPr/>
        </p:nvSpPr>
        <p:spPr>
          <a:xfrm>
            <a:off x="841248" y="4919472"/>
            <a:ext cx="7315200" cy="256032"/>
          </a:xfrm>
          <a:prstGeom prst="rect">
            <a:avLst/>
          </a:prstGeom>
          <a:noFill/>
          <a:ln/>
        </p:spPr>
        <p:txBody>
          <a:bodyPr wrap="square" lIns="0" tIns="0" rIns="0" bIns="0" rtlCol="0" anchor="ctr"/>
          <a:lstStyle/>
          <a:p>
            <a:pPr indent="0" marL="0">
              <a:buNone/>
            </a:pPr>
            <a:r>
              <a:rPr lang="en-US" sz="1050" b="1" spc="160" kern="0" dirty="0">
                <a:solidFill>
                  <a:srgbClr val="8F6115"/>
                </a:solidFill>
                <a:latin typeface="Calibri" pitchFamily="34" charset="0"/>
                <a:ea typeface="Calibri" pitchFamily="34" charset="-122"/>
                <a:cs typeface="Calibri" pitchFamily="34" charset="-120"/>
              </a:rPr>
              <a:t>WHERE WE WOULD LOSE, AND WE SHOULD SAY SO</a:t>
            </a:r>
            <a:endParaRPr lang="en-US" sz="1050" dirty="0"/>
          </a:p>
        </p:txBody>
      </p:sp>
      <p:sp>
        <p:nvSpPr>
          <p:cNvPr id="18" name="Text 16"/>
          <p:cNvSpPr txBox="1"/>
          <p:nvPr/>
        </p:nvSpPr>
        <p:spPr>
          <a:xfrm>
            <a:off x="841248" y="5212080"/>
            <a:ext cx="7315200" cy="868680"/>
          </a:xfrm>
          <a:prstGeom prst="rect">
            <a:avLst/>
          </a:prstGeom>
          <a:noFill/>
          <a:ln/>
        </p:spPr>
        <p:txBody>
          <a:bodyPr wrap="square" lIns="0" tIns="0" rIns="0" bIns="0" rtlCol="0" anchor="t"/>
          <a:lstStyle/>
          <a:p>
            <a:pPr indent="0" marL="0">
              <a:lnSpc>
                <a:spcPts val="1450"/>
              </a:lnSpc>
              <a:buNone/>
            </a:pPr>
            <a:r>
              <a:rPr lang="en-US" sz="1100" dirty="0">
                <a:solidFill>
                  <a:srgbClr val="2B2318"/>
                </a:solidFill>
                <a:latin typeface="Calibri" pitchFamily="34" charset="0"/>
                <a:ea typeface="Calibri" pitchFamily="34" charset="-122"/>
                <a:cs typeface="Calibri" pitchFamily="34" charset="-120"/>
              </a:rPr>
              <a:t>In states where take-home-ration production is reserved for women's self-help-group federations — Kerala, Odisha, Karnataka among them — a private company cannot realistically compete, and we should not pretend otherwise. We target states that run open e-tenders. Nothing structural stops Dabur or Patanjali launching a competing SKU; what we would have is a head start on outcome data and district relationships, which are slow to copy.</a:t>
            </a:r>
            <a:endParaRPr lang="en-US" sz="1100" dirty="0"/>
          </a:p>
        </p:txBody>
      </p:sp>
      <p:sp>
        <p:nvSpPr>
          <p:cNvPr id="19" name="Shape 17"/>
          <p:cNvSpPr/>
          <p:nvPr/>
        </p:nvSpPr>
        <p:spPr>
          <a:xfrm>
            <a:off x="8613648" y="4736592"/>
            <a:ext cx="3026664" cy="1508760"/>
          </a:xfrm>
          <a:prstGeom prst="roundRect">
            <a:avLst>
              <a:gd name="adj" fmla="val 5455"/>
            </a:avLst>
          </a:prstGeom>
          <a:solidFill>
            <a:srgbClr val="EEF3EC"/>
          </a:solidFill>
          <a:ln w="12700">
            <a:solidFill>
              <a:srgbClr val="CFE0CC"/>
            </a:solidFill>
            <a:prstDash val="solid"/>
          </a:ln>
          <a:effectLst>
            <a:outerShdw sx="100000" sy="100000" kx="0" ky="0" algn="bl" rotWithShape="0" blurRad="76200" dist="12700" dir="5400000">
              <a:srgbClr val="8A7C64">
                <a:alpha val="16000"/>
              </a:srgbClr>
            </a:outerShdw>
          </a:effectLst>
        </p:spPr>
      </p:sp>
      <p:sp>
        <p:nvSpPr>
          <p:cNvPr id="20" name="Text 18"/>
          <p:cNvSpPr txBox="1"/>
          <p:nvPr/>
        </p:nvSpPr>
        <p:spPr>
          <a:xfrm>
            <a:off x="8869680" y="4919472"/>
            <a:ext cx="2560320" cy="256032"/>
          </a:xfrm>
          <a:prstGeom prst="rect">
            <a:avLst/>
          </a:prstGeom>
          <a:noFill/>
          <a:ln/>
        </p:spPr>
        <p:txBody>
          <a:bodyPr wrap="square" lIns="0" tIns="0" rIns="0" bIns="0" rtlCol="0" anchor="ctr"/>
          <a:lstStyle/>
          <a:p>
            <a:pPr indent="0" marL="0">
              <a:buNone/>
            </a:pPr>
            <a:r>
              <a:rPr lang="en-US" sz="1050" b="1" spc="160" kern="0" dirty="0">
                <a:solidFill>
                  <a:srgbClr val="3F5B3E"/>
                </a:solidFill>
                <a:latin typeface="Calibri" pitchFamily="34" charset="0"/>
                <a:ea typeface="Calibri" pitchFamily="34" charset="-122"/>
                <a:cs typeface="Calibri" pitchFamily="34" charset="-120"/>
              </a:rPr>
              <a:t>FIRST TARGET STATES</a:t>
            </a:r>
            <a:endParaRPr lang="en-US" sz="1050" dirty="0"/>
          </a:p>
        </p:txBody>
      </p:sp>
      <p:sp>
        <p:nvSpPr>
          <p:cNvPr id="21" name="Text 19"/>
          <p:cNvSpPr txBox="1"/>
          <p:nvPr/>
        </p:nvSpPr>
        <p:spPr>
          <a:xfrm>
            <a:off x="8869680" y="5212080"/>
            <a:ext cx="2560320" cy="868680"/>
          </a:xfrm>
          <a:prstGeom prst="rect">
            <a:avLst/>
          </a:prstGeom>
          <a:noFill/>
          <a:ln/>
        </p:spPr>
        <p:txBody>
          <a:bodyPr wrap="square" lIns="0" tIns="0" rIns="0" bIns="0" rtlCol="0" anchor="t"/>
          <a:lstStyle/>
          <a:p>
            <a:pPr indent="0" marL="0">
              <a:lnSpc>
                <a:spcPts val="1400"/>
              </a:lnSpc>
              <a:buNone/>
            </a:pPr>
            <a:r>
              <a:rPr lang="en-US" sz="1050" dirty="0">
                <a:solidFill>
                  <a:srgbClr val="2B2318"/>
                </a:solidFill>
                <a:latin typeface="Calibri" pitchFamily="34" charset="0"/>
                <a:ea typeface="Calibri" pitchFamily="34" charset="-122"/>
                <a:cs typeface="Calibri" pitchFamily="34" charset="-120"/>
              </a:rPr>
              <a:t>Madhya Pradesh and Maharashtra — open e-tendering, large aspirational-district footprint, and existing millet procurement under Shree Anna.</a:t>
            </a:r>
            <a:endParaRPr lang="en-US" sz="1050" dirty="0"/>
          </a:p>
        </p:txBody>
      </p:sp>
      <p:sp>
        <p:nvSpPr>
          <p:cNvPr id="22" name="Text 20"/>
          <p:cNvSpPr txBox="1"/>
          <p:nvPr/>
        </p:nvSpPr>
        <p:spPr>
          <a:xfrm>
            <a:off x="548640" y="6419088"/>
            <a:ext cx="4572000" cy="256032"/>
          </a:xfrm>
          <a:prstGeom prst="rect">
            <a:avLst/>
          </a:prstGeom>
          <a:noFill/>
          <a:ln/>
        </p:spPr>
        <p:txBody>
          <a:bodyPr wrap="square" lIns="0" tIns="0" rIns="0" bIns="0" rtlCol="0" anchor="ctr"/>
          <a:lstStyle/>
          <a:p>
            <a:pPr indent="0" marL="0">
              <a:buNone/>
            </a:pPr>
            <a:r>
              <a:rPr lang="en-US" sz="900" dirty="0">
                <a:solidFill>
                  <a:srgbClr val="9C907A"/>
                </a:solidFill>
                <a:latin typeface="Calibri" pitchFamily="34" charset="0"/>
                <a:ea typeface="Calibri" pitchFamily="34" charset="-122"/>
                <a:cs typeface="Calibri" pitchFamily="34" charset="-120"/>
              </a:rPr>
              <a:t>PoshanSetu — F&amp;B Submission</a:t>
            </a:r>
            <a:endParaRPr lang="en-US" sz="900" dirty="0"/>
          </a:p>
        </p:txBody>
      </p:sp>
      <p:sp>
        <p:nvSpPr>
          <p:cNvPr id="23" name="Text 21"/>
          <p:cNvSpPr txBox="1"/>
          <p:nvPr/>
        </p:nvSpPr>
        <p:spPr>
          <a:xfrm>
            <a:off x="10058400" y="6419088"/>
            <a:ext cx="1581912" cy="256032"/>
          </a:xfrm>
          <a:prstGeom prst="rect">
            <a:avLst/>
          </a:prstGeom>
          <a:noFill/>
          <a:ln/>
        </p:spPr>
        <p:txBody>
          <a:bodyPr wrap="square" lIns="0" tIns="0" rIns="0" bIns="0" rtlCol="0" anchor="ctr"/>
          <a:lstStyle/>
          <a:p>
            <a:pPr algn="r" indent="0" marL="0">
              <a:buNone/>
            </a:pPr>
            <a:r>
              <a:rPr lang="en-US" sz="900" dirty="0">
                <a:solidFill>
                  <a:srgbClr val="9C907A"/>
                </a:solidFill>
                <a:latin typeface="Calibri" pitchFamily="34" charset="0"/>
                <a:ea typeface="Calibri" pitchFamily="34" charset="-122"/>
                <a:cs typeface="Calibri" pitchFamily="34" charset="-120"/>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100" b="1" spc="220" kern="0" dirty="0">
                <a:solidFill>
                  <a:srgbClr val="6B3452"/>
                </a:solidFill>
                <a:latin typeface="Calibri" pitchFamily="34" charset="0"/>
                <a:ea typeface="Calibri" pitchFamily="34" charset="-122"/>
                <a:cs typeface="Calibri" pitchFamily="34" charset="-120"/>
              </a:rPr>
              <a:t>08 · BUSINESS MODEL</a:t>
            </a:r>
            <a:endParaRPr lang="en-US" sz="1100" dirty="0"/>
          </a:p>
        </p:txBody>
      </p:sp>
      <p:sp>
        <p:nvSpPr>
          <p:cNvPr id="3" name="Text 1"/>
          <p:cNvSpPr txBox="1"/>
          <p:nvPr/>
        </p:nvSpPr>
        <p:spPr>
          <a:xfrm>
            <a:off x="548640" y="713232"/>
            <a:ext cx="11091672" cy="868680"/>
          </a:xfrm>
          <a:prstGeom prst="rect">
            <a:avLst/>
          </a:prstGeom>
          <a:noFill/>
          <a:ln/>
        </p:spPr>
        <p:txBody>
          <a:bodyPr wrap="square" lIns="0" tIns="0" rIns="0" bIns="0" rtlCol="0" anchor="t"/>
          <a:lstStyle/>
          <a:p>
            <a:pPr indent="0" marL="0">
              <a:lnSpc>
                <a:spcPts val="3600"/>
              </a:lnSpc>
              <a:buNone/>
            </a:pPr>
            <a:r>
              <a:rPr lang="en-US" sz="3000" b="1" dirty="0">
                <a:solidFill>
                  <a:srgbClr val="2B2318"/>
                </a:solidFill>
                <a:latin typeface="Cambria" pitchFamily="34" charset="0"/>
                <a:ea typeface="Cambria" pitchFamily="34" charset="-122"/>
                <a:cs typeface="Cambria" pitchFamily="34" charset="-120"/>
              </a:rPr>
              <a:t>Two age bands, three channels — and no hospitals.</a:t>
            </a:r>
            <a:endParaRPr lang="en-US" sz="3000" dirty="0"/>
          </a:p>
        </p:txBody>
      </p:sp>
      <p:sp>
        <p:nvSpPr>
          <p:cNvPr id="4" name="Shape 2"/>
          <p:cNvSpPr/>
          <p:nvPr/>
        </p:nvSpPr>
        <p:spPr>
          <a:xfrm>
            <a:off x="548640" y="1737360"/>
            <a:ext cx="5440680" cy="1572768"/>
          </a:xfrm>
          <a:prstGeom prst="roundRect">
            <a:avLst>
              <a:gd name="adj" fmla="val 5233"/>
            </a:avLst>
          </a:prstGeom>
          <a:solidFill>
            <a:srgbClr val="FBEDE9"/>
          </a:solidFill>
          <a:ln w="12700">
            <a:solidFill>
              <a:srgbClr val="E8D3CB"/>
            </a:solidFill>
            <a:prstDash val="solid"/>
          </a:ln>
          <a:effectLst>
            <a:outerShdw sx="100000" sy="100000" kx="0" ky="0" algn="bl" rotWithShape="0" blurRad="76200" dist="12700" dir="5400000">
              <a:srgbClr val="8A7C64">
                <a:alpha val="16000"/>
              </a:srgbClr>
            </a:outerShdw>
          </a:effectLst>
        </p:spPr>
      </p:sp>
      <p:sp>
        <p:nvSpPr>
          <p:cNvPr id="5" name="Text 3"/>
          <p:cNvSpPr txBox="1"/>
          <p:nvPr/>
        </p:nvSpPr>
        <p:spPr>
          <a:xfrm>
            <a:off x="786384" y="1920240"/>
            <a:ext cx="4965192" cy="237744"/>
          </a:xfrm>
          <a:prstGeom prst="rect">
            <a:avLst/>
          </a:prstGeom>
          <a:noFill/>
          <a:ln/>
        </p:spPr>
        <p:txBody>
          <a:bodyPr wrap="square" lIns="0" tIns="0" rIns="0" bIns="0" rtlCol="0" anchor="t"/>
          <a:lstStyle/>
          <a:p>
            <a:pPr indent="0" marL="0">
              <a:buNone/>
            </a:pPr>
            <a:r>
              <a:rPr lang="en-US" sz="1100" b="1" dirty="0">
                <a:solidFill>
                  <a:srgbClr val="7A2E1E"/>
                </a:solidFill>
                <a:latin typeface="Calibri" pitchFamily="34" charset="0"/>
                <a:ea typeface="Calibri" pitchFamily="34" charset="-122"/>
                <a:cs typeface="Calibri" pitchFamily="34" charset="-120"/>
              </a:rPr>
              <a:t>AGES 5–8 · CLASSES 1–3</a:t>
            </a:r>
            <a:endParaRPr lang="en-US" sz="1100" dirty="0"/>
          </a:p>
        </p:txBody>
      </p:sp>
      <p:sp>
        <p:nvSpPr>
          <p:cNvPr id="6" name="Text 4"/>
          <p:cNvSpPr txBox="1"/>
          <p:nvPr/>
        </p:nvSpPr>
        <p:spPr>
          <a:xfrm>
            <a:off x="786384" y="2212848"/>
            <a:ext cx="4965192" cy="877824"/>
          </a:xfrm>
          <a:prstGeom prst="rect">
            <a:avLst/>
          </a:prstGeom>
          <a:noFill/>
          <a:ln/>
        </p:spPr>
        <p:txBody>
          <a:bodyPr wrap="square" lIns="0" tIns="0" rIns="0" bIns="0" rtlCol="0" anchor="t"/>
          <a:lstStyle/>
          <a:p>
            <a:pPr indent="0" marL="0">
              <a:lnSpc>
                <a:spcPts val="1400"/>
              </a:lnSpc>
              <a:buNone/>
            </a:pPr>
            <a:r>
              <a:rPr lang="en-US" sz="1050" dirty="0">
                <a:solidFill>
                  <a:srgbClr val="6B6252"/>
                </a:solidFill>
                <a:latin typeface="Calibri" pitchFamily="34" charset="0"/>
                <a:ea typeface="Calibri" pitchFamily="34" charset="-122"/>
                <a:cs typeface="Calibri" pitchFamily="34" charset="-120"/>
              </a:rPr>
              <a:t>30g serve. The parent decides and pays; the child asks. Trigger is a teacher, anganwadi worker or ASHA recommendation, not advertising. Sold as a single ₹20 sachet or a 6-pack strip at ₹110.</a:t>
            </a:r>
            <a:endParaRPr lang="en-US" sz="1050" dirty="0"/>
          </a:p>
        </p:txBody>
      </p:sp>
      <p:sp>
        <p:nvSpPr>
          <p:cNvPr id="7" name="Shape 5"/>
          <p:cNvSpPr/>
          <p:nvPr/>
        </p:nvSpPr>
        <p:spPr>
          <a:xfrm>
            <a:off x="6199632" y="1737360"/>
            <a:ext cx="5440680" cy="1572768"/>
          </a:xfrm>
          <a:prstGeom prst="roundRect">
            <a:avLst>
              <a:gd name="adj" fmla="val 5233"/>
            </a:avLst>
          </a:prstGeom>
          <a:solidFill>
            <a:srgbClr val="F6EAF0"/>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8" name="Text 6"/>
          <p:cNvSpPr txBox="1"/>
          <p:nvPr/>
        </p:nvSpPr>
        <p:spPr>
          <a:xfrm>
            <a:off x="6437376" y="1920240"/>
            <a:ext cx="4965192" cy="237744"/>
          </a:xfrm>
          <a:prstGeom prst="rect">
            <a:avLst/>
          </a:prstGeom>
          <a:noFill/>
          <a:ln/>
        </p:spPr>
        <p:txBody>
          <a:bodyPr wrap="square" lIns="0" tIns="0" rIns="0" bIns="0" rtlCol="0" anchor="t"/>
          <a:lstStyle/>
          <a:p>
            <a:pPr indent="0" marL="0">
              <a:buNone/>
            </a:pPr>
            <a:r>
              <a:rPr lang="en-US" sz="1100" b="1" dirty="0">
                <a:solidFill>
                  <a:srgbClr val="6B3452"/>
                </a:solidFill>
                <a:latin typeface="Calibri" pitchFamily="34" charset="0"/>
                <a:ea typeface="Calibri" pitchFamily="34" charset="-122"/>
                <a:cs typeface="Calibri" pitchFamily="34" charset="-120"/>
              </a:rPr>
              <a:t>AGES 9–12 · CLASSES 4–7</a:t>
            </a:r>
            <a:endParaRPr lang="en-US" sz="1100" dirty="0"/>
          </a:p>
        </p:txBody>
      </p:sp>
      <p:sp>
        <p:nvSpPr>
          <p:cNvPr id="9" name="Text 7"/>
          <p:cNvSpPr txBox="1"/>
          <p:nvPr/>
        </p:nvSpPr>
        <p:spPr>
          <a:xfrm>
            <a:off x="6437376" y="2212848"/>
            <a:ext cx="4965192" cy="877824"/>
          </a:xfrm>
          <a:prstGeom prst="rect">
            <a:avLst/>
          </a:prstGeom>
          <a:noFill/>
          <a:ln/>
        </p:spPr>
        <p:txBody>
          <a:bodyPr wrap="square" lIns="0" tIns="0" rIns="0" bIns="0" rtlCol="0" anchor="t"/>
          <a:lstStyle/>
          <a:p>
            <a:pPr indent="0" marL="0">
              <a:lnSpc>
                <a:spcPts val="1400"/>
              </a:lnSpc>
              <a:buNone/>
            </a:pPr>
            <a:r>
              <a:rPr lang="en-US" sz="1050" dirty="0">
                <a:solidFill>
                  <a:srgbClr val="6B6252"/>
                </a:solidFill>
                <a:latin typeface="Calibri" pitchFamily="34" charset="0"/>
                <a:ea typeface="Calibri" pitchFamily="34" charset="-122"/>
                <a:cs typeface="Calibri" pitchFamily="34" charset="-120"/>
              </a:rPr>
              <a:t>40g serve. The child has ₹10–20 of independent spending and buys it himself at the shop. Trigger is peer collection and the class leaderboard. Same ₹20 price point, larger fill.</a:t>
            </a:r>
            <a:endParaRPr lang="en-US" sz="1050" dirty="0"/>
          </a:p>
        </p:txBody>
      </p:sp>
      <p:sp>
        <p:nvSpPr>
          <p:cNvPr id="10" name="Shape 8"/>
          <p:cNvSpPr/>
          <p:nvPr/>
        </p:nvSpPr>
        <p:spPr>
          <a:xfrm>
            <a:off x="548640" y="3493008"/>
            <a:ext cx="3557016" cy="1600200"/>
          </a:xfrm>
          <a:prstGeom prst="roundRect">
            <a:avLst>
              <a:gd name="adj" fmla="val 5143"/>
            </a:avLst>
          </a:prstGeom>
          <a:solidFill>
            <a:srgbClr val="EEF3EC"/>
          </a:solidFill>
          <a:ln w="12700">
            <a:solidFill>
              <a:srgbClr val="CFE0CC"/>
            </a:solidFill>
            <a:prstDash val="solid"/>
          </a:ln>
          <a:effectLst>
            <a:outerShdw sx="100000" sy="100000" kx="0" ky="0" algn="bl" rotWithShape="0" blurRad="76200" dist="12700" dir="5400000">
              <a:srgbClr val="8A7C64">
                <a:alpha val="16000"/>
              </a:srgbClr>
            </a:outerShdw>
          </a:effectLst>
        </p:spPr>
      </p:sp>
      <p:sp>
        <p:nvSpPr>
          <p:cNvPr id="11" name="Text 9"/>
          <p:cNvSpPr txBox="1"/>
          <p:nvPr/>
        </p:nvSpPr>
        <p:spPr>
          <a:xfrm>
            <a:off x="786384" y="3657600"/>
            <a:ext cx="3081528" cy="256032"/>
          </a:xfrm>
          <a:prstGeom prst="rect">
            <a:avLst/>
          </a:prstGeom>
          <a:noFill/>
          <a:ln/>
        </p:spPr>
        <p:txBody>
          <a:bodyPr wrap="square" lIns="0" tIns="0" rIns="0" bIns="0" rtlCol="0" anchor="t"/>
          <a:lstStyle/>
          <a:p>
            <a:pPr indent="0" marL="0">
              <a:buNone/>
            </a:pPr>
            <a:r>
              <a:rPr lang="en-US" sz="1150" b="1" dirty="0">
                <a:solidFill>
                  <a:srgbClr val="3F5B3E"/>
                </a:solidFill>
                <a:latin typeface="Calibri" pitchFamily="34" charset="0"/>
                <a:ea typeface="Calibri" pitchFamily="34" charset="-122"/>
                <a:cs typeface="Calibri" pitchFamily="34" charset="-120"/>
              </a:rPr>
              <a:t>GOVERNMENT</a:t>
            </a:r>
            <a:endParaRPr lang="en-US" sz="1150" dirty="0"/>
          </a:p>
        </p:txBody>
      </p:sp>
      <p:sp>
        <p:nvSpPr>
          <p:cNvPr id="12" name="Text 10"/>
          <p:cNvSpPr txBox="1"/>
          <p:nvPr/>
        </p:nvSpPr>
        <p:spPr>
          <a:xfrm>
            <a:off x="786384" y="3913632"/>
            <a:ext cx="3081528" cy="237744"/>
          </a:xfrm>
          <a:prstGeom prst="rect">
            <a:avLst/>
          </a:prstGeom>
          <a:noFill/>
          <a:ln/>
        </p:spPr>
        <p:txBody>
          <a:bodyPr wrap="square" lIns="0" tIns="0" rIns="0" bIns="0" rtlCol="0" anchor="t"/>
          <a:lstStyle/>
          <a:p>
            <a:pPr indent="0" marL="0">
              <a:buNone/>
            </a:pPr>
            <a:r>
              <a:rPr lang="en-US" sz="1000" i="1" dirty="0">
                <a:solidFill>
                  <a:srgbClr val="9C907A"/>
                </a:solidFill>
                <a:latin typeface="Calibri" pitchFamily="34" charset="0"/>
                <a:ea typeface="Calibri" pitchFamily="34" charset="-122"/>
                <a:cs typeface="Calibri" pitchFamily="34" charset="-120"/>
              </a:rPr>
              <a:t>~65% of volume at scale</a:t>
            </a:r>
            <a:endParaRPr lang="en-US" sz="1000" dirty="0"/>
          </a:p>
        </p:txBody>
      </p:sp>
      <p:sp>
        <p:nvSpPr>
          <p:cNvPr id="13" name="Text 11"/>
          <p:cNvSpPr txBox="1"/>
          <p:nvPr/>
        </p:nvSpPr>
        <p:spPr>
          <a:xfrm>
            <a:off x="786384" y="4187952"/>
            <a:ext cx="3081528" cy="822960"/>
          </a:xfrm>
          <a:prstGeom prst="rect">
            <a:avLst/>
          </a:prstGeom>
          <a:noFill/>
          <a:ln/>
        </p:spPr>
        <p:txBody>
          <a:bodyPr wrap="square" lIns="0" tIns="0" rIns="0" bIns="0" rtlCol="0" anchor="t"/>
          <a:lstStyle/>
          <a:p>
            <a:pPr indent="0" marL="0">
              <a:lnSpc>
                <a:spcPts val="1350"/>
              </a:lnSpc>
              <a:buNone/>
            </a:pPr>
            <a:r>
              <a:rPr lang="en-US" sz="1050" dirty="0">
                <a:solidFill>
                  <a:srgbClr val="2B2318"/>
                </a:solidFill>
                <a:latin typeface="Calibri" pitchFamily="34" charset="0"/>
                <a:ea typeface="Calibri" pitchFamily="34" charset="-122"/>
                <a:cs typeface="Calibri" pitchFamily="34" charset="-120"/>
              </a:rPr>
              <a:t>State education or health department buys for a screened cohort. Delivered through the school in a 1kg bulk pouch, portioned on site. ₹7 per serve.</a:t>
            </a:r>
            <a:endParaRPr lang="en-US" sz="1050" dirty="0"/>
          </a:p>
        </p:txBody>
      </p:sp>
      <p:sp>
        <p:nvSpPr>
          <p:cNvPr id="14" name="Shape 12"/>
          <p:cNvSpPr/>
          <p:nvPr/>
        </p:nvSpPr>
        <p:spPr>
          <a:xfrm>
            <a:off x="4315968" y="3493008"/>
            <a:ext cx="3557016" cy="1600200"/>
          </a:xfrm>
          <a:prstGeom prst="roundRect">
            <a:avLst>
              <a:gd name="adj" fmla="val 5143"/>
            </a:avLst>
          </a:prstGeom>
          <a:solidFill>
            <a:srgbClr val="EAF1F5"/>
          </a:solidFill>
          <a:ln w="12700">
            <a:solidFill>
              <a:srgbClr val="CFE0E8"/>
            </a:solidFill>
            <a:prstDash val="solid"/>
          </a:ln>
          <a:effectLst>
            <a:outerShdw sx="100000" sy="100000" kx="0" ky="0" algn="bl" rotWithShape="0" blurRad="76200" dist="12700" dir="5400000">
              <a:srgbClr val="8A7C64">
                <a:alpha val="16000"/>
              </a:srgbClr>
            </a:outerShdw>
          </a:effectLst>
        </p:spPr>
      </p:sp>
      <p:sp>
        <p:nvSpPr>
          <p:cNvPr id="15" name="Text 13"/>
          <p:cNvSpPr txBox="1"/>
          <p:nvPr/>
        </p:nvSpPr>
        <p:spPr>
          <a:xfrm>
            <a:off x="4553712" y="3657600"/>
            <a:ext cx="3081528" cy="256032"/>
          </a:xfrm>
          <a:prstGeom prst="rect">
            <a:avLst/>
          </a:prstGeom>
          <a:noFill/>
          <a:ln/>
        </p:spPr>
        <p:txBody>
          <a:bodyPr wrap="square" lIns="0" tIns="0" rIns="0" bIns="0" rtlCol="0" anchor="t"/>
          <a:lstStyle/>
          <a:p>
            <a:pPr indent="0" marL="0">
              <a:buNone/>
            </a:pPr>
            <a:r>
              <a:rPr lang="en-US" sz="1150" b="1" dirty="0">
                <a:solidFill>
                  <a:srgbClr val="3E5566"/>
                </a:solidFill>
                <a:latin typeface="Calibri" pitchFamily="34" charset="0"/>
                <a:ea typeface="Calibri" pitchFamily="34" charset="-122"/>
                <a:cs typeface="Calibri" pitchFamily="34" charset="-120"/>
              </a:rPr>
              <a:t>SCHOOL-LED PARENT SALE</a:t>
            </a:r>
            <a:endParaRPr lang="en-US" sz="1150" dirty="0"/>
          </a:p>
        </p:txBody>
      </p:sp>
      <p:sp>
        <p:nvSpPr>
          <p:cNvPr id="16" name="Text 14"/>
          <p:cNvSpPr txBox="1"/>
          <p:nvPr/>
        </p:nvSpPr>
        <p:spPr>
          <a:xfrm>
            <a:off x="4553712" y="3913632"/>
            <a:ext cx="3081528" cy="237744"/>
          </a:xfrm>
          <a:prstGeom prst="rect">
            <a:avLst/>
          </a:prstGeom>
          <a:noFill/>
          <a:ln/>
        </p:spPr>
        <p:txBody>
          <a:bodyPr wrap="square" lIns="0" tIns="0" rIns="0" bIns="0" rtlCol="0" anchor="t"/>
          <a:lstStyle/>
          <a:p>
            <a:pPr indent="0" marL="0">
              <a:buNone/>
            </a:pPr>
            <a:r>
              <a:rPr lang="en-US" sz="1000" i="1" dirty="0">
                <a:solidFill>
                  <a:srgbClr val="9C907A"/>
                </a:solidFill>
                <a:latin typeface="Calibri" pitchFamily="34" charset="0"/>
                <a:ea typeface="Calibri" pitchFamily="34" charset="-122"/>
                <a:cs typeface="Calibri" pitchFamily="34" charset="-120"/>
              </a:rPr>
              <a:t>~20% of volume</a:t>
            </a:r>
            <a:endParaRPr lang="en-US" sz="1000" dirty="0"/>
          </a:p>
        </p:txBody>
      </p:sp>
      <p:sp>
        <p:nvSpPr>
          <p:cNvPr id="17" name="Text 15"/>
          <p:cNvSpPr txBox="1"/>
          <p:nvPr/>
        </p:nvSpPr>
        <p:spPr>
          <a:xfrm>
            <a:off x="4553712" y="4187952"/>
            <a:ext cx="3081528" cy="822960"/>
          </a:xfrm>
          <a:prstGeom prst="rect">
            <a:avLst/>
          </a:prstGeom>
          <a:noFill/>
          <a:ln/>
        </p:spPr>
        <p:txBody>
          <a:bodyPr wrap="square" lIns="0" tIns="0" rIns="0" bIns="0" rtlCol="0" anchor="t"/>
          <a:lstStyle/>
          <a:p>
            <a:pPr indent="0" marL="0">
              <a:lnSpc>
                <a:spcPts val="1350"/>
              </a:lnSpc>
              <a:buNone/>
            </a:pPr>
            <a:r>
              <a:rPr lang="en-US" sz="1050" dirty="0">
                <a:solidFill>
                  <a:srgbClr val="2B2318"/>
                </a:solidFill>
                <a:latin typeface="Calibri" pitchFamily="34" charset="0"/>
                <a:ea typeface="Calibri" pitchFamily="34" charset="-122"/>
                <a:cs typeface="Calibri" pitchFamily="34" charset="-120"/>
              </a:rPr>
              <a:t>Low-fee private schools in tier 3/4 that PM POSHAN does not cover at all. The school is the distribution point; the parent pays. No commission to the school.</a:t>
            </a:r>
            <a:endParaRPr lang="en-US" sz="1050" dirty="0"/>
          </a:p>
        </p:txBody>
      </p:sp>
      <p:sp>
        <p:nvSpPr>
          <p:cNvPr id="18" name="Shape 16"/>
          <p:cNvSpPr/>
          <p:nvPr/>
        </p:nvSpPr>
        <p:spPr>
          <a:xfrm>
            <a:off x="8083296" y="3493008"/>
            <a:ext cx="3557016" cy="1600200"/>
          </a:xfrm>
          <a:prstGeom prst="roundRect">
            <a:avLst>
              <a:gd name="adj" fmla="val 5143"/>
            </a:avLst>
          </a:prstGeom>
          <a:solidFill>
            <a:srgbClr val="FBEDE9"/>
          </a:solidFill>
          <a:ln w="12700">
            <a:solidFill>
              <a:srgbClr val="E8D3CB"/>
            </a:solidFill>
            <a:prstDash val="solid"/>
          </a:ln>
          <a:effectLst>
            <a:outerShdw sx="100000" sy="100000" kx="0" ky="0" algn="bl" rotWithShape="0" blurRad="76200" dist="12700" dir="5400000">
              <a:srgbClr val="8A7C64">
                <a:alpha val="16000"/>
              </a:srgbClr>
            </a:outerShdw>
          </a:effectLst>
        </p:spPr>
      </p:sp>
      <p:sp>
        <p:nvSpPr>
          <p:cNvPr id="19" name="Text 17"/>
          <p:cNvSpPr txBox="1"/>
          <p:nvPr/>
        </p:nvSpPr>
        <p:spPr>
          <a:xfrm>
            <a:off x="8321040" y="3657600"/>
            <a:ext cx="3081528" cy="256032"/>
          </a:xfrm>
          <a:prstGeom prst="rect">
            <a:avLst/>
          </a:prstGeom>
          <a:noFill/>
          <a:ln/>
        </p:spPr>
        <p:txBody>
          <a:bodyPr wrap="square" lIns="0" tIns="0" rIns="0" bIns="0" rtlCol="0" anchor="t"/>
          <a:lstStyle/>
          <a:p>
            <a:pPr indent="0" marL="0">
              <a:buNone/>
            </a:pPr>
            <a:r>
              <a:rPr lang="en-US" sz="1150" b="1" dirty="0">
                <a:solidFill>
                  <a:srgbClr val="7A2E1E"/>
                </a:solidFill>
                <a:latin typeface="Calibri" pitchFamily="34" charset="0"/>
                <a:ea typeface="Calibri" pitchFamily="34" charset="-122"/>
                <a:cs typeface="Calibri" pitchFamily="34" charset="-120"/>
              </a:rPr>
              <a:t>KIRANA RETAIL</a:t>
            </a:r>
            <a:endParaRPr lang="en-US" sz="1150" dirty="0"/>
          </a:p>
        </p:txBody>
      </p:sp>
      <p:sp>
        <p:nvSpPr>
          <p:cNvPr id="20" name="Text 18"/>
          <p:cNvSpPr txBox="1"/>
          <p:nvPr/>
        </p:nvSpPr>
        <p:spPr>
          <a:xfrm>
            <a:off x="8321040" y="3913632"/>
            <a:ext cx="3081528" cy="237744"/>
          </a:xfrm>
          <a:prstGeom prst="rect">
            <a:avLst/>
          </a:prstGeom>
          <a:noFill/>
          <a:ln/>
        </p:spPr>
        <p:txBody>
          <a:bodyPr wrap="square" lIns="0" tIns="0" rIns="0" bIns="0" rtlCol="0" anchor="t"/>
          <a:lstStyle/>
          <a:p>
            <a:pPr indent="0" marL="0">
              <a:buNone/>
            </a:pPr>
            <a:r>
              <a:rPr lang="en-US" sz="1000" i="1" dirty="0">
                <a:solidFill>
                  <a:srgbClr val="9C907A"/>
                </a:solidFill>
                <a:latin typeface="Calibri" pitchFamily="34" charset="0"/>
                <a:ea typeface="Calibri" pitchFamily="34" charset="-122"/>
                <a:cs typeface="Calibri" pitchFamily="34" charset="-120"/>
              </a:rPr>
              <a:t>~15% of volume</a:t>
            </a:r>
            <a:endParaRPr lang="en-US" sz="1000" dirty="0"/>
          </a:p>
        </p:txBody>
      </p:sp>
      <p:sp>
        <p:nvSpPr>
          <p:cNvPr id="21" name="Text 19"/>
          <p:cNvSpPr txBox="1"/>
          <p:nvPr/>
        </p:nvSpPr>
        <p:spPr>
          <a:xfrm>
            <a:off x="8321040" y="4187952"/>
            <a:ext cx="3081528" cy="822960"/>
          </a:xfrm>
          <a:prstGeom prst="rect">
            <a:avLst/>
          </a:prstGeom>
          <a:noFill/>
          <a:ln/>
        </p:spPr>
        <p:txBody>
          <a:bodyPr wrap="square" lIns="0" tIns="0" rIns="0" bIns="0" rtlCol="0" anchor="t"/>
          <a:lstStyle/>
          <a:p>
            <a:pPr indent="0" marL="0">
              <a:lnSpc>
                <a:spcPts val="1350"/>
              </a:lnSpc>
              <a:buNone/>
            </a:pPr>
            <a:r>
              <a:rPr lang="en-US" sz="1050" dirty="0">
                <a:solidFill>
                  <a:srgbClr val="2B2318"/>
                </a:solidFill>
                <a:latin typeface="Calibri" pitchFamily="34" charset="0"/>
                <a:ea typeface="Calibri" pitchFamily="34" charset="-122"/>
                <a:cs typeface="Calibri" pitchFamily="34" charset="-120"/>
              </a:rPr>
              <a:t>The shop near the school gate and the general store the family already uses. ₹20 MRP, distributor-led, one distributor per district.</a:t>
            </a:r>
            <a:endParaRPr lang="en-US" sz="1050" dirty="0"/>
          </a:p>
        </p:txBody>
      </p:sp>
      <p:sp>
        <p:nvSpPr>
          <p:cNvPr id="22" name="Shape 20"/>
          <p:cNvSpPr/>
          <p:nvPr/>
        </p:nvSpPr>
        <p:spPr>
          <a:xfrm>
            <a:off x="548640" y="5230368"/>
            <a:ext cx="11091672" cy="1014984"/>
          </a:xfrm>
          <a:prstGeom prst="roundRect">
            <a:avLst>
              <a:gd name="adj" fmla="val 8108"/>
            </a:avLst>
          </a:prstGeom>
          <a:solidFill>
            <a:srgbClr val="FCF3E0"/>
          </a:solidFill>
          <a:ln w="12700">
            <a:solidFill>
              <a:srgbClr val="EAE1CE"/>
            </a:solidFill>
            <a:prstDash val="solid"/>
          </a:ln>
          <a:effectLst>
            <a:outerShdw sx="100000" sy="100000" kx="0" ky="0" algn="bl" rotWithShape="0" blurRad="76200" dist="12700" dir="5400000">
              <a:srgbClr val="8A7C64">
                <a:alpha val="16000"/>
              </a:srgbClr>
            </a:outerShdw>
          </a:effectLst>
        </p:spPr>
      </p:sp>
      <p:sp>
        <p:nvSpPr>
          <p:cNvPr id="23" name="Text 21"/>
          <p:cNvSpPr txBox="1"/>
          <p:nvPr/>
        </p:nvSpPr>
        <p:spPr>
          <a:xfrm>
            <a:off x="841248" y="5394960"/>
            <a:ext cx="8229600" cy="256032"/>
          </a:xfrm>
          <a:prstGeom prst="rect">
            <a:avLst/>
          </a:prstGeom>
          <a:noFill/>
          <a:ln/>
        </p:spPr>
        <p:txBody>
          <a:bodyPr wrap="square" lIns="0" tIns="0" rIns="0" bIns="0" rtlCol="0" anchor="ctr"/>
          <a:lstStyle/>
          <a:p>
            <a:pPr indent="0" marL="0">
              <a:buNone/>
            </a:pPr>
            <a:r>
              <a:rPr lang="en-US" sz="1050" b="1" spc="140" kern="0" dirty="0">
                <a:solidFill>
                  <a:srgbClr val="8F6115"/>
                </a:solidFill>
                <a:latin typeface="Calibri" pitchFamily="34" charset="0"/>
                <a:ea typeface="Calibri" pitchFamily="34" charset="-122"/>
                <a:cs typeface="Calibri" pitchFamily="34" charset="-120"/>
              </a:rPr>
              <a:t>SO WILL HOSPITALS BE A CHANNEL? NO — AND DROPPING THEM IS DELIBERATE</a:t>
            </a:r>
            <a:endParaRPr lang="en-US" sz="1050" dirty="0"/>
          </a:p>
        </p:txBody>
      </p:sp>
      <p:sp>
        <p:nvSpPr>
          <p:cNvPr id="24" name="Text 22"/>
          <p:cNvSpPr txBox="1"/>
          <p:nvPr/>
        </p:nvSpPr>
        <p:spPr>
          <a:xfrm>
            <a:off x="841248" y="5669280"/>
            <a:ext cx="10506456" cy="502920"/>
          </a:xfrm>
          <a:prstGeom prst="rect">
            <a:avLst/>
          </a:prstGeom>
          <a:noFill/>
          <a:ln/>
        </p:spPr>
        <p:txBody>
          <a:bodyPr wrap="square" lIns="0" tIns="0" rIns="0" bIns="0" rtlCol="0" anchor="t"/>
          <a:lstStyle/>
          <a:p>
            <a:pPr indent="0" marL="0">
              <a:lnSpc>
                <a:spcPts val="1450"/>
              </a:lnSpc>
              <a:buNone/>
            </a:pPr>
            <a:r>
              <a:rPr lang="en-US" sz="1100" dirty="0">
                <a:solidFill>
                  <a:srgbClr val="2B2318"/>
                </a:solidFill>
                <a:latin typeface="Calibri" pitchFamily="34" charset="0"/>
                <a:ea typeface="Calibri" pitchFamily="34" charset="-122"/>
                <a:cs typeface="Calibri" pitchFamily="34" charset="-120"/>
              </a:rPr>
              <a:t>Paediatric footfall for a 5–12 year old is episodic and illness-driven — nobody visits a hospital to buy a nutrition top-up for a healthy nine-year-old. The new-mother-kit model only ever worked for 0–2, which we have exited. Hospitals would add a slow institutional sales motion for negligible volume. Schools replace them: that is where our customer already sits for six hours a day, five days a week.</a:t>
            </a:r>
            <a:endParaRPr lang="en-US" sz="1100" dirty="0"/>
          </a:p>
        </p:txBody>
      </p:sp>
      <p:sp>
        <p:nvSpPr>
          <p:cNvPr id="25" name="Text 23"/>
          <p:cNvSpPr txBox="1"/>
          <p:nvPr/>
        </p:nvSpPr>
        <p:spPr>
          <a:xfrm>
            <a:off x="548640" y="6419088"/>
            <a:ext cx="4572000" cy="256032"/>
          </a:xfrm>
          <a:prstGeom prst="rect">
            <a:avLst/>
          </a:prstGeom>
          <a:noFill/>
          <a:ln/>
        </p:spPr>
        <p:txBody>
          <a:bodyPr wrap="square" lIns="0" tIns="0" rIns="0" bIns="0" rtlCol="0" anchor="ctr"/>
          <a:lstStyle/>
          <a:p>
            <a:pPr indent="0" marL="0">
              <a:buNone/>
            </a:pPr>
            <a:r>
              <a:rPr lang="en-US" sz="900" dirty="0">
                <a:solidFill>
                  <a:srgbClr val="9C907A"/>
                </a:solidFill>
                <a:latin typeface="Calibri" pitchFamily="34" charset="0"/>
                <a:ea typeface="Calibri" pitchFamily="34" charset="-122"/>
                <a:cs typeface="Calibri" pitchFamily="34" charset="-120"/>
              </a:rPr>
              <a:t>PoshanSetu — F&amp;B Submission</a:t>
            </a:r>
            <a:endParaRPr lang="en-US" sz="900" dirty="0"/>
          </a:p>
        </p:txBody>
      </p:sp>
      <p:sp>
        <p:nvSpPr>
          <p:cNvPr id="26" name="Text 24"/>
          <p:cNvSpPr txBox="1"/>
          <p:nvPr/>
        </p:nvSpPr>
        <p:spPr>
          <a:xfrm>
            <a:off x="10058400" y="6419088"/>
            <a:ext cx="1581912" cy="256032"/>
          </a:xfrm>
          <a:prstGeom prst="rect">
            <a:avLst/>
          </a:prstGeom>
          <a:noFill/>
          <a:ln/>
        </p:spPr>
        <p:txBody>
          <a:bodyPr wrap="square" lIns="0" tIns="0" rIns="0" bIns="0" rtlCol="0" anchor="ctr"/>
          <a:lstStyle/>
          <a:p>
            <a:pPr algn="r" indent="0" marL="0">
              <a:buNone/>
            </a:pPr>
            <a:r>
              <a:rPr lang="en-US" sz="900" dirty="0">
                <a:solidFill>
                  <a:srgbClr val="9C907A"/>
                </a:solidFill>
                <a:latin typeface="Calibri" pitchFamily="34" charset="0"/>
                <a:ea typeface="Calibri" pitchFamily="34" charset="-122"/>
                <a:cs typeface="Calibri" pitchFamily="34" charset="-120"/>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100" b="1" spc="220" kern="0" dirty="0">
                <a:solidFill>
                  <a:srgbClr val="3E5566"/>
                </a:solidFill>
                <a:latin typeface="Calibri" pitchFamily="34" charset="0"/>
                <a:ea typeface="Calibri" pitchFamily="34" charset="-122"/>
                <a:cs typeface="Calibri" pitchFamily="34" charset="-120"/>
              </a:rPr>
              <a:t>09 · GO-TO-MARKET</a:t>
            </a:r>
            <a:endParaRPr lang="en-US" sz="1100" dirty="0"/>
          </a:p>
        </p:txBody>
      </p:sp>
      <p:sp>
        <p:nvSpPr>
          <p:cNvPr id="3" name="Text 1"/>
          <p:cNvSpPr txBox="1"/>
          <p:nvPr/>
        </p:nvSpPr>
        <p:spPr>
          <a:xfrm>
            <a:off x="548640" y="713232"/>
            <a:ext cx="11091672" cy="868680"/>
          </a:xfrm>
          <a:prstGeom prst="rect">
            <a:avLst/>
          </a:prstGeom>
          <a:noFill/>
          <a:ln/>
        </p:spPr>
        <p:txBody>
          <a:bodyPr wrap="square" lIns="0" tIns="0" rIns="0" bIns="0" rtlCol="0" anchor="t"/>
          <a:lstStyle/>
          <a:p>
            <a:pPr indent="0" marL="0">
              <a:lnSpc>
                <a:spcPts val="3600"/>
              </a:lnSpc>
              <a:buNone/>
            </a:pPr>
            <a:r>
              <a:rPr lang="en-US" sz="3000" b="1" dirty="0">
                <a:solidFill>
                  <a:srgbClr val="2B2318"/>
                </a:solidFill>
                <a:latin typeface="Cambria" pitchFamily="34" charset="0"/>
                <a:ea typeface="Cambria" pitchFamily="34" charset="-122"/>
                <a:cs typeface="Cambria" pitchFamily="34" charset="-120"/>
              </a:rPr>
              <a:t>Two districts, then two states. Government sequenced honestly.</a:t>
            </a:r>
            <a:endParaRPr lang="en-US" sz="3000" dirty="0"/>
          </a:p>
        </p:txBody>
      </p:sp>
      <p:sp>
        <p:nvSpPr>
          <p:cNvPr id="4" name="Shape 2"/>
          <p:cNvSpPr/>
          <p:nvPr/>
        </p:nvSpPr>
        <p:spPr>
          <a:xfrm>
            <a:off x="548640" y="1755648"/>
            <a:ext cx="11091672" cy="877824"/>
          </a:xfrm>
          <a:prstGeom prst="roundRect">
            <a:avLst>
              <a:gd name="adj" fmla="val 9375"/>
            </a:avLst>
          </a:prstGeom>
          <a:solidFill>
            <a:srgbClr val="FFFFFF"/>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5" name="Shape 3"/>
          <p:cNvSpPr/>
          <p:nvPr/>
        </p:nvSpPr>
        <p:spPr>
          <a:xfrm>
            <a:off x="822960" y="1984248"/>
            <a:ext cx="420624" cy="420624"/>
          </a:xfrm>
          <a:prstGeom prst="ellipse">
            <a:avLst/>
          </a:prstGeom>
          <a:solidFill>
            <a:srgbClr val="3E5566"/>
          </a:solidFill>
          <a:ln/>
        </p:spPr>
      </p:sp>
      <p:sp>
        <p:nvSpPr>
          <p:cNvPr id="6" name="Text 4"/>
          <p:cNvSpPr txBox="1"/>
          <p:nvPr/>
        </p:nvSpPr>
        <p:spPr>
          <a:xfrm>
            <a:off x="822960" y="198424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481328" y="1874520"/>
            <a:ext cx="2194560" cy="237744"/>
          </a:xfrm>
          <a:prstGeom prst="rect">
            <a:avLst/>
          </a:prstGeom>
          <a:noFill/>
          <a:ln/>
        </p:spPr>
        <p:txBody>
          <a:bodyPr wrap="square" lIns="0" tIns="0" rIns="0" bIns="0" rtlCol="0" anchor="t"/>
          <a:lstStyle/>
          <a:p>
            <a:pPr indent="0" marL="0">
              <a:buNone/>
            </a:pPr>
            <a:r>
              <a:rPr lang="en-US" sz="950" b="1" spc="120" kern="0" dirty="0">
                <a:solidFill>
                  <a:srgbClr val="9C907A"/>
                </a:solidFill>
                <a:latin typeface="Calibri" pitchFamily="34" charset="0"/>
                <a:ea typeface="Calibri" pitchFamily="34" charset="-122"/>
                <a:cs typeface="Calibri" pitchFamily="34" charset="-120"/>
              </a:rPr>
              <a:t>PHASE 1 · MONTHS 0–6</a:t>
            </a:r>
            <a:endParaRPr lang="en-US" sz="950" dirty="0"/>
          </a:p>
        </p:txBody>
      </p:sp>
      <p:sp>
        <p:nvSpPr>
          <p:cNvPr id="8" name="Text 6"/>
          <p:cNvSpPr txBox="1"/>
          <p:nvPr/>
        </p:nvSpPr>
        <p:spPr>
          <a:xfrm>
            <a:off x="1481328" y="2130552"/>
            <a:ext cx="2286000" cy="384048"/>
          </a:xfrm>
          <a:prstGeom prst="rect">
            <a:avLst/>
          </a:prstGeom>
          <a:noFill/>
          <a:ln/>
        </p:spPr>
        <p:txBody>
          <a:bodyPr wrap="square" lIns="0" tIns="0" rIns="0" bIns="0" rtlCol="0" anchor="t"/>
          <a:lstStyle/>
          <a:p>
            <a:pPr indent="0" marL="0">
              <a:buNone/>
            </a:pPr>
            <a:r>
              <a:rPr lang="en-US" sz="1250" b="1" dirty="0">
                <a:solidFill>
                  <a:srgbClr val="2B2318"/>
                </a:solidFill>
                <a:latin typeface="Calibri" pitchFamily="34" charset="0"/>
                <a:ea typeface="Calibri" pitchFamily="34" charset="-122"/>
                <a:cs typeface="Calibri" pitchFamily="34" charset="-120"/>
              </a:rPr>
              <a:t>Formulate and validate</a:t>
            </a:r>
            <a:endParaRPr lang="en-US" sz="1250" dirty="0"/>
          </a:p>
        </p:txBody>
      </p:sp>
      <p:sp>
        <p:nvSpPr>
          <p:cNvPr id="9" name="Text 7"/>
          <p:cNvSpPr txBox="1"/>
          <p:nvPr/>
        </p:nvSpPr>
        <p:spPr>
          <a:xfrm>
            <a:off x="3913632" y="1892808"/>
            <a:ext cx="7434072" cy="621792"/>
          </a:xfrm>
          <a:prstGeom prst="rect">
            <a:avLst/>
          </a:prstGeom>
          <a:noFill/>
          <a:ln/>
        </p:spPr>
        <p:txBody>
          <a:bodyPr wrap="square" lIns="0" tIns="0" rIns="0" bIns="0" rtlCol="0" anchor="ctr"/>
          <a:lstStyle/>
          <a:p>
            <a:pPr indent="0" marL="0">
              <a:lnSpc>
                <a:spcPts val="1350"/>
              </a:lnSpc>
              <a:buNone/>
            </a:pPr>
            <a:r>
              <a:rPr lang="en-US" sz="1050" dirty="0">
                <a:solidFill>
                  <a:srgbClr val="6B6252"/>
                </a:solidFill>
                <a:latin typeface="Calibri" pitchFamily="34" charset="0"/>
                <a:ea typeface="Calibri" pitchFamily="34" charset="-122"/>
                <a:cs typeface="Calibri" pitchFamily="34" charset="-120"/>
              </a:rPr>
              <a:t>Three co-manufacturer quotes, a full bill of materials, batch lab analysis, and FSSAI classification confirmed with a regulatory consultant. Blind taste tests with milk and with water in two tier-3 towns.</a:t>
            </a:r>
            <a:endParaRPr lang="en-US" sz="1050" dirty="0"/>
          </a:p>
        </p:txBody>
      </p:sp>
      <p:sp>
        <p:nvSpPr>
          <p:cNvPr id="10" name="Shape 8"/>
          <p:cNvSpPr/>
          <p:nvPr/>
        </p:nvSpPr>
        <p:spPr>
          <a:xfrm>
            <a:off x="548640" y="2724912"/>
            <a:ext cx="11091672" cy="877824"/>
          </a:xfrm>
          <a:prstGeom prst="roundRect">
            <a:avLst>
              <a:gd name="adj" fmla="val 9375"/>
            </a:avLst>
          </a:prstGeom>
          <a:solidFill>
            <a:srgbClr val="FFFFFF"/>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11" name="Shape 9"/>
          <p:cNvSpPr/>
          <p:nvPr/>
        </p:nvSpPr>
        <p:spPr>
          <a:xfrm>
            <a:off x="822960" y="2953512"/>
            <a:ext cx="420624" cy="420624"/>
          </a:xfrm>
          <a:prstGeom prst="ellipse">
            <a:avLst/>
          </a:prstGeom>
          <a:solidFill>
            <a:srgbClr val="3E5566"/>
          </a:solidFill>
          <a:ln/>
        </p:spPr>
      </p:sp>
      <p:sp>
        <p:nvSpPr>
          <p:cNvPr id="12" name="Text 10"/>
          <p:cNvSpPr txBox="1"/>
          <p:nvPr/>
        </p:nvSpPr>
        <p:spPr>
          <a:xfrm>
            <a:off x="822960" y="295351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481328" y="2843784"/>
            <a:ext cx="2194560" cy="237744"/>
          </a:xfrm>
          <a:prstGeom prst="rect">
            <a:avLst/>
          </a:prstGeom>
          <a:noFill/>
          <a:ln/>
        </p:spPr>
        <p:txBody>
          <a:bodyPr wrap="square" lIns="0" tIns="0" rIns="0" bIns="0" rtlCol="0" anchor="t"/>
          <a:lstStyle/>
          <a:p>
            <a:pPr indent="0" marL="0">
              <a:buNone/>
            </a:pPr>
            <a:r>
              <a:rPr lang="en-US" sz="950" b="1" spc="120" kern="0" dirty="0">
                <a:solidFill>
                  <a:srgbClr val="9C907A"/>
                </a:solidFill>
                <a:latin typeface="Calibri" pitchFamily="34" charset="0"/>
                <a:ea typeface="Calibri" pitchFamily="34" charset="-122"/>
                <a:cs typeface="Calibri" pitchFamily="34" charset="-120"/>
              </a:rPr>
              <a:t>PHASE 2 · MONTHS 6–12</a:t>
            </a:r>
            <a:endParaRPr lang="en-US" sz="950" dirty="0"/>
          </a:p>
        </p:txBody>
      </p:sp>
      <p:sp>
        <p:nvSpPr>
          <p:cNvPr id="14" name="Text 12"/>
          <p:cNvSpPr txBox="1"/>
          <p:nvPr/>
        </p:nvSpPr>
        <p:spPr>
          <a:xfrm>
            <a:off x="1481328" y="3099816"/>
            <a:ext cx="2286000" cy="384048"/>
          </a:xfrm>
          <a:prstGeom prst="rect">
            <a:avLst/>
          </a:prstGeom>
          <a:noFill/>
          <a:ln/>
        </p:spPr>
        <p:txBody>
          <a:bodyPr wrap="square" lIns="0" tIns="0" rIns="0" bIns="0" rtlCol="0" anchor="t"/>
          <a:lstStyle/>
          <a:p>
            <a:pPr indent="0" marL="0">
              <a:buNone/>
            </a:pPr>
            <a:r>
              <a:rPr lang="en-US" sz="1250" b="1" dirty="0">
                <a:solidFill>
                  <a:srgbClr val="2B2318"/>
                </a:solidFill>
                <a:latin typeface="Calibri" pitchFamily="34" charset="0"/>
                <a:ea typeface="Calibri" pitchFamily="34" charset="-122"/>
                <a:cs typeface="Calibri" pitchFamily="34" charset="-120"/>
              </a:rPr>
              <a:t>Retail proof in two districts</a:t>
            </a:r>
            <a:endParaRPr lang="en-US" sz="1250" dirty="0"/>
          </a:p>
        </p:txBody>
      </p:sp>
      <p:sp>
        <p:nvSpPr>
          <p:cNvPr id="15" name="Text 13"/>
          <p:cNvSpPr txBox="1"/>
          <p:nvPr/>
        </p:nvSpPr>
        <p:spPr>
          <a:xfrm>
            <a:off x="3913632" y="2862072"/>
            <a:ext cx="7434072" cy="621792"/>
          </a:xfrm>
          <a:prstGeom prst="rect">
            <a:avLst/>
          </a:prstGeom>
          <a:noFill/>
          <a:ln/>
        </p:spPr>
        <p:txBody>
          <a:bodyPr wrap="square" lIns="0" tIns="0" rIns="0" bIns="0" rtlCol="0" anchor="ctr"/>
          <a:lstStyle/>
          <a:p>
            <a:pPr indent="0" marL="0">
              <a:lnSpc>
                <a:spcPts val="1350"/>
              </a:lnSpc>
              <a:buNone/>
            </a:pPr>
            <a:r>
              <a:rPr lang="en-US" sz="1050" dirty="0">
                <a:solidFill>
                  <a:srgbClr val="6B6252"/>
                </a:solidFill>
                <a:latin typeface="Calibri" pitchFamily="34" charset="0"/>
                <a:ea typeface="Calibri" pitchFamily="34" charset="-122"/>
                <a:cs typeface="Calibri" pitchFamily="34" charset="-120"/>
              </a:rPr>
              <a:t>10 kirana outlets and 5 low-fee private schools in two tier-3 districts. Measure sell-through, repeat rate and puzzle redemption. This is the evidence that we are a product, not a proposal.</a:t>
            </a:r>
            <a:endParaRPr lang="en-US" sz="1050" dirty="0"/>
          </a:p>
        </p:txBody>
      </p:sp>
      <p:sp>
        <p:nvSpPr>
          <p:cNvPr id="16" name="Shape 14"/>
          <p:cNvSpPr/>
          <p:nvPr/>
        </p:nvSpPr>
        <p:spPr>
          <a:xfrm>
            <a:off x="548640" y="3694176"/>
            <a:ext cx="11091672" cy="877824"/>
          </a:xfrm>
          <a:prstGeom prst="roundRect">
            <a:avLst>
              <a:gd name="adj" fmla="val 9375"/>
            </a:avLst>
          </a:prstGeom>
          <a:solidFill>
            <a:srgbClr val="EEF3EC"/>
          </a:solidFill>
          <a:ln w="12700">
            <a:solidFill>
              <a:srgbClr val="CFE0CC"/>
            </a:solidFill>
            <a:prstDash val="solid"/>
          </a:ln>
          <a:effectLst>
            <a:outerShdw sx="100000" sy="100000" kx="0" ky="0" algn="bl" rotWithShape="0" blurRad="76200" dist="12700" dir="5400000">
              <a:srgbClr val="8A7C64">
                <a:alpha val="16000"/>
              </a:srgbClr>
            </a:outerShdw>
          </a:effectLst>
        </p:spPr>
      </p:sp>
      <p:sp>
        <p:nvSpPr>
          <p:cNvPr id="17" name="Shape 15"/>
          <p:cNvSpPr/>
          <p:nvPr/>
        </p:nvSpPr>
        <p:spPr>
          <a:xfrm>
            <a:off x="822960" y="3922776"/>
            <a:ext cx="420624" cy="420624"/>
          </a:xfrm>
          <a:prstGeom prst="ellipse">
            <a:avLst/>
          </a:prstGeom>
          <a:solidFill>
            <a:srgbClr val="3F5B3E"/>
          </a:solidFill>
          <a:ln/>
        </p:spPr>
      </p:sp>
      <p:sp>
        <p:nvSpPr>
          <p:cNvPr id="18" name="Text 16"/>
          <p:cNvSpPr txBox="1"/>
          <p:nvPr/>
        </p:nvSpPr>
        <p:spPr>
          <a:xfrm>
            <a:off x="822960" y="392277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481328" y="3813048"/>
            <a:ext cx="2194560" cy="237744"/>
          </a:xfrm>
          <a:prstGeom prst="rect">
            <a:avLst/>
          </a:prstGeom>
          <a:noFill/>
          <a:ln/>
        </p:spPr>
        <p:txBody>
          <a:bodyPr wrap="square" lIns="0" tIns="0" rIns="0" bIns="0" rtlCol="0" anchor="t"/>
          <a:lstStyle/>
          <a:p>
            <a:pPr indent="0" marL="0">
              <a:buNone/>
            </a:pPr>
            <a:r>
              <a:rPr lang="en-US" sz="950" b="1" spc="120" kern="0" dirty="0">
                <a:solidFill>
                  <a:srgbClr val="9C907A"/>
                </a:solidFill>
                <a:latin typeface="Calibri" pitchFamily="34" charset="0"/>
                <a:ea typeface="Calibri" pitchFamily="34" charset="-122"/>
                <a:cs typeface="Calibri" pitchFamily="34" charset="-120"/>
              </a:rPr>
              <a:t>PHASE 3 · MONTHS 12–24</a:t>
            </a:r>
            <a:endParaRPr lang="en-US" sz="950" dirty="0"/>
          </a:p>
        </p:txBody>
      </p:sp>
      <p:sp>
        <p:nvSpPr>
          <p:cNvPr id="20" name="Text 18"/>
          <p:cNvSpPr txBox="1"/>
          <p:nvPr/>
        </p:nvSpPr>
        <p:spPr>
          <a:xfrm>
            <a:off x="1481328" y="4069080"/>
            <a:ext cx="2286000" cy="384048"/>
          </a:xfrm>
          <a:prstGeom prst="rect">
            <a:avLst/>
          </a:prstGeom>
          <a:noFill/>
          <a:ln/>
        </p:spPr>
        <p:txBody>
          <a:bodyPr wrap="square" lIns="0" tIns="0" rIns="0" bIns="0" rtlCol="0" anchor="t"/>
          <a:lstStyle/>
          <a:p>
            <a:pPr indent="0" marL="0">
              <a:buNone/>
            </a:pPr>
            <a:r>
              <a:rPr lang="en-US" sz="1250" b="1" dirty="0">
                <a:solidFill>
                  <a:srgbClr val="2B2318"/>
                </a:solidFill>
                <a:latin typeface="Calibri" pitchFamily="34" charset="0"/>
                <a:ea typeface="Calibri" pitchFamily="34" charset="-122"/>
                <a:cs typeface="Calibri" pitchFamily="34" charset="-120"/>
              </a:rPr>
              <a:t>CSR-funded government pilot</a:t>
            </a:r>
            <a:endParaRPr lang="en-US" sz="1250" dirty="0"/>
          </a:p>
        </p:txBody>
      </p:sp>
      <p:sp>
        <p:nvSpPr>
          <p:cNvPr id="21" name="Text 19"/>
          <p:cNvSpPr txBox="1"/>
          <p:nvPr/>
        </p:nvSpPr>
        <p:spPr>
          <a:xfrm>
            <a:off x="3913632" y="3831336"/>
            <a:ext cx="7434072" cy="621792"/>
          </a:xfrm>
          <a:prstGeom prst="rect">
            <a:avLst/>
          </a:prstGeom>
          <a:noFill/>
          <a:ln/>
        </p:spPr>
        <p:txBody>
          <a:bodyPr wrap="square" lIns="0" tIns="0" rIns="0" bIns="0" rtlCol="0" anchor="ctr"/>
          <a:lstStyle/>
          <a:p>
            <a:pPr indent="0" marL="0">
              <a:lnSpc>
                <a:spcPts val="1350"/>
              </a:lnSpc>
              <a:buNone/>
            </a:pPr>
            <a:r>
              <a:rPr lang="en-US" sz="1050" dirty="0">
                <a:solidFill>
                  <a:srgbClr val="6B6252"/>
                </a:solidFill>
                <a:latin typeface="Calibri" pitchFamily="34" charset="0"/>
                <a:ea typeface="Calibri" pitchFamily="34" charset="-122"/>
                <a:cs typeface="Calibri" pitchFamily="34" charset="-120"/>
              </a:rPr>
              <a:t>One district, ~2,000 children flagged by school health screening, 90 days, baseline and endline haemoglobin with an NGO or academic partner. Zero cost to the state — that is what makes it signable without a tender.</a:t>
            </a:r>
            <a:endParaRPr lang="en-US" sz="1050" dirty="0"/>
          </a:p>
        </p:txBody>
      </p:sp>
      <p:sp>
        <p:nvSpPr>
          <p:cNvPr id="22" name="Shape 20"/>
          <p:cNvSpPr/>
          <p:nvPr/>
        </p:nvSpPr>
        <p:spPr>
          <a:xfrm>
            <a:off x="548640" y="4663440"/>
            <a:ext cx="11091672" cy="877824"/>
          </a:xfrm>
          <a:prstGeom prst="roundRect">
            <a:avLst>
              <a:gd name="adj" fmla="val 9375"/>
            </a:avLst>
          </a:prstGeom>
          <a:solidFill>
            <a:srgbClr val="FFFFFF"/>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23" name="Shape 21"/>
          <p:cNvSpPr/>
          <p:nvPr/>
        </p:nvSpPr>
        <p:spPr>
          <a:xfrm>
            <a:off x="822960" y="4892040"/>
            <a:ext cx="420624" cy="420624"/>
          </a:xfrm>
          <a:prstGeom prst="ellipse">
            <a:avLst/>
          </a:prstGeom>
          <a:solidFill>
            <a:srgbClr val="3E5566"/>
          </a:solidFill>
          <a:ln/>
        </p:spPr>
      </p:sp>
      <p:sp>
        <p:nvSpPr>
          <p:cNvPr id="24" name="Text 22"/>
          <p:cNvSpPr txBox="1"/>
          <p:nvPr/>
        </p:nvSpPr>
        <p:spPr>
          <a:xfrm>
            <a:off x="822960" y="48920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1481328" y="4782312"/>
            <a:ext cx="2194560" cy="237744"/>
          </a:xfrm>
          <a:prstGeom prst="rect">
            <a:avLst/>
          </a:prstGeom>
          <a:noFill/>
          <a:ln/>
        </p:spPr>
        <p:txBody>
          <a:bodyPr wrap="square" lIns="0" tIns="0" rIns="0" bIns="0" rtlCol="0" anchor="t"/>
          <a:lstStyle/>
          <a:p>
            <a:pPr indent="0" marL="0">
              <a:buNone/>
            </a:pPr>
            <a:r>
              <a:rPr lang="en-US" sz="950" b="1" spc="120" kern="0" dirty="0">
                <a:solidFill>
                  <a:srgbClr val="9C907A"/>
                </a:solidFill>
                <a:latin typeface="Calibri" pitchFamily="34" charset="0"/>
                <a:ea typeface="Calibri" pitchFamily="34" charset="-122"/>
                <a:cs typeface="Calibri" pitchFamily="34" charset="-120"/>
              </a:rPr>
              <a:t>PHASE 4 · MONTHS 24–36</a:t>
            </a:r>
            <a:endParaRPr lang="en-US" sz="950" dirty="0"/>
          </a:p>
        </p:txBody>
      </p:sp>
      <p:sp>
        <p:nvSpPr>
          <p:cNvPr id="26" name="Text 24"/>
          <p:cNvSpPr txBox="1"/>
          <p:nvPr/>
        </p:nvSpPr>
        <p:spPr>
          <a:xfrm>
            <a:off x="1481328" y="5038344"/>
            <a:ext cx="2286000" cy="384048"/>
          </a:xfrm>
          <a:prstGeom prst="rect">
            <a:avLst/>
          </a:prstGeom>
          <a:noFill/>
          <a:ln/>
        </p:spPr>
        <p:txBody>
          <a:bodyPr wrap="square" lIns="0" tIns="0" rIns="0" bIns="0" rtlCol="0" anchor="t"/>
          <a:lstStyle/>
          <a:p>
            <a:pPr indent="0" marL="0">
              <a:buNone/>
            </a:pPr>
            <a:r>
              <a:rPr lang="en-US" sz="1250" b="1" dirty="0">
                <a:solidFill>
                  <a:srgbClr val="2B2318"/>
                </a:solidFill>
                <a:latin typeface="Calibri" pitchFamily="34" charset="0"/>
                <a:ea typeface="Calibri" pitchFamily="34" charset="-122"/>
                <a:cs typeface="Calibri" pitchFamily="34" charset="-120"/>
              </a:rPr>
              <a:t>Tender and scale</a:t>
            </a:r>
            <a:endParaRPr lang="en-US" sz="1250" dirty="0"/>
          </a:p>
        </p:txBody>
      </p:sp>
      <p:sp>
        <p:nvSpPr>
          <p:cNvPr id="27" name="Text 25"/>
          <p:cNvSpPr txBox="1"/>
          <p:nvPr/>
        </p:nvSpPr>
        <p:spPr>
          <a:xfrm>
            <a:off x="3913632" y="4800600"/>
            <a:ext cx="7434072" cy="621792"/>
          </a:xfrm>
          <a:prstGeom prst="rect">
            <a:avLst/>
          </a:prstGeom>
          <a:noFill/>
          <a:ln/>
        </p:spPr>
        <p:txBody>
          <a:bodyPr wrap="square" lIns="0" tIns="0" rIns="0" bIns="0" rtlCol="0" anchor="ctr"/>
          <a:lstStyle/>
          <a:p>
            <a:pPr indent="0" marL="0">
              <a:lnSpc>
                <a:spcPts val="1350"/>
              </a:lnSpc>
              <a:buNone/>
            </a:pPr>
            <a:r>
              <a:rPr lang="en-US" sz="1050" dirty="0">
                <a:solidFill>
                  <a:srgbClr val="6B6252"/>
                </a:solidFill>
                <a:latin typeface="Calibri" pitchFamily="34" charset="0"/>
                <a:ea typeface="Calibri" pitchFamily="34" charset="-122"/>
                <a:cs typeface="Calibri" pitchFamily="34" charset="-120"/>
              </a:rPr>
              <a:t>Bid into open e-tenders in Madhya Pradesh and Maharashtra with the pilot data in hand. Payment cycles run 90–180 days, so the retail channel has to be funding working capital by this point.</a:t>
            </a:r>
            <a:endParaRPr lang="en-US" sz="1050" dirty="0"/>
          </a:p>
        </p:txBody>
      </p:sp>
      <p:sp>
        <p:nvSpPr>
          <p:cNvPr id="28" name="Shape 26"/>
          <p:cNvSpPr/>
          <p:nvPr/>
        </p:nvSpPr>
        <p:spPr>
          <a:xfrm>
            <a:off x="548640" y="5760720"/>
            <a:ext cx="11091672" cy="457200"/>
          </a:xfrm>
          <a:prstGeom prst="roundRect">
            <a:avLst>
              <a:gd name="adj" fmla="val 18000"/>
            </a:avLst>
          </a:prstGeom>
          <a:solidFill>
            <a:srgbClr val="FCF3E0"/>
          </a:solidFill>
          <a:ln w="12700">
            <a:solidFill>
              <a:srgbClr val="EAE1CE"/>
            </a:solidFill>
            <a:prstDash val="solid"/>
          </a:ln>
          <a:effectLst>
            <a:outerShdw sx="100000" sy="100000" kx="0" ky="0" algn="bl" rotWithShape="0" blurRad="76200" dist="12700" dir="5400000">
              <a:srgbClr val="8A7C64">
                <a:alpha val="16000"/>
              </a:srgbClr>
            </a:outerShdw>
          </a:effectLst>
        </p:spPr>
      </p:sp>
      <p:sp>
        <p:nvSpPr>
          <p:cNvPr id="29" name="Text 27"/>
          <p:cNvSpPr txBox="1"/>
          <p:nvPr/>
        </p:nvSpPr>
        <p:spPr>
          <a:xfrm>
            <a:off x="841248" y="5843016"/>
            <a:ext cx="10506456" cy="310896"/>
          </a:xfrm>
          <a:prstGeom prst="rect">
            <a:avLst/>
          </a:prstGeom>
          <a:noFill/>
          <a:ln/>
        </p:spPr>
        <p:txBody>
          <a:bodyPr wrap="square" lIns="0" tIns="0" rIns="0" bIns="0" rtlCol="0" anchor="t"/>
          <a:lstStyle/>
          <a:p>
            <a:pPr indent="0" marL="0">
              <a:buNone/>
            </a:pPr>
            <a:r>
              <a:rPr lang="en-US" sz="1100" i="1" dirty="0">
                <a:solidFill>
                  <a:srgbClr val="2B2318"/>
                </a:solidFill>
                <a:latin typeface="Calibri" pitchFamily="34" charset="0"/>
                <a:ea typeface="Calibri" pitchFamily="34" charset="-122"/>
                <a:cs typeface="Calibri" pitchFamily="34" charset="-120"/>
              </a:rPr>
              <a:t>Government revenue arrives in year three, not year one. Any pitch that promises a state contract inside twelve months is telling you it has never read a tender document.</a:t>
            </a:r>
            <a:endParaRPr lang="en-US" sz="1100" dirty="0"/>
          </a:p>
        </p:txBody>
      </p:sp>
      <p:sp>
        <p:nvSpPr>
          <p:cNvPr id="30" name="Text 28"/>
          <p:cNvSpPr txBox="1"/>
          <p:nvPr/>
        </p:nvSpPr>
        <p:spPr>
          <a:xfrm>
            <a:off x="548640" y="6419088"/>
            <a:ext cx="4572000" cy="256032"/>
          </a:xfrm>
          <a:prstGeom prst="rect">
            <a:avLst/>
          </a:prstGeom>
          <a:noFill/>
          <a:ln/>
        </p:spPr>
        <p:txBody>
          <a:bodyPr wrap="square" lIns="0" tIns="0" rIns="0" bIns="0" rtlCol="0" anchor="ctr"/>
          <a:lstStyle/>
          <a:p>
            <a:pPr indent="0" marL="0">
              <a:buNone/>
            </a:pPr>
            <a:r>
              <a:rPr lang="en-US" sz="900" dirty="0">
                <a:solidFill>
                  <a:srgbClr val="9C907A"/>
                </a:solidFill>
                <a:latin typeface="Calibri" pitchFamily="34" charset="0"/>
                <a:ea typeface="Calibri" pitchFamily="34" charset="-122"/>
                <a:cs typeface="Calibri" pitchFamily="34" charset="-120"/>
              </a:rPr>
              <a:t>PoshanSetu — F&amp;B Submission</a:t>
            </a:r>
            <a:endParaRPr lang="en-US" sz="900" dirty="0"/>
          </a:p>
        </p:txBody>
      </p:sp>
      <p:sp>
        <p:nvSpPr>
          <p:cNvPr id="31" name="Text 29"/>
          <p:cNvSpPr txBox="1"/>
          <p:nvPr/>
        </p:nvSpPr>
        <p:spPr>
          <a:xfrm>
            <a:off x="10058400" y="6419088"/>
            <a:ext cx="1581912" cy="256032"/>
          </a:xfrm>
          <a:prstGeom prst="rect">
            <a:avLst/>
          </a:prstGeom>
          <a:noFill/>
          <a:ln/>
        </p:spPr>
        <p:txBody>
          <a:bodyPr wrap="square" lIns="0" tIns="0" rIns="0" bIns="0" rtlCol="0" anchor="ctr"/>
          <a:lstStyle/>
          <a:p>
            <a:pPr algn="r" indent="0" marL="0">
              <a:buNone/>
            </a:pPr>
            <a:r>
              <a:rPr lang="en-US" sz="900" dirty="0">
                <a:solidFill>
                  <a:srgbClr val="9C907A"/>
                </a:solidFill>
                <a:latin typeface="Calibri" pitchFamily="34" charset="0"/>
                <a:ea typeface="Calibri" pitchFamily="34" charset="-122"/>
                <a:cs typeface="Calibri"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100" b="1" spc="220" kern="0" dirty="0">
                <a:solidFill>
                  <a:srgbClr val="3E5566"/>
                </a:solidFill>
                <a:latin typeface="Calibri" pitchFamily="34" charset="0"/>
                <a:ea typeface="Calibri" pitchFamily="34" charset="-122"/>
                <a:cs typeface="Calibri" pitchFamily="34" charset="-120"/>
              </a:rPr>
              <a:t>10 · SUPPLY &amp; REGULATORY</a:t>
            </a:r>
            <a:endParaRPr lang="en-US" sz="1100" dirty="0"/>
          </a:p>
        </p:txBody>
      </p:sp>
      <p:sp>
        <p:nvSpPr>
          <p:cNvPr id="3" name="Text 1"/>
          <p:cNvSpPr txBox="1"/>
          <p:nvPr/>
        </p:nvSpPr>
        <p:spPr>
          <a:xfrm>
            <a:off x="548640" y="713232"/>
            <a:ext cx="11091672" cy="868680"/>
          </a:xfrm>
          <a:prstGeom prst="rect">
            <a:avLst/>
          </a:prstGeom>
          <a:noFill/>
          <a:ln/>
        </p:spPr>
        <p:txBody>
          <a:bodyPr wrap="square" lIns="0" tIns="0" rIns="0" bIns="0" rtlCol="0" anchor="t"/>
          <a:lstStyle/>
          <a:p>
            <a:pPr indent="0" marL="0">
              <a:lnSpc>
                <a:spcPts val="3600"/>
              </a:lnSpc>
              <a:buNone/>
            </a:pPr>
            <a:r>
              <a:rPr lang="en-US" sz="3000" b="1" dirty="0">
                <a:solidFill>
                  <a:srgbClr val="2B2318"/>
                </a:solidFill>
                <a:latin typeface="Cambria" pitchFamily="34" charset="0"/>
                <a:ea typeface="Cambria" pitchFamily="34" charset="-122"/>
                <a:cs typeface="Cambria" pitchFamily="34" charset="-120"/>
              </a:rPr>
              <a:t>The law at 5–12 is not a constraint. It is the product specification.</a:t>
            </a:r>
            <a:endParaRPr lang="en-US" sz="3000" dirty="0"/>
          </a:p>
        </p:txBody>
      </p:sp>
      <p:sp>
        <p:nvSpPr>
          <p:cNvPr id="4" name="Shape 2"/>
          <p:cNvSpPr/>
          <p:nvPr/>
        </p:nvSpPr>
        <p:spPr>
          <a:xfrm>
            <a:off x="548640" y="1783080"/>
            <a:ext cx="5989320" cy="1280160"/>
          </a:xfrm>
          <a:prstGeom prst="roundRect">
            <a:avLst>
              <a:gd name="adj" fmla="val 6429"/>
            </a:avLst>
          </a:prstGeom>
          <a:solidFill>
            <a:srgbClr val="EAF1F5"/>
          </a:solidFill>
          <a:ln w="12700">
            <a:solidFill>
              <a:srgbClr val="CFE0E8"/>
            </a:solidFill>
            <a:prstDash val="solid"/>
          </a:ln>
          <a:effectLst>
            <a:outerShdw sx="100000" sy="100000" kx="0" ky="0" algn="bl" rotWithShape="0" blurRad="76200" dist="12700" dir="5400000">
              <a:srgbClr val="8A7C64">
                <a:alpha val="16000"/>
              </a:srgbClr>
            </a:outerShdw>
          </a:effectLst>
        </p:spPr>
      </p:sp>
      <p:sp>
        <p:nvSpPr>
          <p:cNvPr id="5" name="Shape 3"/>
          <p:cNvSpPr/>
          <p:nvPr/>
        </p:nvSpPr>
        <p:spPr>
          <a:xfrm>
            <a:off x="804672" y="2020824"/>
            <a:ext cx="310896" cy="310896"/>
          </a:xfrm>
          <a:prstGeom prst="ellipse">
            <a:avLst/>
          </a:prstGeom>
          <a:solidFill>
            <a:srgbClr val="3E5566"/>
          </a:solidFill>
          <a:ln/>
        </p:spPr>
      </p:sp>
      <p:sp>
        <p:nvSpPr>
          <p:cNvPr id="6" name="Text 4"/>
          <p:cNvSpPr txBox="1"/>
          <p:nvPr/>
        </p:nvSpPr>
        <p:spPr>
          <a:xfrm>
            <a:off x="804672" y="20208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7" name="Text 5"/>
          <p:cNvSpPr txBox="1"/>
          <p:nvPr/>
        </p:nvSpPr>
        <p:spPr>
          <a:xfrm>
            <a:off x="1261872" y="2002536"/>
            <a:ext cx="5029200" cy="274320"/>
          </a:xfrm>
          <a:prstGeom prst="rect">
            <a:avLst/>
          </a:prstGeom>
          <a:noFill/>
          <a:ln/>
        </p:spPr>
        <p:txBody>
          <a:bodyPr wrap="square" lIns="0" tIns="0" rIns="0" bIns="0" rtlCol="0" anchor="t"/>
          <a:lstStyle/>
          <a:p>
            <a:pPr indent="0" marL="0">
              <a:buNone/>
            </a:pPr>
            <a:r>
              <a:rPr lang="en-US" sz="1300" b="1" dirty="0">
                <a:solidFill>
                  <a:srgbClr val="2B2318"/>
                </a:solidFill>
                <a:latin typeface="Calibri" pitchFamily="34" charset="0"/>
                <a:ea typeface="Calibri" pitchFamily="34" charset="-122"/>
                <a:cs typeface="Calibri" pitchFamily="34" charset="-120"/>
              </a:rPr>
              <a:t>Contract manufacturing</a:t>
            </a:r>
            <a:endParaRPr lang="en-US" sz="1300" dirty="0"/>
          </a:p>
        </p:txBody>
      </p:sp>
      <p:sp>
        <p:nvSpPr>
          <p:cNvPr id="8" name="Text 6"/>
          <p:cNvSpPr txBox="1"/>
          <p:nvPr/>
        </p:nvSpPr>
        <p:spPr>
          <a:xfrm>
            <a:off x="1261872" y="2295144"/>
            <a:ext cx="5029200" cy="658368"/>
          </a:xfrm>
          <a:prstGeom prst="rect">
            <a:avLst/>
          </a:prstGeom>
          <a:noFill/>
          <a:ln/>
        </p:spPr>
        <p:txBody>
          <a:bodyPr wrap="square" lIns="0" tIns="0" rIns="0" bIns="0" rtlCol="0" anchor="t"/>
          <a:lstStyle/>
          <a:p>
            <a:pPr indent="0" marL="0">
              <a:lnSpc>
                <a:spcPts val="1350"/>
              </a:lnSpc>
              <a:buNone/>
            </a:pPr>
            <a:r>
              <a:rPr lang="en-US" sz="1050" dirty="0">
                <a:solidFill>
                  <a:srgbClr val="6B6252"/>
                </a:solidFill>
                <a:latin typeface="Calibri" pitchFamily="34" charset="0"/>
                <a:ea typeface="Calibri" pitchFamily="34" charset="-122"/>
                <a:cs typeface="Calibri" pitchFamily="34" charset="-120"/>
              </a:rPr>
              <a:t>An FSSAI-licensed co-packer with sprouting, roasting and blending capability. No capex to launch; adds an estimated 15–25% to unit cost, which is the price of iterating the formula.</a:t>
            </a:r>
            <a:endParaRPr lang="en-US" sz="1050" dirty="0"/>
          </a:p>
        </p:txBody>
      </p:sp>
      <p:sp>
        <p:nvSpPr>
          <p:cNvPr id="9" name="Shape 7"/>
          <p:cNvSpPr/>
          <p:nvPr/>
        </p:nvSpPr>
        <p:spPr>
          <a:xfrm>
            <a:off x="548640" y="3246120"/>
            <a:ext cx="5989320" cy="1280160"/>
          </a:xfrm>
          <a:prstGeom prst="roundRect">
            <a:avLst>
              <a:gd name="adj" fmla="val 6429"/>
            </a:avLst>
          </a:prstGeom>
          <a:solidFill>
            <a:srgbClr val="EAF1F5"/>
          </a:solidFill>
          <a:ln w="12700">
            <a:solidFill>
              <a:srgbClr val="CFE0E8"/>
            </a:solidFill>
            <a:prstDash val="solid"/>
          </a:ln>
          <a:effectLst>
            <a:outerShdw sx="100000" sy="100000" kx="0" ky="0" algn="bl" rotWithShape="0" blurRad="76200" dist="12700" dir="5400000">
              <a:srgbClr val="8A7C64">
                <a:alpha val="16000"/>
              </a:srgbClr>
            </a:outerShdw>
          </a:effectLst>
        </p:spPr>
      </p:sp>
      <p:sp>
        <p:nvSpPr>
          <p:cNvPr id="10" name="Shape 8"/>
          <p:cNvSpPr/>
          <p:nvPr/>
        </p:nvSpPr>
        <p:spPr>
          <a:xfrm>
            <a:off x="804672" y="3483864"/>
            <a:ext cx="310896" cy="310896"/>
          </a:xfrm>
          <a:prstGeom prst="ellipse">
            <a:avLst/>
          </a:prstGeom>
          <a:solidFill>
            <a:srgbClr val="3E5566"/>
          </a:solidFill>
          <a:ln/>
        </p:spPr>
      </p:sp>
      <p:sp>
        <p:nvSpPr>
          <p:cNvPr id="11" name="Text 9"/>
          <p:cNvSpPr txBox="1"/>
          <p:nvPr/>
        </p:nvSpPr>
        <p:spPr>
          <a:xfrm>
            <a:off x="804672" y="34838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10"/>
          <p:cNvSpPr txBox="1"/>
          <p:nvPr/>
        </p:nvSpPr>
        <p:spPr>
          <a:xfrm>
            <a:off x="1261872" y="3465576"/>
            <a:ext cx="5029200" cy="274320"/>
          </a:xfrm>
          <a:prstGeom prst="rect">
            <a:avLst/>
          </a:prstGeom>
          <a:noFill/>
          <a:ln/>
        </p:spPr>
        <p:txBody>
          <a:bodyPr wrap="square" lIns="0" tIns="0" rIns="0" bIns="0" rtlCol="0" anchor="t"/>
          <a:lstStyle/>
          <a:p>
            <a:pPr indent="0" marL="0">
              <a:buNone/>
            </a:pPr>
            <a:r>
              <a:rPr lang="en-US" sz="1300" b="1" dirty="0">
                <a:solidFill>
                  <a:srgbClr val="2B2318"/>
                </a:solidFill>
                <a:latin typeface="Calibri" pitchFamily="34" charset="0"/>
                <a:ea typeface="Calibri" pitchFamily="34" charset="-122"/>
                <a:cs typeface="Calibri" pitchFamily="34" charset="-120"/>
              </a:rPr>
              <a:t>Hyper-local sourcing</a:t>
            </a:r>
            <a:endParaRPr lang="en-US" sz="1300" dirty="0"/>
          </a:p>
        </p:txBody>
      </p:sp>
      <p:sp>
        <p:nvSpPr>
          <p:cNvPr id="13" name="Text 11"/>
          <p:cNvSpPr txBox="1"/>
          <p:nvPr/>
        </p:nvSpPr>
        <p:spPr>
          <a:xfrm>
            <a:off x="1261872" y="3758184"/>
            <a:ext cx="5029200" cy="658368"/>
          </a:xfrm>
          <a:prstGeom prst="rect">
            <a:avLst/>
          </a:prstGeom>
          <a:noFill/>
          <a:ln/>
        </p:spPr>
        <p:txBody>
          <a:bodyPr wrap="square" lIns="0" tIns="0" rIns="0" bIns="0" rtlCol="0" anchor="t"/>
          <a:lstStyle/>
          <a:p>
            <a:pPr indent="0" marL="0">
              <a:lnSpc>
                <a:spcPts val="1350"/>
              </a:lnSpc>
              <a:buNone/>
            </a:pPr>
            <a:r>
              <a:rPr lang="en-US" sz="1050" dirty="0">
                <a:solidFill>
                  <a:srgbClr val="6B6252"/>
                </a:solidFill>
                <a:latin typeface="Calibri" pitchFamily="34" charset="0"/>
                <a:ea typeface="Calibri" pitchFamily="34" charset="-122"/>
                <a:cs typeface="Calibri" pitchFamily="34" charset="-120"/>
              </a:rPr>
              <a:t>Ragi, bajra and bengal gram from farmer producer organisations in the districts we sell into. Shorter chain, verifiable provenance, and a procurement story a state likes.</a:t>
            </a:r>
            <a:endParaRPr lang="en-US" sz="1050" dirty="0"/>
          </a:p>
        </p:txBody>
      </p:sp>
      <p:sp>
        <p:nvSpPr>
          <p:cNvPr id="14" name="Shape 12"/>
          <p:cNvSpPr/>
          <p:nvPr/>
        </p:nvSpPr>
        <p:spPr>
          <a:xfrm>
            <a:off x="548640" y="4709160"/>
            <a:ext cx="5989320" cy="1280160"/>
          </a:xfrm>
          <a:prstGeom prst="roundRect">
            <a:avLst>
              <a:gd name="adj" fmla="val 6429"/>
            </a:avLst>
          </a:prstGeom>
          <a:solidFill>
            <a:srgbClr val="EAF1F5"/>
          </a:solidFill>
          <a:ln w="12700">
            <a:solidFill>
              <a:srgbClr val="CFE0E8"/>
            </a:solidFill>
            <a:prstDash val="solid"/>
          </a:ln>
          <a:effectLst>
            <a:outerShdw sx="100000" sy="100000" kx="0" ky="0" algn="bl" rotWithShape="0" blurRad="76200" dist="12700" dir="5400000">
              <a:srgbClr val="8A7C64">
                <a:alpha val="16000"/>
              </a:srgbClr>
            </a:outerShdw>
          </a:effectLst>
        </p:spPr>
      </p:sp>
      <p:sp>
        <p:nvSpPr>
          <p:cNvPr id="15" name="Shape 13"/>
          <p:cNvSpPr/>
          <p:nvPr/>
        </p:nvSpPr>
        <p:spPr>
          <a:xfrm>
            <a:off x="804672" y="4946904"/>
            <a:ext cx="310896" cy="310896"/>
          </a:xfrm>
          <a:prstGeom prst="ellipse">
            <a:avLst/>
          </a:prstGeom>
          <a:solidFill>
            <a:srgbClr val="3E5566"/>
          </a:solidFill>
          <a:ln/>
        </p:spPr>
      </p:sp>
      <p:sp>
        <p:nvSpPr>
          <p:cNvPr id="16" name="Text 14"/>
          <p:cNvSpPr txBox="1"/>
          <p:nvPr/>
        </p:nvSpPr>
        <p:spPr>
          <a:xfrm>
            <a:off x="804672" y="49469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7" name="Text 15"/>
          <p:cNvSpPr txBox="1"/>
          <p:nvPr/>
        </p:nvSpPr>
        <p:spPr>
          <a:xfrm>
            <a:off x="1261872" y="4928616"/>
            <a:ext cx="5029200" cy="274320"/>
          </a:xfrm>
          <a:prstGeom prst="rect">
            <a:avLst/>
          </a:prstGeom>
          <a:noFill/>
          <a:ln/>
        </p:spPr>
        <p:txBody>
          <a:bodyPr wrap="square" lIns="0" tIns="0" rIns="0" bIns="0" rtlCol="0" anchor="t"/>
          <a:lstStyle/>
          <a:p>
            <a:pPr indent="0" marL="0">
              <a:buNone/>
            </a:pPr>
            <a:r>
              <a:rPr lang="en-US" sz="1300" b="1" dirty="0">
                <a:solidFill>
                  <a:srgbClr val="2B2318"/>
                </a:solidFill>
                <a:latin typeface="Calibri" pitchFamily="34" charset="0"/>
                <a:ea typeface="Calibri" pitchFamily="34" charset="-122"/>
                <a:cs typeface="Calibri" pitchFamily="34" charset="-120"/>
              </a:rPr>
              <a:t>Ambient and kitchen-free</a:t>
            </a:r>
            <a:endParaRPr lang="en-US" sz="1300" dirty="0"/>
          </a:p>
        </p:txBody>
      </p:sp>
      <p:sp>
        <p:nvSpPr>
          <p:cNvPr id="18" name="Text 16"/>
          <p:cNvSpPr txBox="1"/>
          <p:nvPr/>
        </p:nvSpPr>
        <p:spPr>
          <a:xfrm>
            <a:off x="1261872" y="5221224"/>
            <a:ext cx="5029200" cy="658368"/>
          </a:xfrm>
          <a:prstGeom prst="rect">
            <a:avLst/>
          </a:prstGeom>
          <a:noFill/>
          <a:ln/>
        </p:spPr>
        <p:txBody>
          <a:bodyPr wrap="square" lIns="0" tIns="0" rIns="0" bIns="0" rtlCol="0" anchor="t"/>
          <a:lstStyle/>
          <a:p>
            <a:pPr indent="0" marL="0">
              <a:lnSpc>
                <a:spcPts val="1350"/>
              </a:lnSpc>
              <a:buNone/>
            </a:pPr>
            <a:r>
              <a:rPr lang="en-US" sz="1050" dirty="0">
                <a:solidFill>
                  <a:srgbClr val="6B6252"/>
                </a:solidFill>
                <a:latin typeface="Calibri" pitchFamily="34" charset="0"/>
                <a:ea typeface="Calibri" pitchFamily="34" charset="-122"/>
                <a:cs typeface="Calibri" pitchFamily="34" charset="-120"/>
              </a:rPr>
              <a:t>12 months at room temperature, no cold chain. It rides the routes PDS and anganwadi supplies already use, and it works on the day the school kitchen doesn't.</a:t>
            </a:r>
            <a:endParaRPr lang="en-US" sz="1050" dirty="0"/>
          </a:p>
        </p:txBody>
      </p:sp>
      <p:sp>
        <p:nvSpPr>
          <p:cNvPr id="19" name="Shape 17"/>
          <p:cNvSpPr/>
          <p:nvPr/>
        </p:nvSpPr>
        <p:spPr>
          <a:xfrm>
            <a:off x="6903720" y="1783080"/>
            <a:ext cx="4736592" cy="4023360"/>
          </a:xfrm>
          <a:prstGeom prst="roundRect">
            <a:avLst>
              <a:gd name="adj" fmla="val 2045"/>
            </a:avLst>
          </a:prstGeom>
          <a:solidFill>
            <a:srgbClr val="EEF3EC"/>
          </a:solidFill>
          <a:ln w="12700">
            <a:solidFill>
              <a:srgbClr val="CFE0CC"/>
            </a:solidFill>
            <a:prstDash val="solid"/>
          </a:ln>
          <a:effectLst>
            <a:outerShdw sx="100000" sy="100000" kx="0" ky="0" algn="bl" rotWithShape="0" blurRad="76200" dist="12700" dir="5400000">
              <a:srgbClr val="8A7C64">
                <a:alpha val="16000"/>
              </a:srgbClr>
            </a:outerShdw>
          </a:effectLst>
        </p:spPr>
      </p:sp>
      <p:sp>
        <p:nvSpPr>
          <p:cNvPr id="20" name="Text 18"/>
          <p:cNvSpPr txBox="1"/>
          <p:nvPr/>
        </p:nvSpPr>
        <p:spPr>
          <a:xfrm>
            <a:off x="7178040" y="1965960"/>
            <a:ext cx="4187952" cy="274320"/>
          </a:xfrm>
          <a:prstGeom prst="rect">
            <a:avLst/>
          </a:prstGeom>
          <a:noFill/>
          <a:ln/>
        </p:spPr>
        <p:txBody>
          <a:bodyPr wrap="square" lIns="0" tIns="0" rIns="0" bIns="0" rtlCol="0" anchor="ctr"/>
          <a:lstStyle/>
          <a:p>
            <a:pPr indent="0" marL="0">
              <a:buNone/>
            </a:pPr>
            <a:r>
              <a:rPr lang="en-US" sz="1450" b="1" dirty="0">
                <a:solidFill>
                  <a:srgbClr val="3F5B3E"/>
                </a:solidFill>
                <a:latin typeface="Cambria" pitchFamily="34" charset="0"/>
                <a:ea typeface="Cambria" pitchFamily="34" charset="-122"/>
                <a:cs typeface="Cambria" pitchFamily="34" charset="-120"/>
              </a:rPr>
              <a:t>WHAT MOVING TO 5–12 CHANGED</a:t>
            </a:r>
            <a:endParaRPr lang="en-US" sz="1450" dirty="0"/>
          </a:p>
        </p:txBody>
      </p:sp>
      <p:sp>
        <p:nvSpPr>
          <p:cNvPr id="21" name="Text 19"/>
          <p:cNvSpPr txBox="1"/>
          <p:nvPr/>
        </p:nvSpPr>
        <p:spPr>
          <a:xfrm>
            <a:off x="7178040" y="2331720"/>
            <a:ext cx="4187952" cy="3337560"/>
          </a:xfrm>
          <a:prstGeom prst="rect">
            <a:avLst/>
          </a:prstGeom>
          <a:noFill/>
          <a:ln/>
        </p:spPr>
        <p:txBody>
          <a:bodyPr wrap="square" lIns="0" tIns="0" rIns="0" bIns="0" rtlCol="0" anchor="t"/>
          <a:lstStyle/>
          <a:p>
            <a:pPr indent="0" marL="0">
              <a:lnSpc>
                <a:spcPts val="1300"/>
              </a:lnSpc>
              <a:spcAft>
                <a:spcPts val="700"/>
              </a:spcAft>
              <a:buNone/>
            </a:pPr>
            <a:r>
              <a:rPr lang="en-US" sz="1000" b="1" dirty="0">
                <a:solidFill>
                  <a:srgbClr val="3F5B3E"/>
                </a:solidFill>
                <a:latin typeface="Calibri" pitchFamily="34" charset="0"/>
                <a:ea typeface="Calibri" pitchFamily="34" charset="-122"/>
                <a:cs typeface="Calibri" pitchFamily="34" charset="-120"/>
              </a:rPr>
              <a:t>Gone: the IMS Act. </a:t>
            </a:r>
            <a:pPr indent="0" marL="0">
              <a:lnSpc>
                <a:spcPts val="1300"/>
              </a:lnSpc>
              <a:spcAft>
                <a:spcPts val="700"/>
              </a:spcAft>
              <a:buNone/>
            </a:pPr>
            <a:r>
              <a:rPr lang="en-US" sz="1000" dirty="0">
                <a:solidFill>
                  <a:srgbClr val="2B2318"/>
                </a:solidFill>
                <a:latin typeface="Calibri" pitchFamily="34" charset="0"/>
                <a:ea typeface="Calibri" pitchFamily="34" charset="-122"/>
                <a:cs typeface="Calibri" pitchFamily="34" charset="-120"/>
              </a:rPr>
              <a:t>India's Infant Milk Substitutes Act bans advertising, free samples, child imagery and health-worker inducements — for infant foods. At 5–12 none of it applies, which is what makes the mascot, the puzzle and the teacher recommendation lawful.</a:t>
            </a:r>
            <a:endParaRPr lang="en-US" sz="1000" dirty="0"/>
          </a:p>
          <a:p>
            <a:pPr indent="0" marL="0">
              <a:lnSpc>
                <a:spcPts val="1300"/>
              </a:lnSpc>
              <a:spcAft>
                <a:spcPts val="700"/>
              </a:spcAft>
              <a:buNone/>
            </a:pPr>
            <a:r>
              <a:rPr lang="en-US" sz="1000" b="1" dirty="0">
                <a:solidFill>
                  <a:srgbClr val="3F5B3E"/>
                </a:solidFill>
                <a:latin typeface="Calibri" pitchFamily="34" charset="0"/>
                <a:ea typeface="Calibri" pitchFamily="34" charset="-122"/>
                <a:cs typeface="Calibri" pitchFamily="34" charset="-120"/>
              </a:rPr>
              <a:t>New and binding: FSSAI's 2020 school regulations. </a:t>
            </a:r>
            <a:pPr indent="0" marL="0">
              <a:lnSpc>
                <a:spcPts val="1300"/>
              </a:lnSpc>
              <a:spcAft>
                <a:spcPts val="700"/>
              </a:spcAft>
              <a:buNone/>
            </a:pPr>
            <a:r>
              <a:rPr lang="en-US" sz="1000" dirty="0">
                <a:solidFill>
                  <a:srgbClr val="2B2318"/>
                </a:solidFill>
                <a:latin typeface="Calibri" pitchFamily="34" charset="0"/>
                <a:ea typeface="Calibri" pitchFamily="34" charset="-122"/>
                <a:cs typeface="Calibri" pitchFamily="34" charset="-120"/>
              </a:rPr>
              <a:t>The Food Safety and Standards (Safe food and balanced diets for children in school) Regulations, 2020 bar the sale, marketing or advertising of food high in saturated fat, trans fat, added sugar or sodium in school premises or within 50 metres of the school gate.</a:t>
            </a:r>
            <a:endParaRPr lang="en-US" sz="1000" dirty="0"/>
          </a:p>
          <a:p>
            <a:pPr indent="0" marL="0">
              <a:lnSpc>
                <a:spcPts val="1300"/>
              </a:lnSpc>
              <a:spcAft>
                <a:spcPts val="700"/>
              </a:spcAft>
              <a:buNone/>
            </a:pPr>
            <a:r>
              <a:rPr lang="en-US" sz="1000" b="1" dirty="0">
                <a:solidFill>
                  <a:srgbClr val="3F5B3E"/>
                </a:solidFill>
                <a:latin typeface="Calibri" pitchFamily="34" charset="0"/>
                <a:ea typeface="Calibri" pitchFamily="34" charset="-122"/>
                <a:cs typeface="Calibri" pitchFamily="34" charset="-120"/>
              </a:rPr>
              <a:t>So the formulation is the compliance strategy. </a:t>
            </a:r>
            <a:pPr indent="0" marL="0">
              <a:lnSpc>
                <a:spcPts val="1300"/>
              </a:lnSpc>
              <a:spcAft>
                <a:spcPts val="700"/>
              </a:spcAft>
              <a:buNone/>
            </a:pPr>
            <a:r>
              <a:rPr lang="en-US" sz="1000" dirty="0">
                <a:solidFill>
                  <a:srgbClr val="2B2318"/>
                </a:solidFill>
                <a:latin typeface="Calibri" pitchFamily="34" charset="0"/>
                <a:ea typeface="Calibri" pitchFamily="34" charset="-122"/>
                <a:cs typeface="Calibri" pitchFamily="34" charset="-120"/>
              </a:rPr>
              <a:t>4g added sugar, 1.2g saturated fat and no trans fat per serve keeps us clearly outside the HFSS definition. Staying non-HFSS is not a nice-to-have — it is the condition on which school-gate retail is legal at all.</a:t>
            </a:r>
            <a:endParaRPr lang="en-US" sz="1000" dirty="0"/>
          </a:p>
          <a:p>
            <a:pPr indent="0" marL="0">
              <a:lnSpc>
                <a:spcPts val="1300"/>
              </a:lnSpc>
              <a:spcAft>
                <a:spcPts val="700"/>
              </a:spcAft>
              <a:buNone/>
            </a:pPr>
            <a:r>
              <a:rPr lang="en-US" sz="1000" b="1" dirty="0">
                <a:solidFill>
                  <a:srgbClr val="3F5B3E"/>
                </a:solidFill>
                <a:latin typeface="Calibri" pitchFamily="34" charset="0"/>
                <a:ea typeface="Calibri" pitchFamily="34" charset="-122"/>
                <a:cs typeface="Calibri" pitchFamily="34" charset="-120"/>
              </a:rPr>
              <a:t>Still open: classification. </a:t>
            </a:r>
            <a:pPr indent="0" marL="0">
              <a:lnSpc>
                <a:spcPts val="1300"/>
              </a:lnSpc>
              <a:spcAft>
                <a:spcPts val="700"/>
              </a:spcAft>
              <a:buNone/>
            </a:pPr>
            <a:r>
              <a:rPr lang="en-US" sz="1000" dirty="0">
                <a:solidFill>
                  <a:srgbClr val="2B2318"/>
                </a:solidFill>
                <a:latin typeface="Calibri" pitchFamily="34" charset="0"/>
                <a:ea typeface="Calibri" pitchFamily="34" charset="-122"/>
                <a:cs typeface="Calibri" pitchFamily="34" charset="-120"/>
              </a:rPr>
              <a:t>Health Supplement, Nutraceutical, FSDU or Fortified Food determines the licence, the label and the timeline. Unresolved, and on the critical path.</a:t>
            </a:r>
            <a:endParaRPr lang="en-US" sz="1000" dirty="0"/>
          </a:p>
        </p:txBody>
      </p:sp>
      <p:sp>
        <p:nvSpPr>
          <p:cNvPr id="22" name="Text 20"/>
          <p:cNvSpPr txBox="1"/>
          <p:nvPr/>
        </p:nvSpPr>
        <p:spPr>
          <a:xfrm>
            <a:off x="548640" y="6419088"/>
            <a:ext cx="4572000" cy="256032"/>
          </a:xfrm>
          <a:prstGeom prst="rect">
            <a:avLst/>
          </a:prstGeom>
          <a:noFill/>
          <a:ln/>
        </p:spPr>
        <p:txBody>
          <a:bodyPr wrap="square" lIns="0" tIns="0" rIns="0" bIns="0" rtlCol="0" anchor="ctr"/>
          <a:lstStyle/>
          <a:p>
            <a:pPr indent="0" marL="0">
              <a:buNone/>
            </a:pPr>
            <a:r>
              <a:rPr lang="en-US" sz="900" dirty="0">
                <a:solidFill>
                  <a:srgbClr val="9C907A"/>
                </a:solidFill>
                <a:latin typeface="Calibri" pitchFamily="34" charset="0"/>
                <a:ea typeface="Calibri" pitchFamily="34" charset="-122"/>
                <a:cs typeface="Calibri" pitchFamily="34" charset="-120"/>
              </a:rPr>
              <a:t>PoshanSetu — F&amp;B Submission</a:t>
            </a:r>
            <a:endParaRPr lang="en-US" sz="900" dirty="0"/>
          </a:p>
        </p:txBody>
      </p:sp>
      <p:sp>
        <p:nvSpPr>
          <p:cNvPr id="23" name="Text 21"/>
          <p:cNvSpPr txBox="1"/>
          <p:nvPr/>
        </p:nvSpPr>
        <p:spPr>
          <a:xfrm>
            <a:off x="10058400" y="6419088"/>
            <a:ext cx="1581912" cy="256032"/>
          </a:xfrm>
          <a:prstGeom prst="rect">
            <a:avLst/>
          </a:prstGeom>
          <a:noFill/>
          <a:ln/>
        </p:spPr>
        <p:txBody>
          <a:bodyPr wrap="square" lIns="0" tIns="0" rIns="0" bIns="0" rtlCol="0" anchor="ctr"/>
          <a:lstStyle/>
          <a:p>
            <a:pPr algn="r" indent="0" marL="0">
              <a:buNone/>
            </a:pPr>
            <a:r>
              <a:rPr lang="en-US" sz="900" dirty="0">
                <a:solidFill>
                  <a:srgbClr val="9C907A"/>
                </a:solidFill>
                <a:latin typeface="Calibri" pitchFamily="34" charset="0"/>
                <a:ea typeface="Calibri" pitchFamily="34" charset="-122"/>
                <a:cs typeface="Calibri"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100" b="1" spc="220" kern="0" dirty="0">
                <a:solidFill>
                  <a:srgbClr val="6B3452"/>
                </a:solidFill>
                <a:latin typeface="Calibri" pitchFamily="34" charset="0"/>
                <a:ea typeface="Calibri" pitchFamily="34" charset="-122"/>
                <a:cs typeface="Calibri" pitchFamily="34" charset="-120"/>
              </a:rPr>
              <a:t>11 · ECONOMICS &amp; THE ASK</a:t>
            </a:r>
            <a:endParaRPr lang="en-US" sz="1100" dirty="0"/>
          </a:p>
        </p:txBody>
      </p:sp>
      <p:sp>
        <p:nvSpPr>
          <p:cNvPr id="3" name="Text 1"/>
          <p:cNvSpPr txBox="1"/>
          <p:nvPr/>
        </p:nvSpPr>
        <p:spPr>
          <a:xfrm>
            <a:off x="548640" y="713232"/>
            <a:ext cx="11091672" cy="868680"/>
          </a:xfrm>
          <a:prstGeom prst="rect">
            <a:avLst/>
          </a:prstGeom>
          <a:noFill/>
          <a:ln/>
        </p:spPr>
        <p:txBody>
          <a:bodyPr wrap="square" lIns="0" tIns="0" rIns="0" bIns="0" rtlCol="0" anchor="t"/>
          <a:lstStyle/>
          <a:p>
            <a:pPr indent="0" marL="0">
              <a:lnSpc>
                <a:spcPts val="3600"/>
              </a:lnSpc>
              <a:buNone/>
            </a:pPr>
            <a:r>
              <a:rPr lang="en-US" sz="3000" b="1" dirty="0">
                <a:solidFill>
                  <a:srgbClr val="2B2318"/>
                </a:solidFill>
                <a:latin typeface="Cambria" pitchFamily="34" charset="0"/>
                <a:ea typeface="Cambria" pitchFamily="34" charset="-122"/>
                <a:cs typeface="Cambria" pitchFamily="34" charset="-120"/>
              </a:rPr>
              <a:t>₹20 in a shop, ₹7 to a state. Here is what we keep.</a:t>
            </a:r>
            <a:endParaRPr lang="en-US" sz="3000" dirty="0"/>
          </a:p>
        </p:txBody>
      </p:sp>
      <p:graphicFrame>
        <p:nvGraphicFramePr>
          <p:cNvPr id="4" name="Chart 0" descr=""/>
          <p:cNvGraphicFramePr/>
          <p:nvPr/>
        </p:nvGraphicFramePr>
        <p:xfrm>
          <a:off x="548640" y="1737360"/>
          <a:ext cx="6035040" cy="3291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102352"/>
            <a:ext cx="6035040" cy="658368"/>
          </a:xfrm>
          <a:prstGeom prst="rect">
            <a:avLst/>
          </a:prstGeom>
          <a:noFill/>
          <a:ln/>
        </p:spPr>
        <p:txBody>
          <a:bodyPr wrap="square" lIns="0" tIns="0" rIns="0" bIns="0" rtlCol="0" anchor="t"/>
          <a:lstStyle/>
          <a:p>
            <a:pPr indent="0" marL="0">
              <a:lnSpc>
                <a:spcPts val="1250"/>
              </a:lnSpc>
              <a:buNone/>
            </a:pPr>
            <a:r>
              <a:rPr lang="en-US" sz="950" i="1" dirty="0">
                <a:solidFill>
                  <a:srgbClr val="9C907A"/>
                </a:solidFill>
                <a:latin typeface="Calibri" pitchFamily="34" charset="0"/>
                <a:ea typeface="Calibri" pitchFamily="34" charset="-122"/>
                <a:cs typeface="Calibri" pitchFamily="34" charset="-120"/>
              </a:rPr>
              <a:t>Retail: ₹20 MRP less 5% GST, 18% retailer and 7% distributor. Gross margin ₹7.50 (52%) retail, ₹10.00 (59%) school-led, ₹1.90 (27%) government. Bulk pouch packaging is what makes the government price possible. All figures are estimates pending manufacturer quotes.</a:t>
            </a:r>
            <a:endParaRPr lang="en-US" sz="950" dirty="0"/>
          </a:p>
        </p:txBody>
      </p:sp>
      <p:sp>
        <p:nvSpPr>
          <p:cNvPr id="6" name="Shape 3"/>
          <p:cNvSpPr/>
          <p:nvPr/>
        </p:nvSpPr>
        <p:spPr>
          <a:xfrm>
            <a:off x="6903720" y="1737360"/>
            <a:ext cx="4736592" cy="859536"/>
          </a:xfrm>
          <a:prstGeom prst="roundRect">
            <a:avLst>
              <a:gd name="adj" fmla="val 9574"/>
            </a:avLst>
          </a:prstGeom>
          <a:solidFill>
            <a:srgbClr val="FFFFFF"/>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7" name="Text 4"/>
          <p:cNvSpPr txBox="1"/>
          <p:nvPr/>
        </p:nvSpPr>
        <p:spPr>
          <a:xfrm>
            <a:off x="7159752" y="2020824"/>
            <a:ext cx="1005840" cy="310896"/>
          </a:xfrm>
          <a:prstGeom prst="rect">
            <a:avLst/>
          </a:prstGeom>
          <a:noFill/>
          <a:ln/>
        </p:spPr>
        <p:txBody>
          <a:bodyPr wrap="square" lIns="0" tIns="0" rIns="0" bIns="0" rtlCol="0" anchor="t"/>
          <a:lstStyle/>
          <a:p>
            <a:pPr indent="0" marL="0">
              <a:buNone/>
            </a:pPr>
            <a:r>
              <a:rPr lang="en-US" sz="1050" b="1" spc="120" kern="0" dirty="0">
                <a:solidFill>
                  <a:srgbClr val="9C907A"/>
                </a:solidFill>
                <a:latin typeface="Calibri" pitchFamily="34" charset="0"/>
                <a:ea typeface="Calibri" pitchFamily="34" charset="-122"/>
                <a:cs typeface="Calibri" pitchFamily="34" charset="-120"/>
              </a:rPr>
              <a:t>Year 1</a:t>
            </a:r>
            <a:endParaRPr lang="en-US" sz="1050" dirty="0"/>
          </a:p>
        </p:txBody>
      </p:sp>
      <p:sp>
        <p:nvSpPr>
          <p:cNvPr id="8" name="Text 5"/>
          <p:cNvSpPr txBox="1"/>
          <p:nvPr/>
        </p:nvSpPr>
        <p:spPr>
          <a:xfrm>
            <a:off x="8138160" y="1901952"/>
            <a:ext cx="3291840" cy="329184"/>
          </a:xfrm>
          <a:prstGeom prst="rect">
            <a:avLst/>
          </a:prstGeom>
          <a:noFill/>
          <a:ln/>
        </p:spPr>
        <p:txBody>
          <a:bodyPr wrap="square" lIns="0" tIns="0" rIns="0" bIns="0" rtlCol="0" anchor="t"/>
          <a:lstStyle/>
          <a:p>
            <a:pPr indent="0" marL="0">
              <a:buNone/>
            </a:pPr>
            <a:r>
              <a:rPr lang="en-US" sz="1700" b="1" dirty="0">
                <a:solidFill>
                  <a:srgbClr val="6B3452"/>
                </a:solidFill>
                <a:latin typeface="Calibri" pitchFamily="34" charset="0"/>
                <a:ea typeface="Calibri" pitchFamily="34" charset="-122"/>
                <a:cs typeface="Calibri" pitchFamily="34" charset="-120"/>
              </a:rPr>
              <a:t>₹12–15 lakh</a:t>
            </a:r>
            <a:endParaRPr lang="en-US" sz="1700" dirty="0"/>
          </a:p>
        </p:txBody>
      </p:sp>
      <p:sp>
        <p:nvSpPr>
          <p:cNvPr id="9" name="Text 6"/>
          <p:cNvSpPr txBox="1"/>
          <p:nvPr/>
        </p:nvSpPr>
        <p:spPr>
          <a:xfrm>
            <a:off x="8138160" y="2249424"/>
            <a:ext cx="3291840" cy="256032"/>
          </a:xfrm>
          <a:prstGeom prst="rect">
            <a:avLst/>
          </a:prstGeom>
          <a:noFill/>
          <a:ln/>
        </p:spPr>
        <p:txBody>
          <a:bodyPr wrap="square" lIns="0" tIns="0" rIns="0" bIns="0" rtlCol="0" anchor="t"/>
          <a:lstStyle/>
          <a:p>
            <a:pPr indent="0" marL="0">
              <a:buNone/>
            </a:pPr>
            <a:r>
              <a:rPr lang="en-US" sz="1000" dirty="0">
                <a:solidFill>
                  <a:srgbClr val="6B6252"/>
                </a:solidFill>
                <a:latin typeface="Calibri" pitchFamily="34" charset="0"/>
                <a:ea typeface="Calibri" pitchFamily="34" charset="-122"/>
                <a:cs typeface="Calibri" pitchFamily="34" charset="-120"/>
              </a:rPr>
              <a:t>retail in 2 districts</a:t>
            </a:r>
            <a:endParaRPr lang="en-US" sz="1000" dirty="0"/>
          </a:p>
        </p:txBody>
      </p:sp>
      <p:sp>
        <p:nvSpPr>
          <p:cNvPr id="10" name="Shape 7"/>
          <p:cNvSpPr/>
          <p:nvPr/>
        </p:nvSpPr>
        <p:spPr>
          <a:xfrm>
            <a:off x="6903720" y="2706624"/>
            <a:ext cx="4736592" cy="859536"/>
          </a:xfrm>
          <a:prstGeom prst="roundRect">
            <a:avLst>
              <a:gd name="adj" fmla="val 9574"/>
            </a:avLst>
          </a:prstGeom>
          <a:solidFill>
            <a:srgbClr val="FFFFFF"/>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11" name="Text 8"/>
          <p:cNvSpPr txBox="1"/>
          <p:nvPr/>
        </p:nvSpPr>
        <p:spPr>
          <a:xfrm>
            <a:off x="7159752" y="2990088"/>
            <a:ext cx="1005840" cy="310896"/>
          </a:xfrm>
          <a:prstGeom prst="rect">
            <a:avLst/>
          </a:prstGeom>
          <a:noFill/>
          <a:ln/>
        </p:spPr>
        <p:txBody>
          <a:bodyPr wrap="square" lIns="0" tIns="0" rIns="0" bIns="0" rtlCol="0" anchor="t"/>
          <a:lstStyle/>
          <a:p>
            <a:pPr indent="0" marL="0">
              <a:buNone/>
            </a:pPr>
            <a:r>
              <a:rPr lang="en-US" sz="1050" b="1" spc="120" kern="0" dirty="0">
                <a:solidFill>
                  <a:srgbClr val="9C907A"/>
                </a:solidFill>
                <a:latin typeface="Calibri" pitchFamily="34" charset="0"/>
                <a:ea typeface="Calibri" pitchFamily="34" charset="-122"/>
                <a:cs typeface="Calibri" pitchFamily="34" charset="-120"/>
              </a:rPr>
              <a:t>Year 2</a:t>
            </a:r>
            <a:endParaRPr lang="en-US" sz="1050" dirty="0"/>
          </a:p>
        </p:txBody>
      </p:sp>
      <p:sp>
        <p:nvSpPr>
          <p:cNvPr id="12" name="Text 9"/>
          <p:cNvSpPr txBox="1"/>
          <p:nvPr/>
        </p:nvSpPr>
        <p:spPr>
          <a:xfrm>
            <a:off x="8138160" y="2871216"/>
            <a:ext cx="3291840" cy="329184"/>
          </a:xfrm>
          <a:prstGeom prst="rect">
            <a:avLst/>
          </a:prstGeom>
          <a:noFill/>
          <a:ln/>
        </p:spPr>
        <p:txBody>
          <a:bodyPr wrap="square" lIns="0" tIns="0" rIns="0" bIns="0" rtlCol="0" anchor="t"/>
          <a:lstStyle/>
          <a:p>
            <a:pPr indent="0" marL="0">
              <a:buNone/>
            </a:pPr>
            <a:r>
              <a:rPr lang="en-US" sz="1700" b="1" dirty="0">
                <a:solidFill>
                  <a:srgbClr val="6B3452"/>
                </a:solidFill>
                <a:latin typeface="Calibri" pitchFamily="34" charset="0"/>
                <a:ea typeface="Calibri" pitchFamily="34" charset="-122"/>
                <a:cs typeface="Calibri" pitchFamily="34" charset="-120"/>
              </a:rPr>
              <a:t>₹1–1.4 crore</a:t>
            </a:r>
            <a:endParaRPr lang="en-US" sz="1700" dirty="0"/>
          </a:p>
        </p:txBody>
      </p:sp>
      <p:sp>
        <p:nvSpPr>
          <p:cNvPr id="13" name="Text 10"/>
          <p:cNvSpPr txBox="1"/>
          <p:nvPr/>
        </p:nvSpPr>
        <p:spPr>
          <a:xfrm>
            <a:off x="8138160" y="3218688"/>
            <a:ext cx="3291840" cy="256032"/>
          </a:xfrm>
          <a:prstGeom prst="rect">
            <a:avLst/>
          </a:prstGeom>
          <a:noFill/>
          <a:ln/>
        </p:spPr>
        <p:txBody>
          <a:bodyPr wrap="square" lIns="0" tIns="0" rIns="0" bIns="0" rtlCol="0" anchor="t"/>
          <a:lstStyle/>
          <a:p>
            <a:pPr indent="0" marL="0">
              <a:buNone/>
            </a:pPr>
            <a:r>
              <a:rPr lang="en-US" sz="1000" dirty="0">
                <a:solidFill>
                  <a:srgbClr val="6B6252"/>
                </a:solidFill>
                <a:latin typeface="Calibri" pitchFamily="34" charset="0"/>
                <a:ea typeface="Calibri" pitchFamily="34" charset="-122"/>
                <a:cs typeface="Calibri" pitchFamily="34" charset="-120"/>
              </a:rPr>
              <a:t>8–10 districts, CSR pilot</a:t>
            </a:r>
            <a:endParaRPr lang="en-US" sz="1000" dirty="0"/>
          </a:p>
        </p:txBody>
      </p:sp>
      <p:sp>
        <p:nvSpPr>
          <p:cNvPr id="14" name="Shape 11"/>
          <p:cNvSpPr/>
          <p:nvPr/>
        </p:nvSpPr>
        <p:spPr>
          <a:xfrm>
            <a:off x="6903720" y="3675888"/>
            <a:ext cx="4736592" cy="859536"/>
          </a:xfrm>
          <a:prstGeom prst="roundRect">
            <a:avLst>
              <a:gd name="adj" fmla="val 9574"/>
            </a:avLst>
          </a:prstGeom>
          <a:solidFill>
            <a:srgbClr val="FFFFFF"/>
          </a:solidFill>
          <a:ln w="12700">
            <a:solidFill>
              <a:srgbClr val="DCD5C2"/>
            </a:solidFill>
            <a:prstDash val="solid"/>
          </a:ln>
          <a:effectLst>
            <a:outerShdw sx="100000" sy="100000" kx="0" ky="0" algn="bl" rotWithShape="0" blurRad="76200" dist="12700" dir="5400000">
              <a:srgbClr val="8A7C64">
                <a:alpha val="16000"/>
              </a:srgbClr>
            </a:outerShdw>
          </a:effectLst>
        </p:spPr>
      </p:sp>
      <p:sp>
        <p:nvSpPr>
          <p:cNvPr id="15" name="Text 12"/>
          <p:cNvSpPr txBox="1"/>
          <p:nvPr/>
        </p:nvSpPr>
        <p:spPr>
          <a:xfrm>
            <a:off x="7159752" y="3959352"/>
            <a:ext cx="1005840" cy="310896"/>
          </a:xfrm>
          <a:prstGeom prst="rect">
            <a:avLst/>
          </a:prstGeom>
          <a:noFill/>
          <a:ln/>
        </p:spPr>
        <p:txBody>
          <a:bodyPr wrap="square" lIns="0" tIns="0" rIns="0" bIns="0" rtlCol="0" anchor="t"/>
          <a:lstStyle/>
          <a:p>
            <a:pPr indent="0" marL="0">
              <a:buNone/>
            </a:pPr>
            <a:r>
              <a:rPr lang="en-US" sz="1050" b="1" spc="120" kern="0" dirty="0">
                <a:solidFill>
                  <a:srgbClr val="9C907A"/>
                </a:solidFill>
                <a:latin typeface="Calibri" pitchFamily="34" charset="0"/>
                <a:ea typeface="Calibri" pitchFamily="34" charset="-122"/>
                <a:cs typeface="Calibri" pitchFamily="34" charset="-120"/>
              </a:rPr>
              <a:t>Year 3</a:t>
            </a:r>
            <a:endParaRPr lang="en-US" sz="1050" dirty="0"/>
          </a:p>
        </p:txBody>
      </p:sp>
      <p:sp>
        <p:nvSpPr>
          <p:cNvPr id="16" name="Text 13"/>
          <p:cNvSpPr txBox="1"/>
          <p:nvPr/>
        </p:nvSpPr>
        <p:spPr>
          <a:xfrm>
            <a:off x="8138160" y="3840480"/>
            <a:ext cx="3291840" cy="329184"/>
          </a:xfrm>
          <a:prstGeom prst="rect">
            <a:avLst/>
          </a:prstGeom>
          <a:noFill/>
          <a:ln/>
        </p:spPr>
        <p:txBody>
          <a:bodyPr wrap="square" lIns="0" tIns="0" rIns="0" bIns="0" rtlCol="0" anchor="t"/>
          <a:lstStyle/>
          <a:p>
            <a:pPr indent="0" marL="0">
              <a:buNone/>
            </a:pPr>
            <a:r>
              <a:rPr lang="en-US" sz="1700" b="1" dirty="0">
                <a:solidFill>
                  <a:srgbClr val="6B3452"/>
                </a:solidFill>
                <a:latin typeface="Calibri" pitchFamily="34" charset="0"/>
                <a:ea typeface="Calibri" pitchFamily="34" charset="-122"/>
                <a:cs typeface="Calibri" pitchFamily="34" charset="-120"/>
              </a:rPr>
              <a:t>₹4.5–6 crore</a:t>
            </a:r>
            <a:endParaRPr lang="en-US" sz="1700" dirty="0"/>
          </a:p>
        </p:txBody>
      </p:sp>
      <p:sp>
        <p:nvSpPr>
          <p:cNvPr id="17" name="Text 14"/>
          <p:cNvSpPr txBox="1"/>
          <p:nvPr/>
        </p:nvSpPr>
        <p:spPr>
          <a:xfrm>
            <a:off x="8138160" y="4187952"/>
            <a:ext cx="3291840" cy="256032"/>
          </a:xfrm>
          <a:prstGeom prst="rect">
            <a:avLst/>
          </a:prstGeom>
          <a:noFill/>
          <a:ln/>
        </p:spPr>
        <p:txBody>
          <a:bodyPr wrap="square" lIns="0" tIns="0" rIns="0" bIns="0" rtlCol="0" anchor="t"/>
          <a:lstStyle/>
          <a:p>
            <a:pPr indent="0" marL="0">
              <a:buNone/>
            </a:pPr>
            <a:r>
              <a:rPr lang="en-US" sz="1000" dirty="0">
                <a:solidFill>
                  <a:srgbClr val="6B6252"/>
                </a:solidFill>
                <a:latin typeface="Calibri" pitchFamily="34" charset="0"/>
                <a:ea typeface="Calibri" pitchFamily="34" charset="-122"/>
                <a:cs typeface="Calibri" pitchFamily="34" charset="-120"/>
              </a:rPr>
              <a:t>first state tender lands</a:t>
            </a:r>
            <a:endParaRPr lang="en-US" sz="1000" dirty="0"/>
          </a:p>
        </p:txBody>
      </p:sp>
      <p:sp>
        <p:nvSpPr>
          <p:cNvPr id="18" name="Shape 15"/>
          <p:cNvSpPr/>
          <p:nvPr/>
        </p:nvSpPr>
        <p:spPr>
          <a:xfrm>
            <a:off x="6903720" y="4681728"/>
            <a:ext cx="4736592" cy="1554480"/>
          </a:xfrm>
          <a:prstGeom prst="roundRect">
            <a:avLst>
              <a:gd name="adj" fmla="val 5294"/>
            </a:avLst>
          </a:prstGeom>
          <a:solidFill>
            <a:srgbClr val="FCF3E0"/>
          </a:solidFill>
          <a:ln w="12700">
            <a:solidFill>
              <a:srgbClr val="EAE1CE"/>
            </a:solidFill>
            <a:prstDash val="solid"/>
          </a:ln>
          <a:effectLst>
            <a:outerShdw sx="100000" sy="100000" kx="0" ky="0" algn="bl" rotWithShape="0" blurRad="76200" dist="12700" dir="5400000">
              <a:srgbClr val="8A7C64">
                <a:alpha val="16000"/>
              </a:srgbClr>
            </a:outerShdw>
          </a:effectLst>
        </p:spPr>
      </p:sp>
      <p:sp>
        <p:nvSpPr>
          <p:cNvPr id="19" name="Text 16"/>
          <p:cNvSpPr txBox="1"/>
          <p:nvPr/>
        </p:nvSpPr>
        <p:spPr>
          <a:xfrm>
            <a:off x="7159752" y="4846320"/>
            <a:ext cx="1828800" cy="256032"/>
          </a:xfrm>
          <a:prstGeom prst="rect">
            <a:avLst/>
          </a:prstGeom>
          <a:noFill/>
          <a:ln/>
        </p:spPr>
        <p:txBody>
          <a:bodyPr wrap="square" lIns="0" tIns="0" rIns="0" bIns="0" rtlCol="0" anchor="ctr"/>
          <a:lstStyle/>
          <a:p>
            <a:pPr indent="0" marL="0">
              <a:buNone/>
            </a:pPr>
            <a:r>
              <a:rPr lang="en-US" sz="1050" b="1" spc="180" kern="0" dirty="0">
                <a:solidFill>
                  <a:srgbClr val="8F6115"/>
                </a:solidFill>
                <a:latin typeface="Calibri" pitchFamily="34" charset="0"/>
                <a:ea typeface="Calibri" pitchFamily="34" charset="-122"/>
                <a:cs typeface="Calibri" pitchFamily="34" charset="-120"/>
              </a:rPr>
              <a:t>THE ASK</a:t>
            </a:r>
            <a:endParaRPr lang="en-US" sz="1050" dirty="0"/>
          </a:p>
        </p:txBody>
      </p:sp>
      <p:sp>
        <p:nvSpPr>
          <p:cNvPr id="20" name="Text 17"/>
          <p:cNvSpPr txBox="1"/>
          <p:nvPr/>
        </p:nvSpPr>
        <p:spPr>
          <a:xfrm>
            <a:off x="7159752" y="5102352"/>
            <a:ext cx="4206240" cy="402336"/>
          </a:xfrm>
          <a:prstGeom prst="rect">
            <a:avLst/>
          </a:prstGeom>
          <a:noFill/>
          <a:ln/>
        </p:spPr>
        <p:txBody>
          <a:bodyPr wrap="square" lIns="0" tIns="0" rIns="0" bIns="0" rtlCol="0" anchor="t"/>
          <a:lstStyle/>
          <a:p>
            <a:pPr indent="0" marL="0">
              <a:buNone/>
            </a:pPr>
            <a:r>
              <a:rPr lang="en-US" sz="2400" b="1" dirty="0">
                <a:solidFill>
                  <a:srgbClr val="2B2318"/>
                </a:solidFill>
                <a:latin typeface="Calibri" pitchFamily="34" charset="0"/>
                <a:ea typeface="Calibri" pitchFamily="34" charset="-122"/>
                <a:cs typeface="Calibri" pitchFamily="34" charset="-120"/>
              </a:rPr>
              <a:t>₹30–35 lakh</a:t>
            </a:r>
            <a:endParaRPr lang="en-US" sz="2400" dirty="0"/>
          </a:p>
        </p:txBody>
      </p:sp>
      <p:sp>
        <p:nvSpPr>
          <p:cNvPr id="21" name="Text 18"/>
          <p:cNvSpPr txBox="1"/>
          <p:nvPr/>
        </p:nvSpPr>
        <p:spPr>
          <a:xfrm>
            <a:off x="7159752" y="5541264"/>
            <a:ext cx="4206240" cy="548640"/>
          </a:xfrm>
          <a:prstGeom prst="rect">
            <a:avLst/>
          </a:prstGeom>
          <a:noFill/>
          <a:ln/>
        </p:spPr>
        <p:txBody>
          <a:bodyPr wrap="square" lIns="0" tIns="0" rIns="0" bIns="0" rtlCol="0" anchor="t"/>
          <a:lstStyle/>
          <a:p>
            <a:pPr indent="0" marL="0">
              <a:lnSpc>
                <a:spcPts val="1350"/>
              </a:lnSpc>
              <a:buNone/>
            </a:pPr>
            <a:r>
              <a:rPr lang="en-US" sz="1050" dirty="0">
                <a:solidFill>
                  <a:srgbClr val="6B6252"/>
                </a:solidFill>
                <a:latin typeface="Calibri" pitchFamily="34" charset="0"/>
                <a:ea typeface="Calibri" pitchFamily="34" charset="-122"/>
                <a:cs typeface="Calibri" pitchFamily="34" charset="-120"/>
              </a:rPr>
              <a:t>over 18 months — 35% formulation, lab work and regulatory; 30% the two-district retail proof; 20% team; 15% working capital.</a:t>
            </a:r>
            <a:endParaRPr lang="en-US" sz="1050" dirty="0"/>
          </a:p>
        </p:txBody>
      </p:sp>
      <p:sp>
        <p:nvSpPr>
          <p:cNvPr id="22" name="Text 19"/>
          <p:cNvSpPr txBox="1"/>
          <p:nvPr/>
        </p:nvSpPr>
        <p:spPr>
          <a:xfrm>
            <a:off x="548640" y="6419088"/>
            <a:ext cx="4572000" cy="256032"/>
          </a:xfrm>
          <a:prstGeom prst="rect">
            <a:avLst/>
          </a:prstGeom>
          <a:noFill/>
          <a:ln/>
        </p:spPr>
        <p:txBody>
          <a:bodyPr wrap="square" lIns="0" tIns="0" rIns="0" bIns="0" rtlCol="0" anchor="ctr"/>
          <a:lstStyle/>
          <a:p>
            <a:pPr indent="0" marL="0">
              <a:buNone/>
            </a:pPr>
            <a:r>
              <a:rPr lang="en-US" sz="900" dirty="0">
                <a:solidFill>
                  <a:srgbClr val="9C907A"/>
                </a:solidFill>
                <a:latin typeface="Calibri" pitchFamily="34" charset="0"/>
                <a:ea typeface="Calibri" pitchFamily="34" charset="-122"/>
                <a:cs typeface="Calibri" pitchFamily="34" charset="-120"/>
              </a:rPr>
              <a:t>PoshanSetu — F&amp;B Submission</a:t>
            </a:r>
            <a:endParaRPr lang="en-US" sz="900" dirty="0"/>
          </a:p>
        </p:txBody>
      </p:sp>
      <p:sp>
        <p:nvSpPr>
          <p:cNvPr id="23" name="Text 20"/>
          <p:cNvSpPr txBox="1"/>
          <p:nvPr/>
        </p:nvSpPr>
        <p:spPr>
          <a:xfrm>
            <a:off x="10058400" y="6419088"/>
            <a:ext cx="1581912" cy="256032"/>
          </a:xfrm>
          <a:prstGeom prst="rect">
            <a:avLst/>
          </a:prstGeom>
          <a:noFill/>
          <a:ln/>
        </p:spPr>
        <p:txBody>
          <a:bodyPr wrap="square" lIns="0" tIns="0" rIns="0" bIns="0" rtlCol="0" anchor="ctr"/>
          <a:lstStyle/>
          <a:p>
            <a:pPr algn="r" indent="0" marL="0">
              <a:buNone/>
            </a:pPr>
            <a:r>
              <a:rPr lang="en-US" sz="900" dirty="0">
                <a:solidFill>
                  <a:srgbClr val="9C907A"/>
                </a:solidFill>
                <a:latin typeface="Calibri" pitchFamily="34" charset="0"/>
                <a:ea typeface="Calibri" pitchFamily="34" charset="-122"/>
                <a:cs typeface="Calibri" pitchFamily="34" charset="-120"/>
              </a:rPr>
              <a:t>12 /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PoshanSetu — F&amp;B Business Model Submission</dc:title>
  <dc:subject>PptxGenJS Presentation</dc:subject>
  <dc:creator>PoshanSetu</dc:creator>
  <cp:lastModifiedBy>PoshanSetu</cp:lastModifiedBy>
  <cp:revision>1</cp:revision>
  <dcterms:created xsi:type="dcterms:W3CDTF">2026-09-02T18:21:20Z</dcterms:created>
  <dcterms:modified xsi:type="dcterms:W3CDTF">2026-09-02T18:21:20Z</dcterms:modified>
</cp:coreProperties>
</file>